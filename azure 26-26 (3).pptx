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83AD"/>
    <a:srgbClr val="936292"/>
    <a:srgbClr val="5F99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28" dt="2026-09-23T06:36:26.919"/>
    <p1510:client id="{520EBE3B-CB0E-64AF-C617-349429CA9964}" v="243" dt="2026-09-23T07:35:12.192"/>
    <p1510:client id="{70B8C3B6-E968-9780-2149-D8055D43E777}" v="126" dt="2026-09-23T04:36:00.186"/>
    <p1510:client id="{72426258-53A1-2515-F2F5-48F15C9B99E4}" v="47" dt="2026-09-23T14:57:42.2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6D7AEB4-22F8-427D-95E1-B57C957B7EA1}" type="doc">
      <dgm:prSet loTypeId="urn:microsoft.com/office/officeart/2005/8/layout/vList2" loCatId="list" qsTypeId="urn:microsoft.com/office/officeart/2005/8/quickstyle/simple1#1" qsCatId="simple" csTypeId="urn:microsoft.com/office/officeart/2005/8/colors/accent1_2#1" csCatId="accent1" phldr="1"/>
      <dgm:spPr/>
      <dgm:t>
        <a:bodyPr/>
        <a:lstStyle/>
        <a:p>
          <a:endParaRPr lang="en-IN"/>
        </a:p>
      </dgm:t>
    </dgm:pt>
    <dgm:pt modelId="{114CDB86-08D4-495D-9B72-9A7EAE09931F}">
      <dgm:prSet phldrT="[Text]" phldr="0" custT="1"/>
      <dgm:spPr/>
      <dgm:t>
        <a:bodyPr/>
        <a:lstStyle/>
        <a:p>
          <a:r>
            <a:rPr lang="en-US" sz="1800" dirty="0"/>
            <a:t>1</a:t>
          </a:r>
          <a:r>
            <a:rPr lang="en-US" sz="2000" dirty="0"/>
            <a:t>.</a:t>
          </a:r>
          <a:r>
            <a:rPr lang="en-IN" sz="2000" dirty="0"/>
            <a:t> Reboot conflicts with business hours</a:t>
          </a:r>
        </a:p>
      </dgm:t>
    </dgm:pt>
    <dgm:pt modelId="{282CE58C-971C-4A83-B147-5757A893C2D4}" type="parTrans" cxnId="{7DE467CA-6FB1-407D-BD86-D8B3DEC619BA}">
      <dgm:prSet/>
      <dgm:spPr/>
      <dgm:t>
        <a:bodyPr/>
        <a:lstStyle/>
        <a:p>
          <a:endParaRPr lang="en-IN"/>
        </a:p>
      </dgm:t>
    </dgm:pt>
    <dgm:pt modelId="{D74DD170-9ACE-45D4-A3D2-49661C206F1C}" type="sibTrans" cxnId="{7DE467CA-6FB1-407D-BD86-D8B3DEC619BA}">
      <dgm:prSet/>
      <dgm:spPr/>
      <dgm:t>
        <a:bodyPr/>
        <a:lstStyle/>
        <a:p>
          <a:endParaRPr lang="en-IN"/>
        </a:p>
      </dgm:t>
    </dgm:pt>
    <dgm:pt modelId="{A7E6A32B-9349-4BAF-866D-3689C4E6B159}">
      <dgm:prSet phldrT="[Text]" phldr="1"/>
      <dgm:spPr/>
      <dgm:t>
        <a:bodyPr/>
        <a:lstStyle/>
        <a:p>
          <a:endParaRPr lang="en-IN" dirty="0"/>
        </a:p>
      </dgm:t>
    </dgm:pt>
    <dgm:pt modelId="{4CBCA0D5-A095-430E-A682-E1DAD8791591}" type="parTrans" cxnId="{9971ABF5-3F76-41BF-B6F4-55E729581173}">
      <dgm:prSet/>
      <dgm:spPr/>
      <dgm:t>
        <a:bodyPr/>
        <a:lstStyle/>
        <a:p>
          <a:endParaRPr lang="en-IN"/>
        </a:p>
      </dgm:t>
    </dgm:pt>
    <dgm:pt modelId="{2FC263CD-2D25-488F-89CD-EA0A42ED903A}" type="sibTrans" cxnId="{9971ABF5-3F76-41BF-B6F4-55E729581173}">
      <dgm:prSet/>
      <dgm:spPr/>
      <dgm:t>
        <a:bodyPr/>
        <a:lstStyle/>
        <a:p>
          <a:endParaRPr lang="en-IN"/>
        </a:p>
      </dgm:t>
    </dgm:pt>
    <dgm:pt modelId="{F4770CF4-CB7C-4E6D-A332-2071BAF2F3A6}">
      <dgm:prSet phldrT="[Text]" custT="1"/>
      <dgm:spPr/>
      <dgm:t>
        <a:bodyPr/>
        <a:lstStyle/>
        <a:p>
          <a:pPr>
            <a:buNone/>
          </a:pPr>
          <a:r>
            <a:rPr lang="en-IN" sz="1800" dirty="0"/>
            <a:t>2</a:t>
          </a:r>
          <a:r>
            <a:rPr lang="en-IN" sz="2000" dirty="0"/>
            <a:t>.Scheduling and maintenance window conflicts</a:t>
          </a:r>
        </a:p>
      </dgm:t>
    </dgm:pt>
    <dgm:pt modelId="{B2071187-D425-46A8-A49D-3315FB68F5EB}" type="parTrans" cxnId="{134064F4-631E-47D7-8039-1438E4ECFE20}">
      <dgm:prSet/>
      <dgm:spPr/>
      <dgm:t>
        <a:bodyPr/>
        <a:lstStyle/>
        <a:p>
          <a:endParaRPr lang="en-IN"/>
        </a:p>
      </dgm:t>
    </dgm:pt>
    <dgm:pt modelId="{D0FD4E57-0201-4DB3-936E-9A3EF96E797D}" type="sibTrans" cxnId="{134064F4-631E-47D7-8039-1438E4ECFE20}">
      <dgm:prSet/>
      <dgm:spPr/>
      <dgm:t>
        <a:bodyPr/>
        <a:lstStyle/>
        <a:p>
          <a:endParaRPr lang="en-IN"/>
        </a:p>
      </dgm:t>
    </dgm:pt>
    <dgm:pt modelId="{78A4886F-8783-4386-92CE-3E20B9E51EA9}">
      <dgm:prSet phldrT="[Text]" phldr="1"/>
      <dgm:spPr/>
      <dgm:t>
        <a:bodyPr/>
        <a:lstStyle/>
        <a:p>
          <a:endParaRPr lang="en-IN" dirty="0"/>
        </a:p>
      </dgm:t>
    </dgm:pt>
    <dgm:pt modelId="{897B9004-DF52-4BC7-AD9B-4C8E4858EDD5}" type="parTrans" cxnId="{AB1AECB9-6530-404D-A987-41184E1F97D1}">
      <dgm:prSet/>
      <dgm:spPr/>
      <dgm:t>
        <a:bodyPr/>
        <a:lstStyle/>
        <a:p>
          <a:endParaRPr lang="en-IN"/>
        </a:p>
      </dgm:t>
    </dgm:pt>
    <dgm:pt modelId="{F8EAEBCE-235A-469A-9BFC-B06519A4E1EC}" type="sibTrans" cxnId="{AB1AECB9-6530-404D-A987-41184E1F97D1}">
      <dgm:prSet/>
      <dgm:spPr/>
      <dgm:t>
        <a:bodyPr/>
        <a:lstStyle/>
        <a:p>
          <a:endParaRPr lang="en-IN"/>
        </a:p>
      </dgm:t>
    </dgm:pt>
    <dgm:pt modelId="{DCF9CB4B-9F2A-40FC-8BF9-D0B82739D1E1}" type="pres">
      <dgm:prSet presAssocID="{76D7AEB4-22F8-427D-95E1-B57C957B7EA1}" presName="linear" presStyleCnt="0">
        <dgm:presLayoutVars>
          <dgm:animLvl val="lvl"/>
          <dgm:resizeHandles val="exact"/>
        </dgm:presLayoutVars>
      </dgm:prSet>
      <dgm:spPr/>
    </dgm:pt>
    <dgm:pt modelId="{A1714F8D-123A-48A9-8165-41643245AACD}" type="pres">
      <dgm:prSet presAssocID="{114CDB86-08D4-495D-9B72-9A7EAE09931F}" presName="parentText" presStyleLbl="node1" presStyleIdx="0" presStyleCnt="2" custScaleY="240481" custLinFactNeighborX="-417" custLinFactNeighborY="-7065">
        <dgm:presLayoutVars>
          <dgm:chMax val="0"/>
          <dgm:bulletEnabled val="1"/>
        </dgm:presLayoutVars>
      </dgm:prSet>
      <dgm:spPr/>
    </dgm:pt>
    <dgm:pt modelId="{FA903928-D971-4228-A967-4FDF24B3C0CE}" type="pres">
      <dgm:prSet presAssocID="{114CDB86-08D4-495D-9B72-9A7EAE09931F}" presName="childText" presStyleLbl="revTx" presStyleIdx="0" presStyleCnt="2" custFlipVert="1" custScaleY="35934">
        <dgm:presLayoutVars>
          <dgm:bulletEnabled val="1"/>
        </dgm:presLayoutVars>
      </dgm:prSet>
      <dgm:spPr/>
    </dgm:pt>
    <dgm:pt modelId="{5A8D7A73-AD4B-4827-94B0-50ED9A70EC97}" type="pres">
      <dgm:prSet presAssocID="{F4770CF4-CB7C-4E6D-A332-2071BAF2F3A6}" presName="parentText" presStyleLbl="node1" presStyleIdx="1" presStyleCnt="2" custScaleY="264601" custLinFactY="11767" custLinFactNeighborY="100000">
        <dgm:presLayoutVars>
          <dgm:chMax val="0"/>
          <dgm:bulletEnabled val="1"/>
        </dgm:presLayoutVars>
      </dgm:prSet>
      <dgm:spPr/>
    </dgm:pt>
    <dgm:pt modelId="{56A272D5-95BA-46FE-8097-9F903F54A4C7}" type="pres">
      <dgm:prSet presAssocID="{F4770CF4-CB7C-4E6D-A332-2071BAF2F3A6}" presName="childText" presStyleLbl="revTx" presStyleIdx="1" presStyleCnt="2" custFlipVert="0" custScaleY="18600">
        <dgm:presLayoutVars>
          <dgm:bulletEnabled val="1"/>
        </dgm:presLayoutVars>
      </dgm:prSet>
      <dgm:spPr/>
    </dgm:pt>
  </dgm:ptLst>
  <dgm:cxnLst>
    <dgm:cxn modelId="{7177034F-C8E2-4C84-A36F-619DCA4EC9B8}" type="presOf" srcId="{114CDB86-08D4-495D-9B72-9A7EAE09931F}" destId="{A1714F8D-123A-48A9-8165-41643245AACD}" srcOrd="0" destOrd="0" presId="urn:microsoft.com/office/officeart/2005/8/layout/vList2"/>
    <dgm:cxn modelId="{2D30A752-E1F1-44BA-88F3-9D2F4BAF3EA0}" type="presOf" srcId="{76D7AEB4-22F8-427D-95E1-B57C957B7EA1}" destId="{DCF9CB4B-9F2A-40FC-8BF9-D0B82739D1E1}" srcOrd="0" destOrd="0" presId="urn:microsoft.com/office/officeart/2005/8/layout/vList2"/>
    <dgm:cxn modelId="{2323D78E-919A-4932-B934-70BD0590755C}" type="presOf" srcId="{78A4886F-8783-4386-92CE-3E20B9E51EA9}" destId="{56A272D5-95BA-46FE-8097-9F903F54A4C7}" srcOrd="0" destOrd="0" presId="urn:microsoft.com/office/officeart/2005/8/layout/vList2"/>
    <dgm:cxn modelId="{B12EC99C-7494-4254-90B8-2DA167697B60}" type="presOf" srcId="{F4770CF4-CB7C-4E6D-A332-2071BAF2F3A6}" destId="{5A8D7A73-AD4B-4827-94B0-50ED9A70EC97}" srcOrd="0" destOrd="0" presId="urn:microsoft.com/office/officeart/2005/8/layout/vList2"/>
    <dgm:cxn modelId="{542516B6-B195-41F7-AA5B-E8483F223515}" type="presOf" srcId="{A7E6A32B-9349-4BAF-866D-3689C4E6B159}" destId="{FA903928-D971-4228-A967-4FDF24B3C0CE}" srcOrd="0" destOrd="0" presId="urn:microsoft.com/office/officeart/2005/8/layout/vList2"/>
    <dgm:cxn modelId="{AB1AECB9-6530-404D-A987-41184E1F97D1}" srcId="{F4770CF4-CB7C-4E6D-A332-2071BAF2F3A6}" destId="{78A4886F-8783-4386-92CE-3E20B9E51EA9}" srcOrd="0" destOrd="0" parTransId="{897B9004-DF52-4BC7-AD9B-4C8E4858EDD5}" sibTransId="{F8EAEBCE-235A-469A-9BFC-B06519A4E1EC}"/>
    <dgm:cxn modelId="{7DE467CA-6FB1-407D-BD86-D8B3DEC619BA}" srcId="{76D7AEB4-22F8-427D-95E1-B57C957B7EA1}" destId="{114CDB86-08D4-495D-9B72-9A7EAE09931F}" srcOrd="0" destOrd="0" parTransId="{282CE58C-971C-4A83-B147-5757A893C2D4}" sibTransId="{D74DD170-9ACE-45D4-A3D2-49661C206F1C}"/>
    <dgm:cxn modelId="{134064F4-631E-47D7-8039-1438E4ECFE20}" srcId="{76D7AEB4-22F8-427D-95E1-B57C957B7EA1}" destId="{F4770CF4-CB7C-4E6D-A332-2071BAF2F3A6}" srcOrd="1" destOrd="0" parTransId="{B2071187-D425-46A8-A49D-3315FB68F5EB}" sibTransId="{D0FD4E57-0201-4DB3-936E-9A3EF96E797D}"/>
    <dgm:cxn modelId="{9971ABF5-3F76-41BF-B6F4-55E729581173}" srcId="{114CDB86-08D4-495D-9B72-9A7EAE09931F}" destId="{A7E6A32B-9349-4BAF-866D-3689C4E6B159}" srcOrd="0" destOrd="0" parTransId="{4CBCA0D5-A095-430E-A682-E1DAD8791591}" sibTransId="{2FC263CD-2D25-488F-89CD-EA0A42ED903A}"/>
    <dgm:cxn modelId="{D83575B9-0FED-40B2-A894-C61A2A154638}" type="presParOf" srcId="{DCF9CB4B-9F2A-40FC-8BF9-D0B82739D1E1}" destId="{A1714F8D-123A-48A9-8165-41643245AACD}" srcOrd="0" destOrd="0" presId="urn:microsoft.com/office/officeart/2005/8/layout/vList2"/>
    <dgm:cxn modelId="{99CC9A65-08F5-4F75-A3E4-36711347C9E1}" type="presParOf" srcId="{DCF9CB4B-9F2A-40FC-8BF9-D0B82739D1E1}" destId="{FA903928-D971-4228-A967-4FDF24B3C0CE}" srcOrd="1" destOrd="0" presId="urn:microsoft.com/office/officeart/2005/8/layout/vList2"/>
    <dgm:cxn modelId="{19EC2F28-12BE-4FA0-9AFA-C1677CB29882}" type="presParOf" srcId="{DCF9CB4B-9F2A-40FC-8BF9-D0B82739D1E1}" destId="{5A8D7A73-AD4B-4827-94B0-50ED9A70EC97}" srcOrd="2" destOrd="0" presId="urn:microsoft.com/office/officeart/2005/8/layout/vList2"/>
    <dgm:cxn modelId="{F6DAC018-5E49-477A-88CB-C5E6F9772080}" type="presParOf" srcId="{DCF9CB4B-9F2A-40FC-8BF9-D0B82739D1E1}" destId="{56A272D5-95BA-46FE-8097-9F903F54A4C7}"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0BBAB2-32E3-45E7-82FC-372C5336F4C9}" type="doc">
      <dgm:prSet loTypeId="urn:microsoft.com/office/officeart/2005/8/layout/list1" loCatId="list" qsTypeId="urn:microsoft.com/office/officeart/2005/8/quickstyle/simple1#2" qsCatId="simple" csTypeId="urn:microsoft.com/office/officeart/2005/8/colors/accent1_2#2" csCatId="accent1" phldr="1"/>
      <dgm:spPr/>
      <dgm:t>
        <a:bodyPr/>
        <a:lstStyle/>
        <a:p>
          <a:endParaRPr lang="en-IN"/>
        </a:p>
      </dgm:t>
    </dgm:pt>
    <dgm:pt modelId="{2491B552-BE95-4110-8BED-FDB4E7006AC5}">
      <dgm:prSet phldrT="[Text]" custT="1"/>
      <dgm:spPr/>
      <dgm:t>
        <a:bodyPr/>
        <a:lstStyle/>
        <a:p>
          <a:pPr>
            <a:lnSpc>
              <a:spcPct val="150000"/>
            </a:lnSpc>
            <a:buNone/>
          </a:pPr>
          <a:r>
            <a:rPr lang="en-IN" sz="1600" b="1" dirty="0"/>
            <a:t>1.</a:t>
          </a:r>
          <a:r>
            <a:rPr lang="en-IN" sz="500" b="1" dirty="0"/>
            <a:t> </a:t>
          </a:r>
          <a:r>
            <a:rPr lang="en-IN" sz="2000" b="1" dirty="0"/>
            <a:t>Unpatched Security Vulnerabilities </a:t>
          </a:r>
          <a:br>
            <a:rPr lang="en-IN" sz="2000" dirty="0"/>
          </a:br>
          <a:r>
            <a:rPr lang="en-IN" sz="2000" dirty="0"/>
            <a:t>Outdated operating systems and software may contain known security vulnerabilities that can be exploited by attackers</a:t>
          </a:r>
          <a:r>
            <a:rPr lang="en-IN" sz="500" dirty="0"/>
            <a:t>.</a:t>
          </a:r>
        </a:p>
      </dgm:t>
    </dgm:pt>
    <dgm:pt modelId="{DD32F3BD-306D-469E-A137-733A8F31C6AC}" type="parTrans" cxnId="{6A9540E5-F84E-424D-ABD1-97C185A2F65D}">
      <dgm:prSet/>
      <dgm:spPr/>
      <dgm:t>
        <a:bodyPr/>
        <a:lstStyle/>
        <a:p>
          <a:endParaRPr lang="en-IN"/>
        </a:p>
      </dgm:t>
    </dgm:pt>
    <dgm:pt modelId="{D91804C7-FDA1-4858-AB81-1E8C9D1C21A3}" type="sibTrans" cxnId="{6A9540E5-F84E-424D-ABD1-97C185A2F65D}">
      <dgm:prSet/>
      <dgm:spPr/>
      <dgm:t>
        <a:bodyPr/>
        <a:lstStyle/>
        <a:p>
          <a:endParaRPr lang="en-IN"/>
        </a:p>
      </dgm:t>
    </dgm:pt>
    <dgm:pt modelId="{927FDA75-2C2B-4004-A6AC-AD053FDE6C6A}" type="pres">
      <dgm:prSet presAssocID="{4E0BBAB2-32E3-45E7-82FC-372C5336F4C9}" presName="linear" presStyleCnt="0">
        <dgm:presLayoutVars>
          <dgm:dir/>
          <dgm:animLvl val="lvl"/>
          <dgm:resizeHandles val="exact"/>
        </dgm:presLayoutVars>
      </dgm:prSet>
      <dgm:spPr/>
    </dgm:pt>
    <dgm:pt modelId="{2F60B455-F62B-4AED-A53A-21766427654F}" type="pres">
      <dgm:prSet presAssocID="{2491B552-BE95-4110-8BED-FDB4E7006AC5}" presName="parentLin" presStyleCnt="0"/>
      <dgm:spPr/>
    </dgm:pt>
    <dgm:pt modelId="{94CE67E6-4395-4745-8A5A-7288B0E74A45}" type="pres">
      <dgm:prSet presAssocID="{2491B552-BE95-4110-8BED-FDB4E7006AC5}" presName="parentLeftMargin" presStyleLbl="node1" presStyleIdx="0" presStyleCnt="1"/>
      <dgm:spPr/>
    </dgm:pt>
    <dgm:pt modelId="{198A25D1-ED19-442E-A04E-8AC060BCE092}" type="pres">
      <dgm:prSet presAssocID="{2491B552-BE95-4110-8BED-FDB4E7006AC5}" presName="parentText" presStyleLbl="node1" presStyleIdx="0" presStyleCnt="1" custScaleX="130095" custScaleY="260989" custLinFactNeighborX="15048" custLinFactNeighborY="7111">
        <dgm:presLayoutVars>
          <dgm:chMax val="0"/>
          <dgm:bulletEnabled val="1"/>
        </dgm:presLayoutVars>
      </dgm:prSet>
      <dgm:spPr/>
    </dgm:pt>
    <dgm:pt modelId="{CA455B8D-DFB4-49B9-97E2-4C8978772988}" type="pres">
      <dgm:prSet presAssocID="{2491B552-BE95-4110-8BED-FDB4E7006AC5}" presName="negativeSpace" presStyleCnt="0"/>
      <dgm:spPr/>
    </dgm:pt>
    <dgm:pt modelId="{DD248FD0-E067-449D-86CC-9D8242CF4297}" type="pres">
      <dgm:prSet presAssocID="{2491B552-BE95-4110-8BED-FDB4E7006AC5}" presName="childText" presStyleLbl="conFgAcc1" presStyleIdx="0" presStyleCnt="1">
        <dgm:presLayoutVars>
          <dgm:bulletEnabled val="1"/>
        </dgm:presLayoutVars>
      </dgm:prSet>
      <dgm:spPr/>
    </dgm:pt>
  </dgm:ptLst>
  <dgm:cxnLst>
    <dgm:cxn modelId="{145D853C-E988-4557-B22E-233021B67893}" type="presOf" srcId="{4E0BBAB2-32E3-45E7-82FC-372C5336F4C9}" destId="{927FDA75-2C2B-4004-A6AC-AD053FDE6C6A}" srcOrd="0" destOrd="0" presId="urn:microsoft.com/office/officeart/2005/8/layout/list1"/>
    <dgm:cxn modelId="{863AFCA7-4555-4A6D-BF86-BE09E63F282C}" type="presOf" srcId="{2491B552-BE95-4110-8BED-FDB4E7006AC5}" destId="{198A25D1-ED19-442E-A04E-8AC060BCE092}" srcOrd="1" destOrd="0" presId="urn:microsoft.com/office/officeart/2005/8/layout/list1"/>
    <dgm:cxn modelId="{A2DA11B4-329F-4D30-84E7-AEA49835D9D8}" type="presOf" srcId="{2491B552-BE95-4110-8BED-FDB4E7006AC5}" destId="{94CE67E6-4395-4745-8A5A-7288B0E74A45}" srcOrd="0" destOrd="0" presId="urn:microsoft.com/office/officeart/2005/8/layout/list1"/>
    <dgm:cxn modelId="{6A9540E5-F84E-424D-ABD1-97C185A2F65D}" srcId="{4E0BBAB2-32E3-45E7-82FC-372C5336F4C9}" destId="{2491B552-BE95-4110-8BED-FDB4E7006AC5}" srcOrd="0" destOrd="0" parTransId="{DD32F3BD-306D-469E-A137-733A8F31C6AC}" sibTransId="{D91804C7-FDA1-4858-AB81-1E8C9D1C21A3}"/>
    <dgm:cxn modelId="{B28B061B-5992-4D71-B88F-ED459F787D46}" type="presParOf" srcId="{927FDA75-2C2B-4004-A6AC-AD053FDE6C6A}" destId="{2F60B455-F62B-4AED-A53A-21766427654F}" srcOrd="0" destOrd="0" presId="urn:microsoft.com/office/officeart/2005/8/layout/list1"/>
    <dgm:cxn modelId="{B99F4A3A-70CB-4E4E-BF8A-EAF42E4184C4}" type="presParOf" srcId="{2F60B455-F62B-4AED-A53A-21766427654F}" destId="{94CE67E6-4395-4745-8A5A-7288B0E74A45}" srcOrd="0" destOrd="0" presId="urn:microsoft.com/office/officeart/2005/8/layout/list1"/>
    <dgm:cxn modelId="{575E49CF-A5DE-49C0-80A0-75ECD8F112C1}" type="presParOf" srcId="{2F60B455-F62B-4AED-A53A-21766427654F}" destId="{198A25D1-ED19-442E-A04E-8AC060BCE092}" srcOrd="1" destOrd="0" presId="urn:microsoft.com/office/officeart/2005/8/layout/list1"/>
    <dgm:cxn modelId="{29A06AF5-2217-493E-9154-1590E68C3F4A}" type="presParOf" srcId="{927FDA75-2C2B-4004-A6AC-AD053FDE6C6A}" destId="{CA455B8D-DFB4-49B9-97E2-4C8978772988}" srcOrd="1" destOrd="0" presId="urn:microsoft.com/office/officeart/2005/8/layout/list1"/>
    <dgm:cxn modelId="{9B15CA04-2CE3-46A3-A0DE-B1DF193D2519}" type="presParOf" srcId="{927FDA75-2C2B-4004-A6AC-AD053FDE6C6A}" destId="{DD248FD0-E067-449D-86CC-9D8242CF429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14F8D-123A-48A9-8165-41643245AACD}">
      <dsp:nvSpPr>
        <dsp:cNvPr id="0" name=""/>
        <dsp:cNvSpPr/>
      </dsp:nvSpPr>
      <dsp:spPr>
        <a:xfrm>
          <a:off x="0" y="0"/>
          <a:ext cx="5303838" cy="18457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1</a:t>
          </a:r>
          <a:r>
            <a:rPr lang="en-US" sz="2000" kern="1200" dirty="0"/>
            <a:t>.</a:t>
          </a:r>
          <a:r>
            <a:rPr lang="en-IN" sz="2000" kern="1200" dirty="0"/>
            <a:t> Reboot conflicts with business hours</a:t>
          </a:r>
        </a:p>
      </dsp:txBody>
      <dsp:txXfrm>
        <a:off x="90102" y="90102"/>
        <a:ext cx="5123634" cy="1665535"/>
      </dsp:txXfrm>
    </dsp:sp>
    <dsp:sp modelId="{FA903928-D971-4228-A967-4FDF24B3C0CE}">
      <dsp:nvSpPr>
        <dsp:cNvPr id="0" name=""/>
        <dsp:cNvSpPr/>
      </dsp:nvSpPr>
      <dsp:spPr>
        <a:xfrm flipV="1">
          <a:off x="0" y="1867176"/>
          <a:ext cx="5303838" cy="243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397" tIns="11430" rIns="64008" bIns="11430" numCol="1" spcCol="1270" anchor="t" anchorCtr="0">
          <a:noAutofit/>
        </a:bodyPr>
        <a:lstStyle/>
        <a:p>
          <a:pPr marL="57150" lvl="1" indent="-57150" algn="l" defTabSz="311150">
            <a:lnSpc>
              <a:spcPct val="90000"/>
            </a:lnSpc>
            <a:spcBef>
              <a:spcPct val="0"/>
            </a:spcBef>
            <a:spcAft>
              <a:spcPct val="20000"/>
            </a:spcAft>
            <a:buChar char="•"/>
          </a:pPr>
          <a:endParaRPr lang="en-IN" sz="700" kern="1200" dirty="0"/>
        </a:p>
      </dsp:txBody>
      <dsp:txXfrm rot="10800000">
        <a:off x="0" y="1867176"/>
        <a:ext cx="5303838" cy="243977"/>
      </dsp:txXfrm>
    </dsp:sp>
    <dsp:sp modelId="{5A8D7A73-AD4B-4827-94B0-50ED9A70EC97}">
      <dsp:nvSpPr>
        <dsp:cNvPr id="0" name=""/>
        <dsp:cNvSpPr/>
      </dsp:nvSpPr>
      <dsp:spPr>
        <a:xfrm>
          <a:off x="0" y="2258877"/>
          <a:ext cx="5303838" cy="20308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2</a:t>
          </a:r>
          <a:r>
            <a:rPr lang="en-IN" sz="2000" kern="1200" dirty="0"/>
            <a:t>.Scheduling and maintenance window conflicts</a:t>
          </a:r>
        </a:p>
      </dsp:txBody>
      <dsp:txXfrm>
        <a:off x="99139" y="2358016"/>
        <a:ext cx="5105560" cy="1832587"/>
      </dsp:txXfrm>
    </dsp:sp>
    <dsp:sp modelId="{56A272D5-95BA-46FE-8097-9F903F54A4C7}">
      <dsp:nvSpPr>
        <dsp:cNvPr id="0" name=""/>
        <dsp:cNvSpPr/>
      </dsp:nvSpPr>
      <dsp:spPr>
        <a:xfrm>
          <a:off x="0" y="4142019"/>
          <a:ext cx="5303838" cy="126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397" tIns="11430" rIns="64008" bIns="11430" numCol="1" spcCol="1270" anchor="t" anchorCtr="0">
          <a:noAutofit/>
        </a:bodyPr>
        <a:lstStyle/>
        <a:p>
          <a:pPr marL="57150" lvl="1" indent="-57150" algn="l" defTabSz="311150">
            <a:lnSpc>
              <a:spcPct val="90000"/>
            </a:lnSpc>
            <a:spcBef>
              <a:spcPct val="0"/>
            </a:spcBef>
            <a:spcAft>
              <a:spcPct val="20000"/>
            </a:spcAft>
            <a:buChar char="•"/>
          </a:pPr>
          <a:endParaRPr lang="en-IN" sz="700" kern="1200" dirty="0"/>
        </a:p>
      </dsp:txBody>
      <dsp:txXfrm>
        <a:off x="0" y="4142019"/>
        <a:ext cx="5303838" cy="1262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248FD0-E067-449D-86CC-9D8242CF4297}">
      <dsp:nvSpPr>
        <dsp:cNvPr id="0" name=""/>
        <dsp:cNvSpPr/>
      </dsp:nvSpPr>
      <dsp:spPr>
        <a:xfrm>
          <a:off x="0" y="3208622"/>
          <a:ext cx="5303838" cy="1285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8A25D1-ED19-442E-A04E-8AC060BCE092}">
      <dsp:nvSpPr>
        <dsp:cNvPr id="0" name=""/>
        <dsp:cNvSpPr/>
      </dsp:nvSpPr>
      <dsp:spPr>
        <a:xfrm>
          <a:off x="304800" y="139198"/>
          <a:ext cx="4825302" cy="39292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331" tIns="0" rIns="140331" bIns="0" numCol="1" spcCol="1270" anchor="ctr" anchorCtr="0">
          <a:noAutofit/>
        </a:bodyPr>
        <a:lstStyle/>
        <a:p>
          <a:pPr marL="0" lvl="0" indent="0" algn="l" defTabSz="711200">
            <a:lnSpc>
              <a:spcPct val="150000"/>
            </a:lnSpc>
            <a:spcBef>
              <a:spcPct val="0"/>
            </a:spcBef>
            <a:spcAft>
              <a:spcPct val="35000"/>
            </a:spcAft>
            <a:buNone/>
          </a:pPr>
          <a:r>
            <a:rPr lang="en-IN" sz="1600" b="1" kern="1200" dirty="0"/>
            <a:t>1.</a:t>
          </a:r>
          <a:r>
            <a:rPr lang="en-IN" sz="500" b="1" kern="1200" dirty="0"/>
            <a:t> </a:t>
          </a:r>
          <a:r>
            <a:rPr lang="en-IN" sz="2000" b="1" kern="1200" dirty="0"/>
            <a:t>Unpatched Security Vulnerabilities </a:t>
          </a:r>
          <a:br>
            <a:rPr lang="en-IN" sz="2000" kern="1200" dirty="0"/>
          </a:br>
          <a:r>
            <a:rPr lang="en-IN" sz="2000" kern="1200" dirty="0"/>
            <a:t>Outdated operating systems and software may contain known security vulnerabilities that can be exploited by attackers</a:t>
          </a:r>
          <a:r>
            <a:rPr lang="en-IN" sz="500" kern="1200" dirty="0"/>
            <a:t>.</a:t>
          </a:r>
        </a:p>
      </dsp:txBody>
      <dsp:txXfrm>
        <a:off x="496610" y="331008"/>
        <a:ext cx="4441682" cy="354562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9/23/2026</a:t>
            </a:fld>
            <a:endParaRPr lang="en-US" dirty="0"/>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78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9/23/2026</a:t>
            </a:fld>
            <a:endParaRPr lang="en-US" dirty="0"/>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509808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9/23/2026</a:t>
            </a:fld>
            <a:endParaRPr lang="en-US" dirty="0"/>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767459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9/23/2026</a:t>
            </a:fld>
            <a:endParaRPr lang="en-US" dirty="0"/>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363276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9/23/2026</a:t>
            </a:fld>
            <a:endParaRPr lang="en-US" dirty="0"/>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5836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9/23/2026</a:t>
            </a:fld>
            <a:endParaRPr lang="en-US" dirty="0"/>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535717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9/23/2026</a:t>
            </a:fld>
            <a:endParaRPr lang="en-US" dirty="0"/>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433344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9/23/2026</a:t>
            </a:fld>
            <a:endParaRPr lang="en-US" dirty="0"/>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905165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5334001" y="762000"/>
            <a:ext cx="5333999" cy="5334000"/>
          </a:xfrm>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9/23/2026</a:t>
            </a:fld>
            <a:endParaRPr lang="en-US" dirty="0"/>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2281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9/23/2026</a:t>
            </a:fld>
            <a:endParaRPr lang="en-US" dirty="0"/>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072085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9/23/2026</a:t>
            </a:fld>
            <a:endParaRPr lang="en-US" dirty="0"/>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03559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B70A3DFD-A535-46B2-84C1-61DC8B16A904}" type="datetimeFigureOut">
              <a:rPr lang="en-US" dirty="0"/>
              <a:t>9/23/2026</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196A61CA-0502-4EE4-9724-96EA822543E5}" type="slidenum">
              <a:rPr lang="en-US" dirty="0"/>
              <a:t>‹#›</a:t>
            </a:fld>
            <a:endParaRPr lang="en-US" dirty="0"/>
          </a:p>
        </p:txBody>
      </p:sp>
    </p:spTree>
    <p:extLst>
      <p:ext uri="{BB962C8B-B14F-4D97-AF65-F5344CB8AC3E}">
        <p14:creationId xmlns:p14="http://schemas.microsoft.com/office/powerpoint/2010/main" val="3038110262"/>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3840">
          <p15:clr>
            <a:srgbClr val="F26B43"/>
          </p15:clr>
        </p15:guide>
        <p15:guide id="3" pos="7200">
          <p15:clr>
            <a:srgbClr val="F26B43"/>
          </p15:clr>
        </p15:guide>
        <p15:guide id="4" pos="6720">
          <p15:clr>
            <a:srgbClr val="F26B43"/>
          </p15:clr>
        </p15:guide>
        <p15:guide id="16" pos="480">
          <p15:clr>
            <a:srgbClr val="F26B43"/>
          </p15:clr>
        </p15:guide>
        <p15:guide id="23" orient="horz"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Open Source on Azure | Microsoft Azure">
            <a:extLst>
              <a:ext uri="{FF2B5EF4-FFF2-40B4-BE49-F238E27FC236}">
                <a16:creationId xmlns:a16="http://schemas.microsoft.com/office/drawing/2014/main" id="{D81CF6DF-2A40-7C18-799B-4252CDBA89D8}"/>
              </a:ext>
            </a:extLst>
          </p:cNvPr>
          <p:cNvPicPr>
            <a:picLocks noChangeAspect="1"/>
          </p:cNvPicPr>
          <p:nvPr/>
        </p:nvPicPr>
        <p:blipFill>
          <a:blip r:embed="rId2"/>
          <a:stretch>
            <a:fillRect/>
          </a:stretch>
        </p:blipFill>
        <p:spPr>
          <a:xfrm>
            <a:off x="635" y="-317"/>
            <a:ext cx="12190730" cy="6858635"/>
          </a:xfrm>
          <a:prstGeom prst="rect">
            <a:avLst/>
          </a:prstGeom>
        </p:spPr>
      </p:pic>
      <p:sp>
        <p:nvSpPr>
          <p:cNvPr id="7" name="Rectangle 6">
            <a:extLst>
              <a:ext uri="{FF2B5EF4-FFF2-40B4-BE49-F238E27FC236}">
                <a16:creationId xmlns:a16="http://schemas.microsoft.com/office/drawing/2014/main" id="{FDECFBFA-DEDF-01AE-9DE8-20B50A08C316}"/>
              </a:ext>
            </a:extLst>
          </p:cNvPr>
          <p:cNvSpPr/>
          <p:nvPr/>
        </p:nvSpPr>
        <p:spPr>
          <a:xfrm>
            <a:off x="-3938" y="583"/>
            <a:ext cx="5289578" cy="685696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A52CE82-5EAA-D7A8-1509-80C1B5FDD75D}"/>
              </a:ext>
            </a:extLst>
          </p:cNvPr>
          <p:cNvSpPr txBox="1"/>
          <p:nvPr/>
        </p:nvSpPr>
        <p:spPr>
          <a:xfrm>
            <a:off x="54451" y="2298296"/>
            <a:ext cx="5159295" cy="2554545"/>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Century Schoolbook"/>
                <a:cs typeface="Arial"/>
              </a:rPr>
              <a:t>AZURE UPDATE MANAGER PATCH </a:t>
            </a:r>
            <a:endParaRPr lang="en-US" sz="4000">
              <a:latin typeface="Century Schoolbook"/>
            </a:endParaRPr>
          </a:p>
          <a:p>
            <a:pPr algn="ctr"/>
            <a:r>
              <a:rPr lang="en-US" sz="4000" dirty="0">
                <a:latin typeface="Century Schoolbook"/>
                <a:cs typeface="Arial"/>
              </a:rPr>
              <a:t>COMPLIANCE PROGRAMME</a:t>
            </a:r>
            <a:endParaRPr lang="en-US" sz="4000">
              <a:latin typeface="Century Schoolbook"/>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4CE417-E6C8-8D50-4844-9B7DD66D0DDE}"/>
              </a:ext>
            </a:extLst>
          </p:cNvPr>
          <p:cNvSpPr>
            <a:spLocks noGrp="1"/>
          </p:cNvSpPr>
          <p:nvPr>
            <p:ph type="dt" sz="half" idx="10"/>
          </p:nvPr>
        </p:nvSpPr>
        <p:spPr/>
        <p:txBody>
          <a:bodyPr/>
          <a:lstStyle/>
          <a:p>
            <a:fld id="{56C258EB-E80C-45C8-82A1-BC5412F1C8CD}" type="datetime1">
              <a:t>9/23/2026</a:t>
            </a:fld>
            <a:endParaRPr lang="en-US" dirty="0"/>
          </a:p>
        </p:txBody>
      </p:sp>
      <p:sp>
        <p:nvSpPr>
          <p:cNvPr id="3" name="Footer Placeholder 2">
            <a:extLst>
              <a:ext uri="{FF2B5EF4-FFF2-40B4-BE49-F238E27FC236}">
                <a16:creationId xmlns:a16="http://schemas.microsoft.com/office/drawing/2014/main" id="{F6A31EE9-45D9-7DEE-0CD5-18CE4589A227}"/>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8ADC81C4-0C74-64DC-EF8F-4A116B8D2882}"/>
              </a:ext>
            </a:extLst>
          </p:cNvPr>
          <p:cNvSpPr>
            <a:spLocks noGrp="1"/>
          </p:cNvSpPr>
          <p:nvPr>
            <p:ph type="sldNum" sz="quarter" idx="12"/>
          </p:nvPr>
        </p:nvSpPr>
        <p:spPr/>
        <p:txBody>
          <a:bodyPr/>
          <a:lstStyle/>
          <a:p>
            <a:fld id="{196A61CA-0502-4EE4-9724-96EA822543E5}" type="slidenum">
              <a:rPr lang="en-US" dirty="0"/>
              <a:t>2</a:t>
            </a:fld>
            <a:endParaRPr lang="en-US" dirty="0"/>
          </a:p>
        </p:txBody>
      </p:sp>
      <p:pic>
        <p:nvPicPr>
          <p:cNvPr id="5" name="Picture 4" descr="What performance and efficiency does Microsoft Azure Cobalt 100 VMs deliver  using Arm Neoverse performance? - Arm Newsroom">
            <a:extLst>
              <a:ext uri="{FF2B5EF4-FFF2-40B4-BE49-F238E27FC236}">
                <a16:creationId xmlns:a16="http://schemas.microsoft.com/office/drawing/2014/main" id="{CB6363C8-DF83-1C37-8A3D-E3DD7EA293C8}"/>
              </a:ext>
            </a:extLst>
          </p:cNvPr>
          <p:cNvPicPr>
            <a:picLocks noChangeAspect="1"/>
          </p:cNvPicPr>
          <p:nvPr/>
        </p:nvPicPr>
        <p:blipFill>
          <a:blip r:embed="rId2"/>
          <a:stretch>
            <a:fillRect/>
          </a:stretch>
        </p:blipFill>
        <p:spPr>
          <a:xfrm>
            <a:off x="0" y="2540"/>
            <a:ext cx="12395200" cy="6852920"/>
          </a:xfrm>
          <a:prstGeom prst="rect">
            <a:avLst/>
          </a:prstGeom>
        </p:spPr>
      </p:pic>
      <p:sp>
        <p:nvSpPr>
          <p:cNvPr id="8" name="TextBox 7">
            <a:extLst>
              <a:ext uri="{FF2B5EF4-FFF2-40B4-BE49-F238E27FC236}">
                <a16:creationId xmlns:a16="http://schemas.microsoft.com/office/drawing/2014/main" id="{13987398-4C26-7F23-CEBE-B42834498E34}"/>
              </a:ext>
            </a:extLst>
          </p:cNvPr>
          <p:cNvSpPr txBox="1"/>
          <p:nvPr/>
        </p:nvSpPr>
        <p:spPr>
          <a:xfrm>
            <a:off x="1088554" y="704070"/>
            <a:ext cx="3921760" cy="6924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900" dirty="0">
                <a:latin typeface="Georgia"/>
              </a:rPr>
              <a:t>Team</a:t>
            </a:r>
            <a:r>
              <a:rPr lang="en-US" sz="3600" dirty="0">
                <a:latin typeface="Georgia"/>
              </a:rPr>
              <a:t> Members :</a:t>
            </a:r>
          </a:p>
        </p:txBody>
      </p:sp>
      <p:graphicFrame>
        <p:nvGraphicFramePr>
          <p:cNvPr id="9" name="Table 8">
            <a:extLst>
              <a:ext uri="{FF2B5EF4-FFF2-40B4-BE49-F238E27FC236}">
                <a16:creationId xmlns:a16="http://schemas.microsoft.com/office/drawing/2014/main" id="{AD6B6149-ECA3-F7E3-03D2-2CC632D2AA46}"/>
              </a:ext>
            </a:extLst>
          </p:cNvPr>
          <p:cNvGraphicFramePr>
            <a:graphicFrameLocks noGrp="1"/>
          </p:cNvGraphicFramePr>
          <p:nvPr>
            <p:extLst>
              <p:ext uri="{D42A27DB-BD31-4B8C-83A1-F6EECF244321}">
                <p14:modId xmlns:p14="http://schemas.microsoft.com/office/powerpoint/2010/main" val="933474024"/>
              </p:ext>
            </p:extLst>
          </p:nvPr>
        </p:nvGraphicFramePr>
        <p:xfrm>
          <a:off x="2204720" y="1778000"/>
          <a:ext cx="8168640" cy="2480616"/>
        </p:xfrm>
        <a:graphic>
          <a:graphicData uri="http://schemas.openxmlformats.org/drawingml/2006/table">
            <a:tbl>
              <a:tblPr firstRow="1" bandRow="1">
                <a:tableStyleId>{073A0DAA-6AF3-43AB-8588-CEC1D06C72B9}</a:tableStyleId>
              </a:tblPr>
              <a:tblGrid>
                <a:gridCol w="4084320">
                  <a:extLst>
                    <a:ext uri="{9D8B030D-6E8A-4147-A177-3AD203B41FA5}">
                      <a16:colId xmlns:a16="http://schemas.microsoft.com/office/drawing/2014/main" val="2135151677"/>
                    </a:ext>
                  </a:extLst>
                </a:gridCol>
                <a:gridCol w="4084320">
                  <a:extLst>
                    <a:ext uri="{9D8B030D-6E8A-4147-A177-3AD203B41FA5}">
                      <a16:colId xmlns:a16="http://schemas.microsoft.com/office/drawing/2014/main" val="1112864093"/>
                    </a:ext>
                  </a:extLst>
                </a:gridCol>
              </a:tblGrid>
              <a:tr h="826872">
                <a:tc>
                  <a:txBody>
                    <a:bodyPr/>
                    <a:lstStyle/>
                    <a:p>
                      <a:pPr algn="ctr"/>
                      <a:endParaRPr lang="en-US" dirty="0">
                        <a:latin typeface="Century Schoolbook"/>
                      </a:endParaRPr>
                    </a:p>
                    <a:p>
                      <a:pPr lvl="0" algn="ctr">
                        <a:buNone/>
                      </a:pPr>
                      <a:r>
                        <a:rPr lang="en-US" dirty="0">
                          <a:latin typeface="Century Schoolbook"/>
                        </a:rPr>
                        <a:t>NAME</a:t>
                      </a:r>
                    </a:p>
                  </a:txBody>
                  <a:tcPr/>
                </a:tc>
                <a:tc>
                  <a:txBody>
                    <a:bodyPr/>
                    <a:lstStyle/>
                    <a:p>
                      <a:pPr algn="ctr"/>
                      <a:endParaRPr lang="en-US" dirty="0">
                        <a:latin typeface="Century Schoolbook"/>
                      </a:endParaRPr>
                    </a:p>
                    <a:p>
                      <a:pPr lvl="0" algn="ctr">
                        <a:buNone/>
                      </a:pPr>
                      <a:r>
                        <a:rPr lang="en-US" dirty="0">
                          <a:latin typeface="Century Schoolbook"/>
                        </a:rPr>
                        <a:t>REGISTER ID</a:t>
                      </a:r>
                    </a:p>
                  </a:txBody>
                  <a:tcPr/>
                </a:tc>
                <a:extLst>
                  <a:ext uri="{0D108BD9-81ED-4DB2-BD59-A6C34878D82A}">
                    <a16:rowId xmlns:a16="http://schemas.microsoft.com/office/drawing/2014/main" val="3808610701"/>
                  </a:ext>
                </a:extLst>
              </a:tr>
              <a:tr h="826872">
                <a:tc>
                  <a:txBody>
                    <a:bodyPr/>
                    <a:lstStyle/>
                    <a:p>
                      <a:pPr algn="ctr"/>
                      <a:endParaRPr lang="en-US" dirty="0">
                        <a:latin typeface="Century Schoolbook"/>
                      </a:endParaRPr>
                    </a:p>
                    <a:p>
                      <a:pPr lvl="0" algn="ctr">
                        <a:buNone/>
                      </a:pPr>
                      <a:r>
                        <a:rPr lang="en-US" dirty="0">
                          <a:latin typeface="Century Schoolbook"/>
                        </a:rPr>
                        <a:t>BADRI AMRUTHA VEERA VENI</a:t>
                      </a:r>
                    </a:p>
                  </a:txBody>
                  <a:tcPr/>
                </a:tc>
                <a:tc>
                  <a:txBody>
                    <a:bodyPr/>
                    <a:lstStyle/>
                    <a:p>
                      <a:pPr algn="ctr"/>
                      <a:endParaRPr lang="en-US" dirty="0">
                        <a:latin typeface="Century Schoolbook"/>
                      </a:endParaRPr>
                    </a:p>
                    <a:p>
                      <a:pPr lvl="0" algn="ctr">
                        <a:buNone/>
                      </a:pPr>
                      <a:r>
                        <a:rPr lang="en-US" dirty="0">
                          <a:latin typeface="Century Schoolbook"/>
                        </a:rPr>
                        <a:t>2400080142</a:t>
                      </a:r>
                    </a:p>
                  </a:txBody>
                  <a:tcPr/>
                </a:tc>
                <a:extLst>
                  <a:ext uri="{0D108BD9-81ED-4DB2-BD59-A6C34878D82A}">
                    <a16:rowId xmlns:a16="http://schemas.microsoft.com/office/drawing/2014/main" val="4248483224"/>
                  </a:ext>
                </a:extLst>
              </a:tr>
              <a:tr h="826872">
                <a:tc>
                  <a:txBody>
                    <a:bodyPr/>
                    <a:lstStyle/>
                    <a:p>
                      <a:pPr algn="ctr"/>
                      <a:endParaRPr lang="en-US" dirty="0">
                        <a:latin typeface="Century Schoolbook"/>
                      </a:endParaRPr>
                    </a:p>
                    <a:p>
                      <a:pPr lvl="0" algn="ctr">
                        <a:buNone/>
                      </a:pPr>
                      <a:r>
                        <a:rPr lang="en-US" dirty="0">
                          <a:latin typeface="Century Schoolbook"/>
                        </a:rPr>
                        <a:t>LINGAMANENI MAHESH THEJ</a:t>
                      </a:r>
                    </a:p>
                  </a:txBody>
                  <a:tcPr/>
                </a:tc>
                <a:tc>
                  <a:txBody>
                    <a:bodyPr/>
                    <a:lstStyle/>
                    <a:p>
                      <a:pPr algn="ctr"/>
                      <a:endParaRPr lang="en-US" dirty="0">
                        <a:latin typeface="Century Schoolbook"/>
                      </a:endParaRPr>
                    </a:p>
                    <a:p>
                      <a:pPr lvl="0" algn="ctr">
                        <a:buNone/>
                      </a:pPr>
                      <a:r>
                        <a:rPr lang="en-US" dirty="0">
                          <a:latin typeface="Century Schoolbook"/>
                        </a:rPr>
                        <a:t>2400080152</a:t>
                      </a:r>
                    </a:p>
                  </a:txBody>
                  <a:tcPr/>
                </a:tc>
                <a:extLst>
                  <a:ext uri="{0D108BD9-81ED-4DB2-BD59-A6C34878D82A}">
                    <a16:rowId xmlns:a16="http://schemas.microsoft.com/office/drawing/2014/main" val="4194291497"/>
                  </a:ext>
                </a:extLst>
              </a:tr>
            </a:tbl>
          </a:graphicData>
        </a:graphic>
      </p:graphicFrame>
    </p:spTree>
    <p:extLst>
      <p:ext uri="{BB962C8B-B14F-4D97-AF65-F5344CB8AC3E}">
        <p14:creationId xmlns:p14="http://schemas.microsoft.com/office/powerpoint/2010/main" val="1639632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What performance and efficiency does Microsoft Azure Cobalt 100 VMs deliver  using Arm Neoverse performance? - Arm Newsroom">
            <a:extLst>
              <a:ext uri="{FF2B5EF4-FFF2-40B4-BE49-F238E27FC236}">
                <a16:creationId xmlns:a16="http://schemas.microsoft.com/office/drawing/2014/main" id="{BD4316EE-926E-EFE1-1901-B1070274756C}"/>
              </a:ext>
            </a:extLst>
          </p:cNvPr>
          <p:cNvPicPr>
            <a:picLocks noChangeAspect="1"/>
          </p:cNvPicPr>
          <p:nvPr/>
        </p:nvPicPr>
        <p:blipFill>
          <a:blip r:embed="rId2"/>
          <a:stretch>
            <a:fillRect/>
          </a:stretch>
        </p:blipFill>
        <p:spPr>
          <a:xfrm>
            <a:off x="0" y="2540"/>
            <a:ext cx="12395200" cy="6852920"/>
          </a:xfrm>
          <a:prstGeom prst="rect">
            <a:avLst/>
          </a:prstGeom>
        </p:spPr>
      </p:pic>
      <p:sp>
        <p:nvSpPr>
          <p:cNvPr id="2" name="Title 1">
            <a:extLst>
              <a:ext uri="{FF2B5EF4-FFF2-40B4-BE49-F238E27FC236}">
                <a16:creationId xmlns:a16="http://schemas.microsoft.com/office/drawing/2014/main" id="{9B344D80-FB3D-EB40-797C-B0173008F11B}"/>
              </a:ext>
            </a:extLst>
          </p:cNvPr>
          <p:cNvSpPr>
            <a:spLocks noGrp="1"/>
          </p:cNvSpPr>
          <p:nvPr/>
        </p:nvSpPr>
        <p:spPr>
          <a:xfrm>
            <a:off x="648840" y="632428"/>
            <a:ext cx="10753725" cy="600164"/>
          </a:xfrm>
          <a:prstGeom prst="rect">
            <a:avLst/>
          </a:prstGeom>
        </p:spPr>
        <p:txBody>
          <a:bodyPr wrap="square" lIns="0" tIns="0" rIns="0" bIns="0" anchor="t">
            <a:spAutoFit/>
          </a:bodyPr>
          <a:lstStyle>
            <a:lvl1pPr>
              <a:defRPr sz="3900" b="0" i="0">
                <a:solidFill>
                  <a:srgbClr val="010101"/>
                </a:solidFill>
                <a:latin typeface="Georgia"/>
                <a:ea typeface="+mj-ea"/>
                <a:cs typeface="Georgia"/>
              </a:defRPr>
            </a:lvl1pPr>
          </a:lstStyle>
          <a:p>
            <a:r>
              <a:rPr lang="en-IN" dirty="0">
                <a:solidFill>
                  <a:schemeClr val="tx1"/>
                </a:solidFill>
              </a:rPr>
              <a:t>Project Challenges</a:t>
            </a:r>
          </a:p>
        </p:txBody>
      </p:sp>
      <p:pic>
        <p:nvPicPr>
          <p:cNvPr id="3" name="Content Placeholder 10">
            <a:extLst>
              <a:ext uri="{FF2B5EF4-FFF2-40B4-BE49-F238E27FC236}">
                <a16:creationId xmlns:a16="http://schemas.microsoft.com/office/drawing/2014/main" id="{A636EF31-6588-639B-D178-56CA46F64968}"/>
              </a:ext>
            </a:extLst>
          </p:cNvPr>
          <p:cNvPicPr>
            <a:picLocks noGrp="1" noChangeAspect="1"/>
          </p:cNvPicPr>
          <p:nvPr/>
        </p:nvPicPr>
        <p:blipFill>
          <a:blip r:embed="rId3"/>
          <a:stretch>
            <a:fillRect/>
          </a:stretch>
        </p:blipFill>
        <p:spPr>
          <a:xfrm>
            <a:off x="6278563" y="1676401"/>
            <a:ext cx="5303837" cy="4289742"/>
          </a:xfrm>
          <a:prstGeom prst="rect">
            <a:avLst/>
          </a:prstGeom>
        </p:spPr>
      </p:pic>
      <p:graphicFrame>
        <p:nvGraphicFramePr>
          <p:cNvPr id="4" name="Content Placeholder 7">
            <a:extLst>
              <a:ext uri="{FF2B5EF4-FFF2-40B4-BE49-F238E27FC236}">
                <a16:creationId xmlns:a16="http://schemas.microsoft.com/office/drawing/2014/main" id="{432A9F82-6E9D-41DB-881E-86ED5C602738}"/>
              </a:ext>
            </a:extLst>
          </p:cNvPr>
          <p:cNvGraphicFramePr>
            <a:graphicFrameLocks noGrp="1"/>
          </p:cNvGraphicFramePr>
          <p:nvPr/>
        </p:nvGraphicFramePr>
        <p:xfrm>
          <a:off x="648840" y="1577657"/>
          <a:ext cx="5303838" cy="42897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19302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BF680B-C8D3-848C-9776-2026C95D7A46}"/>
              </a:ext>
            </a:extLst>
          </p:cNvPr>
          <p:cNvSpPr>
            <a:spLocks noGrp="1"/>
          </p:cNvSpPr>
          <p:nvPr>
            <p:ph type="dt" sz="half" idx="10"/>
          </p:nvPr>
        </p:nvSpPr>
        <p:spPr/>
        <p:txBody>
          <a:bodyPr/>
          <a:lstStyle/>
          <a:p>
            <a:fld id="{B5F1E276-F2AC-43F6-9371-ADDB2E7277F7}" type="datetime1">
              <a:t>9/23/2026</a:t>
            </a:fld>
            <a:endParaRPr lang="en-US" dirty="0"/>
          </a:p>
        </p:txBody>
      </p:sp>
      <p:sp>
        <p:nvSpPr>
          <p:cNvPr id="3" name="Footer Placeholder 2">
            <a:extLst>
              <a:ext uri="{FF2B5EF4-FFF2-40B4-BE49-F238E27FC236}">
                <a16:creationId xmlns:a16="http://schemas.microsoft.com/office/drawing/2014/main" id="{E5D46B89-7077-BD45-8D38-166098CB77B0}"/>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2D9F3526-B7AF-9CE5-F1CF-421999AD024F}"/>
              </a:ext>
            </a:extLst>
          </p:cNvPr>
          <p:cNvSpPr>
            <a:spLocks noGrp="1"/>
          </p:cNvSpPr>
          <p:nvPr>
            <p:ph type="sldNum" sz="quarter" idx="12"/>
          </p:nvPr>
        </p:nvSpPr>
        <p:spPr/>
        <p:txBody>
          <a:bodyPr/>
          <a:lstStyle/>
          <a:p>
            <a:fld id="{196A61CA-0502-4EE4-9724-96EA822543E5}" type="slidenum">
              <a:rPr lang="en-US" dirty="0"/>
              <a:t>4</a:t>
            </a:fld>
            <a:endParaRPr lang="en-US" dirty="0"/>
          </a:p>
        </p:txBody>
      </p:sp>
      <p:sp>
        <p:nvSpPr>
          <p:cNvPr id="5" name="Title 1">
            <a:extLst>
              <a:ext uri="{FF2B5EF4-FFF2-40B4-BE49-F238E27FC236}">
                <a16:creationId xmlns:a16="http://schemas.microsoft.com/office/drawing/2014/main" id="{B7E94FF5-A944-DA65-33B2-970080E3C382}"/>
              </a:ext>
            </a:extLst>
          </p:cNvPr>
          <p:cNvSpPr>
            <a:spLocks noGrp="1"/>
          </p:cNvSpPr>
          <p:nvPr/>
        </p:nvSpPr>
        <p:spPr>
          <a:xfrm>
            <a:off x="740280" y="378428"/>
            <a:ext cx="10753725" cy="1200329"/>
          </a:xfrm>
          <a:prstGeom prst="rect">
            <a:avLst/>
          </a:prstGeom>
        </p:spPr>
        <p:txBody>
          <a:bodyPr wrap="square" lIns="0" tIns="0" rIns="0" bIns="0" anchor="t">
            <a:spAutoFit/>
          </a:bodyPr>
          <a:lstStyle>
            <a:lvl1pPr>
              <a:defRPr sz="3900" b="0" i="0">
                <a:solidFill>
                  <a:srgbClr val="010101"/>
                </a:solidFill>
                <a:latin typeface="Georgia"/>
                <a:ea typeface="+mj-ea"/>
                <a:cs typeface="Georgia"/>
              </a:defRPr>
            </a:lvl1pPr>
          </a:lstStyle>
          <a:p>
            <a:r>
              <a:rPr lang="en-IN" dirty="0">
                <a:solidFill>
                  <a:schemeClr val="tx1"/>
                </a:solidFill>
              </a:rPr>
              <a:t>SECURITY VULNERABILITY / PROBLEM STATEMENT</a:t>
            </a:r>
          </a:p>
        </p:txBody>
      </p:sp>
      <p:pic>
        <p:nvPicPr>
          <p:cNvPr id="6" name="Content Placeholder 12">
            <a:extLst>
              <a:ext uri="{FF2B5EF4-FFF2-40B4-BE49-F238E27FC236}">
                <a16:creationId xmlns:a16="http://schemas.microsoft.com/office/drawing/2014/main" id="{ED3826F2-F375-65F6-C3BB-5A8FDD79512F}"/>
              </a:ext>
            </a:extLst>
          </p:cNvPr>
          <p:cNvPicPr>
            <a:picLocks noGrp="1" noChangeAspect="1"/>
          </p:cNvPicPr>
          <p:nvPr/>
        </p:nvPicPr>
        <p:blipFill>
          <a:blip r:embed="rId2"/>
          <a:stretch>
            <a:fillRect/>
          </a:stretch>
        </p:blipFill>
        <p:spPr>
          <a:xfrm>
            <a:off x="6593523" y="2073011"/>
            <a:ext cx="5303837" cy="3535891"/>
          </a:xfrm>
          <a:prstGeom prst="rect">
            <a:avLst/>
          </a:prstGeom>
        </p:spPr>
      </p:pic>
      <p:graphicFrame>
        <p:nvGraphicFramePr>
          <p:cNvPr id="7" name="Content Placeholder 4">
            <a:extLst>
              <a:ext uri="{FF2B5EF4-FFF2-40B4-BE49-F238E27FC236}">
                <a16:creationId xmlns:a16="http://schemas.microsoft.com/office/drawing/2014/main" id="{D116A2B5-78A6-D197-8C7A-B1E97FF43290}"/>
              </a:ext>
            </a:extLst>
          </p:cNvPr>
          <p:cNvGraphicFramePr>
            <a:graphicFrameLocks noGrp="1"/>
          </p:cNvGraphicFramePr>
          <p:nvPr>
            <p:extLst>
              <p:ext uri="{D42A27DB-BD31-4B8C-83A1-F6EECF244321}">
                <p14:modId xmlns:p14="http://schemas.microsoft.com/office/powerpoint/2010/main" val="1160958470"/>
              </p:ext>
            </p:extLst>
          </p:nvPr>
        </p:nvGraphicFramePr>
        <p:xfrm>
          <a:off x="741680" y="1964055"/>
          <a:ext cx="5303838"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1814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hat performance and efficiency does Microsoft Azure Cobalt 100 VMs deliver  using Arm Neoverse performance? - Arm Newsroom">
            <a:extLst>
              <a:ext uri="{FF2B5EF4-FFF2-40B4-BE49-F238E27FC236}">
                <a16:creationId xmlns:a16="http://schemas.microsoft.com/office/drawing/2014/main" id="{8E0C0824-D507-8D46-6717-87C7E673A325}"/>
              </a:ext>
            </a:extLst>
          </p:cNvPr>
          <p:cNvPicPr>
            <a:picLocks noChangeAspect="1"/>
          </p:cNvPicPr>
          <p:nvPr/>
        </p:nvPicPr>
        <p:blipFill>
          <a:blip r:embed="rId2"/>
          <a:stretch>
            <a:fillRect/>
          </a:stretch>
        </p:blipFill>
        <p:spPr>
          <a:xfrm>
            <a:off x="0" y="2540"/>
            <a:ext cx="12395200" cy="6852920"/>
          </a:xfrm>
          <a:prstGeom prst="rect">
            <a:avLst/>
          </a:prstGeom>
        </p:spPr>
      </p:pic>
      <p:sp>
        <p:nvSpPr>
          <p:cNvPr id="2" name="Date Placeholder 1">
            <a:extLst>
              <a:ext uri="{FF2B5EF4-FFF2-40B4-BE49-F238E27FC236}">
                <a16:creationId xmlns:a16="http://schemas.microsoft.com/office/drawing/2014/main" id="{D9AA2099-1B88-4A39-A106-92304D89E379}"/>
              </a:ext>
            </a:extLst>
          </p:cNvPr>
          <p:cNvSpPr>
            <a:spLocks noGrp="1"/>
          </p:cNvSpPr>
          <p:nvPr>
            <p:ph type="dt" sz="half" idx="10"/>
          </p:nvPr>
        </p:nvSpPr>
        <p:spPr/>
        <p:txBody>
          <a:bodyPr/>
          <a:lstStyle/>
          <a:p>
            <a:fld id="{7F0E72D5-CBD3-4B32-A238-F4416B2E6C5F}" type="datetime1">
              <a:t>9/23/2026</a:t>
            </a:fld>
            <a:endParaRPr lang="en-US" dirty="0"/>
          </a:p>
        </p:txBody>
      </p:sp>
      <p:pic>
        <p:nvPicPr>
          <p:cNvPr id="5" name="object 2">
            <a:extLst>
              <a:ext uri="{FF2B5EF4-FFF2-40B4-BE49-F238E27FC236}">
                <a16:creationId xmlns:a16="http://schemas.microsoft.com/office/drawing/2014/main" id="{FAD64862-A2AF-A160-DACA-1C9D455EAD6A}"/>
              </a:ext>
            </a:extLst>
          </p:cNvPr>
          <p:cNvPicPr/>
          <p:nvPr/>
        </p:nvPicPr>
        <p:blipFill>
          <a:blip r:embed="rId3" cstate="print"/>
          <a:stretch>
            <a:fillRect/>
          </a:stretch>
        </p:blipFill>
        <p:spPr>
          <a:xfrm>
            <a:off x="0" y="0"/>
            <a:ext cx="4571999" cy="6857999"/>
          </a:xfrm>
          <a:prstGeom prst="rect">
            <a:avLst/>
          </a:prstGeom>
        </p:spPr>
      </p:pic>
      <p:sp>
        <p:nvSpPr>
          <p:cNvPr id="6" name="object 3" descr="$PPTXTitle">
            <a:extLst>
              <a:ext uri="{FF2B5EF4-FFF2-40B4-BE49-F238E27FC236}">
                <a16:creationId xmlns:a16="http://schemas.microsoft.com/office/drawing/2014/main" id="{3AD6D789-FEA4-5E79-E378-6637E4302C2F}"/>
              </a:ext>
            </a:extLst>
          </p:cNvPr>
          <p:cNvSpPr txBox="1">
            <a:spLocks noGrp="1"/>
          </p:cNvSpPr>
          <p:nvPr/>
        </p:nvSpPr>
        <p:spPr>
          <a:xfrm>
            <a:off x="4662041" y="2389282"/>
            <a:ext cx="5774055" cy="1240155"/>
          </a:xfrm>
          <a:prstGeom prst="rect">
            <a:avLst/>
          </a:prstGeom>
        </p:spPr>
        <p:txBody>
          <a:bodyPr vert="horz" wrap="square" lIns="0" tIns="0" rIns="0" bIns="0" rtlCol="0" anchor="t">
            <a:spAutoFit/>
          </a:bodyPr>
          <a:lstStyle>
            <a:lvl1pPr>
              <a:defRPr sz="3900" b="0" i="0">
                <a:solidFill>
                  <a:srgbClr val="010101"/>
                </a:solidFill>
                <a:latin typeface="Georgia"/>
                <a:ea typeface="+mj-ea"/>
                <a:cs typeface="Georgia"/>
              </a:defRPr>
            </a:lvl1pPr>
          </a:lstStyle>
          <a:p>
            <a:pPr marL="12700" marR="5080">
              <a:lnSpc>
                <a:spcPts val="4880"/>
              </a:lnSpc>
            </a:pPr>
            <a:r>
              <a:rPr dirty="0">
                <a:solidFill>
                  <a:schemeClr val="tx1"/>
                </a:solidFill>
              </a:rPr>
              <a:t>Azure</a:t>
            </a:r>
            <a:r>
              <a:rPr spc="-15" dirty="0">
                <a:solidFill>
                  <a:schemeClr val="tx1"/>
                </a:solidFill>
              </a:rPr>
              <a:t> </a:t>
            </a:r>
            <a:r>
              <a:rPr spc="-20" dirty="0">
                <a:solidFill>
                  <a:schemeClr val="tx1"/>
                </a:solidFill>
              </a:rPr>
              <a:t>Update</a:t>
            </a:r>
            <a:r>
              <a:rPr spc="-10" dirty="0">
                <a:solidFill>
                  <a:schemeClr val="tx1"/>
                </a:solidFill>
              </a:rPr>
              <a:t> Manager: </a:t>
            </a:r>
            <a:r>
              <a:rPr spc="-30" dirty="0">
                <a:solidFill>
                  <a:schemeClr val="tx1"/>
                </a:solidFill>
              </a:rPr>
              <a:t>Modern</a:t>
            </a:r>
            <a:r>
              <a:rPr spc="-20" dirty="0">
                <a:solidFill>
                  <a:schemeClr val="tx1"/>
                </a:solidFill>
              </a:rPr>
              <a:t> </a:t>
            </a:r>
            <a:r>
              <a:rPr dirty="0">
                <a:solidFill>
                  <a:schemeClr val="tx1"/>
                </a:solidFill>
              </a:rPr>
              <a:t>Patching</a:t>
            </a:r>
            <a:r>
              <a:rPr spc="-15" dirty="0">
                <a:solidFill>
                  <a:schemeClr val="tx1"/>
                </a:solidFill>
              </a:rPr>
              <a:t> </a:t>
            </a:r>
            <a:r>
              <a:rPr spc="-10" dirty="0">
                <a:solidFill>
                  <a:schemeClr val="tx1"/>
                </a:solidFill>
              </a:rPr>
              <a:t>Strategy</a:t>
            </a:r>
            <a:endParaRPr lang="en-US" spc="-10" dirty="0">
              <a:solidFill>
                <a:schemeClr val="tx1"/>
              </a:solidFill>
            </a:endParaRPr>
          </a:p>
        </p:txBody>
      </p:sp>
      <p:sp>
        <p:nvSpPr>
          <p:cNvPr id="7" name="object 4">
            <a:extLst>
              <a:ext uri="{FF2B5EF4-FFF2-40B4-BE49-F238E27FC236}">
                <a16:creationId xmlns:a16="http://schemas.microsoft.com/office/drawing/2014/main" id="{E214E893-EA4F-0FC6-F09D-B8084D8F3BAF}"/>
              </a:ext>
            </a:extLst>
          </p:cNvPr>
          <p:cNvSpPr txBox="1"/>
          <p:nvPr/>
        </p:nvSpPr>
        <p:spPr>
          <a:xfrm>
            <a:off x="4753481" y="3826204"/>
            <a:ext cx="3437255" cy="1739835"/>
          </a:xfrm>
          <a:prstGeom prst="rect">
            <a:avLst/>
          </a:prstGeom>
        </p:spPr>
        <p:txBody>
          <a:bodyPr vert="horz" wrap="square" lIns="0" tIns="95250" rIns="0" bIns="0" rtlCol="0" anchor="t">
            <a:spAutoFit/>
          </a:bodyPr>
          <a:lstStyle>
            <a:defPPr>
              <a:defRPr kern="0"/>
            </a:defPPr>
          </a:lstStyle>
          <a:p>
            <a:pPr marL="12700">
              <a:lnSpc>
                <a:spcPct val="100000"/>
              </a:lnSpc>
              <a:spcBef>
                <a:spcPts val="750"/>
              </a:spcBef>
            </a:pPr>
            <a:r>
              <a:rPr sz="1450" dirty="0">
                <a:latin typeface="Trebuchet MS"/>
                <a:cs typeface="Trebuchet MS"/>
              </a:rPr>
              <a:t>Streamlined,</a:t>
            </a:r>
            <a:r>
              <a:rPr sz="1450" spc="15" dirty="0">
                <a:latin typeface="Trebuchet MS"/>
                <a:cs typeface="Trebuchet MS"/>
              </a:rPr>
              <a:t> </a:t>
            </a:r>
            <a:r>
              <a:rPr sz="1450" spc="90" dirty="0">
                <a:latin typeface="Trebuchet MS"/>
                <a:cs typeface="Trebuchet MS"/>
              </a:rPr>
              <a:t>cloud-</a:t>
            </a:r>
            <a:r>
              <a:rPr sz="1450" dirty="0">
                <a:latin typeface="Trebuchet MS"/>
                <a:cs typeface="Trebuchet MS"/>
              </a:rPr>
              <a:t>native</a:t>
            </a:r>
            <a:r>
              <a:rPr sz="1450" spc="20" dirty="0">
                <a:latin typeface="Trebuchet MS"/>
                <a:cs typeface="Trebuchet MS"/>
              </a:rPr>
              <a:t> </a:t>
            </a:r>
            <a:r>
              <a:rPr sz="1450" spc="65" dirty="0">
                <a:latin typeface="Trebuchet MS"/>
                <a:cs typeface="Trebuchet MS"/>
              </a:rPr>
              <a:t>approach</a:t>
            </a:r>
            <a:r>
              <a:rPr sz="1450" spc="15" dirty="0">
                <a:latin typeface="Trebuchet MS"/>
                <a:cs typeface="Trebuchet MS"/>
              </a:rPr>
              <a:t> </a:t>
            </a:r>
            <a:r>
              <a:rPr sz="1450" dirty="0">
                <a:latin typeface="Trebuchet MS"/>
                <a:cs typeface="Trebuchet MS"/>
              </a:rPr>
              <a:t>to</a:t>
            </a:r>
            <a:r>
              <a:rPr sz="1450" spc="20" dirty="0">
                <a:latin typeface="Trebuchet MS"/>
                <a:cs typeface="Trebuchet MS"/>
              </a:rPr>
              <a:t> </a:t>
            </a:r>
            <a:r>
              <a:rPr sz="1450" spc="45" dirty="0">
                <a:latin typeface="Trebuchet MS"/>
                <a:cs typeface="Trebuchet MS"/>
              </a:rPr>
              <a:t>patching</a:t>
            </a:r>
            <a:r>
              <a:rPr sz="1450" spc="20" dirty="0">
                <a:latin typeface="Trebuchet MS"/>
                <a:cs typeface="Trebuchet MS"/>
              </a:rPr>
              <a:t> </a:t>
            </a:r>
            <a:r>
              <a:rPr sz="1450" spc="85" dirty="0">
                <a:latin typeface="Trebuchet MS"/>
                <a:cs typeface="Trebuchet MS"/>
              </a:rPr>
              <a:t>across</a:t>
            </a:r>
            <a:r>
              <a:rPr sz="1450" spc="15" dirty="0">
                <a:latin typeface="Trebuchet MS"/>
                <a:cs typeface="Trebuchet MS"/>
              </a:rPr>
              <a:t> </a:t>
            </a:r>
            <a:r>
              <a:rPr sz="1450" spc="-10" dirty="0">
                <a:latin typeface="Trebuchet MS"/>
                <a:cs typeface="Trebuchet MS"/>
              </a:rPr>
              <a:t>Azure,</a:t>
            </a:r>
            <a:endParaRPr lang="en-US" sz="1450">
              <a:latin typeface="Trebuchet MS"/>
              <a:cs typeface="Trebuchet MS"/>
            </a:endParaRPr>
          </a:p>
          <a:p>
            <a:pPr marL="12700" marR="5080">
              <a:lnSpc>
                <a:spcPct val="137900"/>
              </a:lnSpc>
            </a:pPr>
            <a:r>
              <a:rPr sz="1450" spc="55" dirty="0">
                <a:latin typeface="Trebuchet MS"/>
                <a:cs typeface="Trebuchet MS"/>
              </a:rPr>
              <a:t>on</a:t>
            </a:r>
            <a:r>
              <a:rPr sz="1450" spc="55" dirty="0">
                <a:latin typeface="PMingLiU-ExtB"/>
                <a:cs typeface="PMingLiU-ExtB"/>
              </a:rPr>
              <a:t>-</a:t>
            </a:r>
            <a:r>
              <a:rPr sz="1450" dirty="0">
                <a:latin typeface="Trebuchet MS"/>
                <a:cs typeface="Trebuchet MS"/>
              </a:rPr>
              <a:t>premises,</a:t>
            </a:r>
            <a:r>
              <a:rPr sz="1450" spc="65" dirty="0">
                <a:latin typeface="Trebuchet MS"/>
                <a:cs typeface="Trebuchet MS"/>
              </a:rPr>
              <a:t> </a:t>
            </a:r>
            <a:r>
              <a:rPr sz="1450" spc="70" dirty="0">
                <a:latin typeface="Trebuchet MS"/>
                <a:cs typeface="Trebuchet MS"/>
              </a:rPr>
              <a:t>and</a:t>
            </a:r>
            <a:r>
              <a:rPr sz="1450" spc="65" dirty="0">
                <a:latin typeface="Trebuchet MS"/>
                <a:cs typeface="Trebuchet MS"/>
              </a:rPr>
              <a:t> </a:t>
            </a:r>
            <a:r>
              <a:rPr sz="1450" dirty="0">
                <a:latin typeface="Trebuchet MS"/>
                <a:cs typeface="Trebuchet MS"/>
              </a:rPr>
              <a:t>multi</a:t>
            </a:r>
            <a:r>
              <a:rPr sz="1450" dirty="0">
                <a:latin typeface="PMingLiU-ExtB"/>
                <a:cs typeface="PMingLiU-ExtB"/>
              </a:rPr>
              <a:t>-</a:t>
            </a:r>
            <a:r>
              <a:rPr sz="1450" spc="55" dirty="0">
                <a:latin typeface="Trebuchet MS"/>
                <a:cs typeface="Trebuchet MS"/>
              </a:rPr>
              <a:t>cloud</a:t>
            </a:r>
            <a:r>
              <a:rPr sz="1450" spc="65" dirty="0">
                <a:latin typeface="Trebuchet MS"/>
                <a:cs typeface="Trebuchet MS"/>
              </a:rPr>
              <a:t> </a:t>
            </a:r>
            <a:r>
              <a:rPr sz="1450" spc="-20" dirty="0">
                <a:latin typeface="Trebuchet MS"/>
                <a:cs typeface="Trebuchet MS"/>
              </a:rPr>
              <a:t>fleets.</a:t>
            </a:r>
            <a:r>
              <a:rPr sz="1450" spc="70" dirty="0">
                <a:latin typeface="Trebuchet MS"/>
                <a:cs typeface="Trebuchet MS"/>
              </a:rPr>
              <a:t> </a:t>
            </a:r>
            <a:r>
              <a:rPr sz="1450" dirty="0">
                <a:latin typeface="Trebuchet MS"/>
                <a:cs typeface="Trebuchet MS"/>
              </a:rPr>
              <a:t>Replace</a:t>
            </a:r>
            <a:r>
              <a:rPr sz="1450" spc="65" dirty="0">
                <a:latin typeface="Trebuchet MS"/>
                <a:cs typeface="Trebuchet MS"/>
              </a:rPr>
              <a:t> </a:t>
            </a:r>
            <a:r>
              <a:rPr sz="1450" spc="-35" dirty="0">
                <a:latin typeface="Trebuchet MS"/>
                <a:cs typeface="Trebuchet MS"/>
              </a:rPr>
              <a:t>brittle,</a:t>
            </a:r>
            <a:r>
              <a:rPr sz="1450" spc="65" dirty="0">
                <a:latin typeface="Trebuchet MS"/>
                <a:cs typeface="Trebuchet MS"/>
              </a:rPr>
              <a:t> </a:t>
            </a:r>
            <a:r>
              <a:rPr sz="1450" dirty="0">
                <a:latin typeface="Trebuchet MS"/>
                <a:cs typeface="Trebuchet MS"/>
              </a:rPr>
              <a:t>manual</a:t>
            </a:r>
            <a:r>
              <a:rPr sz="1450" spc="70" dirty="0">
                <a:latin typeface="Trebuchet MS"/>
                <a:cs typeface="Trebuchet MS"/>
              </a:rPr>
              <a:t> </a:t>
            </a:r>
            <a:r>
              <a:rPr sz="1450" spc="80" dirty="0">
                <a:latin typeface="Trebuchet MS"/>
                <a:cs typeface="Trebuchet MS"/>
              </a:rPr>
              <a:t>processes </a:t>
            </a:r>
            <a:r>
              <a:rPr sz="1450" dirty="0">
                <a:latin typeface="Trebuchet MS"/>
                <a:cs typeface="Trebuchet MS"/>
              </a:rPr>
              <a:t>with</a:t>
            </a:r>
            <a:r>
              <a:rPr sz="1450" spc="5" dirty="0">
                <a:latin typeface="Trebuchet MS"/>
                <a:cs typeface="Trebuchet MS"/>
              </a:rPr>
              <a:t> </a:t>
            </a:r>
            <a:r>
              <a:rPr sz="1450" spc="50" dirty="0">
                <a:latin typeface="Trebuchet MS"/>
                <a:cs typeface="Trebuchet MS"/>
              </a:rPr>
              <a:t>an</a:t>
            </a:r>
            <a:r>
              <a:rPr sz="1450" spc="10" dirty="0">
                <a:latin typeface="Trebuchet MS"/>
                <a:cs typeface="Trebuchet MS"/>
              </a:rPr>
              <a:t> </a:t>
            </a:r>
            <a:r>
              <a:rPr sz="1450" dirty="0">
                <a:latin typeface="Trebuchet MS"/>
                <a:cs typeface="Trebuchet MS"/>
              </a:rPr>
              <a:t>auditable,</a:t>
            </a:r>
            <a:r>
              <a:rPr sz="1450" spc="5" dirty="0">
                <a:latin typeface="Trebuchet MS"/>
                <a:cs typeface="Trebuchet MS"/>
              </a:rPr>
              <a:t> </a:t>
            </a:r>
            <a:r>
              <a:rPr sz="1450" spc="75" dirty="0">
                <a:latin typeface="Trebuchet MS"/>
                <a:cs typeface="Trebuchet MS"/>
              </a:rPr>
              <a:t>policy-</a:t>
            </a:r>
            <a:r>
              <a:rPr sz="1450" dirty="0">
                <a:latin typeface="Trebuchet MS"/>
                <a:cs typeface="Trebuchet MS"/>
              </a:rPr>
              <a:t>driven</a:t>
            </a:r>
            <a:r>
              <a:rPr sz="1450" spc="10" dirty="0">
                <a:latin typeface="Trebuchet MS"/>
                <a:cs typeface="Trebuchet MS"/>
              </a:rPr>
              <a:t> </a:t>
            </a:r>
            <a:r>
              <a:rPr sz="1450" spc="75" dirty="0">
                <a:latin typeface="Trebuchet MS"/>
                <a:cs typeface="Trebuchet MS"/>
              </a:rPr>
              <a:t>system</a:t>
            </a:r>
            <a:r>
              <a:rPr sz="1450" spc="10" dirty="0">
                <a:latin typeface="Trebuchet MS"/>
                <a:cs typeface="Trebuchet MS"/>
              </a:rPr>
              <a:t> </a:t>
            </a:r>
            <a:r>
              <a:rPr sz="1450" dirty="0">
                <a:latin typeface="Trebuchet MS"/>
                <a:cs typeface="Trebuchet MS"/>
              </a:rPr>
              <a:t>that</a:t>
            </a:r>
            <a:r>
              <a:rPr sz="1450" spc="5" dirty="0">
                <a:latin typeface="Trebuchet MS"/>
                <a:cs typeface="Trebuchet MS"/>
              </a:rPr>
              <a:t> </a:t>
            </a:r>
            <a:r>
              <a:rPr sz="1450" spc="-10" dirty="0">
                <a:latin typeface="Trebuchet MS"/>
                <a:cs typeface="Trebuchet MS"/>
              </a:rPr>
              <a:t>scales.</a:t>
            </a:r>
            <a:endParaRPr sz="1450">
              <a:latin typeface="Trebuchet MS"/>
              <a:cs typeface="Trebuchet MS"/>
            </a:endParaRPr>
          </a:p>
        </p:txBody>
      </p:sp>
    </p:spTree>
    <p:extLst>
      <p:ext uri="{BB962C8B-B14F-4D97-AF65-F5344CB8AC3E}">
        <p14:creationId xmlns:p14="http://schemas.microsoft.com/office/powerpoint/2010/main" val="3546248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What performance and efficiency does Microsoft Azure Cobalt 100 VMs deliver  using Arm Neoverse performance? - Arm Newsroom">
            <a:extLst>
              <a:ext uri="{FF2B5EF4-FFF2-40B4-BE49-F238E27FC236}">
                <a16:creationId xmlns:a16="http://schemas.microsoft.com/office/drawing/2014/main" id="{A396F73C-B12E-89B4-2C21-7ABE76867850}"/>
              </a:ext>
            </a:extLst>
          </p:cNvPr>
          <p:cNvPicPr>
            <a:picLocks noChangeAspect="1"/>
          </p:cNvPicPr>
          <p:nvPr/>
        </p:nvPicPr>
        <p:blipFill>
          <a:blip r:embed="rId2"/>
          <a:stretch>
            <a:fillRect/>
          </a:stretch>
        </p:blipFill>
        <p:spPr>
          <a:xfrm>
            <a:off x="0" y="2540"/>
            <a:ext cx="12395200" cy="6852920"/>
          </a:xfrm>
          <a:prstGeom prst="rect">
            <a:avLst/>
          </a:prstGeom>
        </p:spPr>
      </p:pic>
      <p:sp>
        <p:nvSpPr>
          <p:cNvPr id="2" name="Date Placeholder 1">
            <a:extLst>
              <a:ext uri="{FF2B5EF4-FFF2-40B4-BE49-F238E27FC236}">
                <a16:creationId xmlns:a16="http://schemas.microsoft.com/office/drawing/2014/main" id="{8FF83671-82EA-DD2C-8A47-D8B990BD25A5}"/>
              </a:ext>
            </a:extLst>
          </p:cNvPr>
          <p:cNvSpPr>
            <a:spLocks noGrp="1"/>
          </p:cNvSpPr>
          <p:nvPr>
            <p:ph type="dt" sz="half" idx="10"/>
          </p:nvPr>
        </p:nvSpPr>
        <p:spPr/>
        <p:txBody>
          <a:bodyPr/>
          <a:lstStyle/>
          <a:p>
            <a:fld id="{91C7338D-E654-4C2D-82B2-656440CB8270}" type="datetime1">
              <a:t>9/23/2026</a:t>
            </a:fld>
            <a:endParaRPr lang="en-US" dirty="0"/>
          </a:p>
        </p:txBody>
      </p:sp>
      <p:sp>
        <p:nvSpPr>
          <p:cNvPr id="3" name="Footer Placeholder 2">
            <a:extLst>
              <a:ext uri="{FF2B5EF4-FFF2-40B4-BE49-F238E27FC236}">
                <a16:creationId xmlns:a16="http://schemas.microsoft.com/office/drawing/2014/main" id="{5D7553F7-43A6-F45D-8A98-87A79F2808D1}"/>
              </a:ext>
            </a:extLst>
          </p:cNvPr>
          <p:cNvSpPr>
            <a:spLocks noGrp="1"/>
          </p:cNvSpPr>
          <p:nvPr>
            <p:ph type="ftr" sz="quarter" idx="11"/>
          </p:nvPr>
        </p:nvSpPr>
        <p:spPr/>
        <p:txBody>
          <a:bodyPr/>
          <a:lstStyle/>
          <a:p>
            <a:r>
              <a:rPr lang="en-US" dirty="0"/>
              <a:t>
              </a:t>
            </a:r>
          </a:p>
        </p:txBody>
      </p:sp>
      <p:sp>
        <p:nvSpPr>
          <p:cNvPr id="5" name="object 2" descr="$PPTXTitle">
            <a:extLst>
              <a:ext uri="{FF2B5EF4-FFF2-40B4-BE49-F238E27FC236}">
                <a16:creationId xmlns:a16="http://schemas.microsoft.com/office/drawing/2014/main" id="{A57FEA73-61CF-B835-4FC2-9C98345D7D58}"/>
              </a:ext>
            </a:extLst>
          </p:cNvPr>
          <p:cNvSpPr txBox="1">
            <a:spLocks noGrp="1"/>
          </p:cNvSpPr>
          <p:nvPr/>
        </p:nvSpPr>
        <p:spPr>
          <a:xfrm>
            <a:off x="344040" y="-434372"/>
            <a:ext cx="10753725" cy="2401747"/>
          </a:xfrm>
          <a:prstGeom prst="rect">
            <a:avLst/>
          </a:prstGeom>
        </p:spPr>
        <p:txBody>
          <a:bodyPr vert="horz" wrap="square" lIns="0" tIns="1177099" rIns="0" bIns="0" rtlCol="0" anchor="t">
            <a:spAutoFit/>
          </a:bodyPr>
          <a:lstStyle>
            <a:lvl1pPr>
              <a:defRPr sz="3900" b="0" i="0">
                <a:solidFill>
                  <a:srgbClr val="010101"/>
                </a:solidFill>
                <a:latin typeface="Georgia"/>
                <a:ea typeface="+mj-ea"/>
                <a:cs typeface="Georgia"/>
              </a:defRPr>
            </a:lvl1pPr>
          </a:lstStyle>
          <a:p>
            <a:pPr marL="12700">
              <a:spcBef>
                <a:spcPts val="105"/>
              </a:spcBef>
            </a:pPr>
            <a:r>
              <a:rPr dirty="0">
                <a:solidFill>
                  <a:schemeClr val="tx1"/>
                </a:solidFill>
              </a:rPr>
              <a:t>The</a:t>
            </a:r>
            <a:r>
              <a:rPr spc="-80" dirty="0">
                <a:solidFill>
                  <a:schemeClr val="tx1"/>
                </a:solidFill>
              </a:rPr>
              <a:t> </a:t>
            </a:r>
            <a:r>
              <a:rPr dirty="0">
                <a:solidFill>
                  <a:schemeClr val="tx1"/>
                </a:solidFill>
              </a:rPr>
              <a:t>Legacy</a:t>
            </a:r>
            <a:r>
              <a:rPr spc="-80" dirty="0">
                <a:solidFill>
                  <a:schemeClr val="tx1"/>
                </a:solidFill>
              </a:rPr>
              <a:t> </a:t>
            </a:r>
            <a:r>
              <a:rPr spc="-10" dirty="0">
                <a:solidFill>
                  <a:schemeClr val="tx1"/>
                </a:solidFill>
              </a:rPr>
              <a:t>Burden:</a:t>
            </a:r>
            <a:r>
              <a:rPr spc="-80" dirty="0">
                <a:solidFill>
                  <a:schemeClr val="tx1"/>
                </a:solidFill>
              </a:rPr>
              <a:t> </a:t>
            </a:r>
            <a:endParaRPr lang="en-US" spc="-10" dirty="0">
              <a:solidFill>
                <a:schemeClr val="tx1"/>
              </a:solidFill>
            </a:endParaRPr>
          </a:p>
          <a:p>
            <a:pPr marL="12700">
              <a:spcBef>
                <a:spcPts val="105"/>
              </a:spcBef>
            </a:pPr>
            <a:r>
              <a:rPr lang="en-US" dirty="0">
                <a:solidFill>
                  <a:schemeClr val="tx1"/>
                </a:solidFill>
              </a:rPr>
              <a:t>     </a:t>
            </a:r>
            <a:r>
              <a:rPr dirty="0">
                <a:solidFill>
                  <a:schemeClr val="tx1"/>
                </a:solidFill>
              </a:rPr>
              <a:t>Why</a:t>
            </a:r>
            <a:r>
              <a:rPr spc="-80" dirty="0">
                <a:solidFill>
                  <a:schemeClr val="tx1"/>
                </a:solidFill>
              </a:rPr>
              <a:t> </a:t>
            </a:r>
            <a:r>
              <a:rPr dirty="0">
                <a:solidFill>
                  <a:schemeClr val="tx1"/>
                </a:solidFill>
              </a:rPr>
              <a:t>Old</a:t>
            </a:r>
            <a:r>
              <a:rPr spc="-80" dirty="0">
                <a:solidFill>
                  <a:schemeClr val="tx1"/>
                </a:solidFill>
              </a:rPr>
              <a:t> </a:t>
            </a:r>
            <a:r>
              <a:rPr dirty="0">
                <a:solidFill>
                  <a:schemeClr val="tx1"/>
                </a:solidFill>
              </a:rPr>
              <a:t>Methods</a:t>
            </a:r>
            <a:r>
              <a:rPr spc="-80" dirty="0">
                <a:solidFill>
                  <a:schemeClr val="tx1"/>
                </a:solidFill>
              </a:rPr>
              <a:t> </a:t>
            </a:r>
            <a:r>
              <a:rPr spc="-10" dirty="0">
                <a:solidFill>
                  <a:schemeClr val="tx1"/>
                </a:solidFill>
              </a:rPr>
              <a:t>Failed</a:t>
            </a:r>
            <a:endParaRPr lang="en-US" spc="-10">
              <a:solidFill>
                <a:schemeClr val="tx1"/>
              </a:solidFill>
            </a:endParaRPr>
          </a:p>
        </p:txBody>
      </p:sp>
      <p:pic>
        <p:nvPicPr>
          <p:cNvPr id="6" name="object 3">
            <a:extLst>
              <a:ext uri="{FF2B5EF4-FFF2-40B4-BE49-F238E27FC236}">
                <a16:creationId xmlns:a16="http://schemas.microsoft.com/office/drawing/2014/main" id="{3B120478-C9D8-6CA9-E5E4-93E643B4464F}"/>
              </a:ext>
            </a:extLst>
          </p:cNvPr>
          <p:cNvPicPr/>
          <p:nvPr/>
        </p:nvPicPr>
        <p:blipFill>
          <a:blip r:embed="rId3" cstate="print"/>
          <a:stretch>
            <a:fillRect/>
          </a:stretch>
        </p:blipFill>
        <p:spPr>
          <a:xfrm>
            <a:off x="1591945" y="2342515"/>
            <a:ext cx="1456689" cy="1416684"/>
          </a:xfrm>
          <a:prstGeom prst="rect">
            <a:avLst/>
          </a:prstGeom>
        </p:spPr>
      </p:pic>
      <p:sp>
        <p:nvSpPr>
          <p:cNvPr id="7" name="object 4">
            <a:extLst>
              <a:ext uri="{FF2B5EF4-FFF2-40B4-BE49-F238E27FC236}">
                <a16:creationId xmlns:a16="http://schemas.microsoft.com/office/drawing/2014/main" id="{6133F1D5-AA59-32ED-9BCB-16F6A0543C53}"/>
              </a:ext>
            </a:extLst>
          </p:cNvPr>
          <p:cNvSpPr txBox="1"/>
          <p:nvPr/>
        </p:nvSpPr>
        <p:spPr>
          <a:xfrm>
            <a:off x="1483518" y="3924554"/>
            <a:ext cx="2059305" cy="2195088"/>
          </a:xfrm>
          <a:prstGeom prst="rect">
            <a:avLst/>
          </a:prstGeom>
        </p:spPr>
        <p:txBody>
          <a:bodyPr vert="horz" wrap="square" lIns="0" tIns="5080" rIns="0" bIns="0" rtlCol="0" anchor="t">
            <a:spAutoFit/>
          </a:bodyPr>
          <a:lstStyle>
            <a:defPPr>
              <a:defRPr kern="0"/>
            </a:defPPr>
          </a:lstStyle>
          <a:p>
            <a:pPr marL="12700" marR="718185">
              <a:lnSpc>
                <a:spcPct val="102600"/>
              </a:lnSpc>
              <a:spcBef>
                <a:spcPts val="40"/>
              </a:spcBef>
            </a:pPr>
            <a:r>
              <a:rPr sz="1950" u="sng" spc="-10" dirty="0">
                <a:latin typeface="Georgia"/>
                <a:cs typeface="Georgia"/>
              </a:rPr>
              <a:t>Operational Complexity</a:t>
            </a:r>
            <a:r>
              <a:rPr lang="en-US" sz="1950" u="sng" spc="-10" dirty="0">
                <a:latin typeface="Georgia"/>
                <a:cs typeface="Georgia"/>
              </a:rPr>
              <a:t>:</a:t>
            </a:r>
            <a:endParaRPr lang="en-US" sz="1950" u="sng" dirty="0">
              <a:latin typeface="Georgia"/>
              <a:cs typeface="Georgia"/>
            </a:endParaRPr>
          </a:p>
          <a:p>
            <a:pPr marL="12700" marR="5080">
              <a:lnSpc>
                <a:spcPct val="136900"/>
              </a:lnSpc>
              <a:spcBef>
                <a:spcPts val="595"/>
              </a:spcBef>
            </a:pPr>
            <a:r>
              <a:rPr sz="1450" spc="85" dirty="0">
                <a:latin typeface="Trebuchet MS"/>
                <a:cs typeface="Trebuchet MS"/>
              </a:rPr>
              <a:t>Dependency</a:t>
            </a:r>
            <a:r>
              <a:rPr sz="1450" spc="-40" dirty="0">
                <a:latin typeface="Trebuchet MS"/>
                <a:cs typeface="Trebuchet MS"/>
              </a:rPr>
              <a:t> </a:t>
            </a:r>
            <a:r>
              <a:rPr sz="1450" spc="75" dirty="0">
                <a:latin typeface="Trebuchet MS"/>
                <a:cs typeface="Trebuchet MS"/>
              </a:rPr>
              <a:t>on</a:t>
            </a:r>
            <a:r>
              <a:rPr sz="1450" spc="-35" dirty="0">
                <a:latin typeface="Trebuchet MS"/>
                <a:cs typeface="Trebuchet MS"/>
              </a:rPr>
              <a:t> </a:t>
            </a:r>
            <a:r>
              <a:rPr sz="1450" spc="30" dirty="0">
                <a:latin typeface="Trebuchet MS"/>
                <a:cs typeface="Trebuchet MS"/>
              </a:rPr>
              <a:t>Log </a:t>
            </a:r>
            <a:r>
              <a:rPr sz="1450" spc="50" dirty="0">
                <a:latin typeface="Trebuchet MS"/>
                <a:cs typeface="Trebuchet MS"/>
              </a:rPr>
              <a:t>Analytics</a:t>
            </a:r>
            <a:r>
              <a:rPr sz="1450" spc="-35" dirty="0">
                <a:latin typeface="Trebuchet MS"/>
                <a:cs typeface="Trebuchet MS"/>
              </a:rPr>
              <a:t> </a:t>
            </a:r>
            <a:r>
              <a:rPr sz="1450" spc="50" dirty="0">
                <a:latin typeface="Trebuchet MS"/>
                <a:cs typeface="Trebuchet MS"/>
              </a:rPr>
              <a:t>+</a:t>
            </a:r>
            <a:r>
              <a:rPr sz="1450" spc="-35" dirty="0">
                <a:latin typeface="Trebuchet MS"/>
                <a:cs typeface="Trebuchet MS"/>
              </a:rPr>
              <a:t> </a:t>
            </a:r>
            <a:r>
              <a:rPr sz="1450" spc="35" dirty="0">
                <a:latin typeface="Trebuchet MS"/>
                <a:cs typeface="Trebuchet MS"/>
              </a:rPr>
              <a:t>Automation </a:t>
            </a:r>
            <a:r>
              <a:rPr sz="1450" spc="90" dirty="0">
                <a:latin typeface="Trebuchet MS"/>
                <a:cs typeface="Trebuchet MS"/>
              </a:rPr>
              <a:t>Accounts</a:t>
            </a:r>
            <a:r>
              <a:rPr sz="1450" spc="-45" dirty="0">
                <a:latin typeface="Trebuchet MS"/>
                <a:cs typeface="Trebuchet MS"/>
              </a:rPr>
              <a:t> </a:t>
            </a:r>
            <a:r>
              <a:rPr sz="1450" spc="40" dirty="0">
                <a:latin typeface="Trebuchet MS"/>
                <a:cs typeface="Trebuchet MS"/>
              </a:rPr>
              <a:t>introduced </a:t>
            </a:r>
            <a:r>
              <a:rPr sz="1450" dirty="0">
                <a:latin typeface="Trebuchet MS"/>
                <a:cs typeface="Trebuchet MS"/>
              </a:rPr>
              <a:t>licensing</a:t>
            </a:r>
            <a:r>
              <a:rPr sz="1450" spc="195" dirty="0">
                <a:latin typeface="Trebuchet MS"/>
                <a:cs typeface="Trebuchet MS"/>
              </a:rPr>
              <a:t> </a:t>
            </a:r>
            <a:r>
              <a:rPr sz="1450" dirty="0">
                <a:latin typeface="Trebuchet MS"/>
                <a:cs typeface="Trebuchet MS"/>
              </a:rPr>
              <a:t>cost,</a:t>
            </a:r>
            <a:r>
              <a:rPr sz="1450" spc="200" dirty="0">
                <a:latin typeface="Trebuchet MS"/>
                <a:cs typeface="Trebuchet MS"/>
              </a:rPr>
              <a:t> </a:t>
            </a:r>
            <a:r>
              <a:rPr sz="1450" spc="-10" dirty="0">
                <a:latin typeface="Trebuchet MS"/>
                <a:cs typeface="Trebuchet MS"/>
              </a:rPr>
              <a:t>latency, </a:t>
            </a:r>
            <a:r>
              <a:rPr sz="1450" spc="70" dirty="0">
                <a:latin typeface="Trebuchet MS"/>
                <a:cs typeface="Trebuchet MS"/>
              </a:rPr>
              <a:t>and</a:t>
            </a:r>
            <a:r>
              <a:rPr sz="1450" spc="-60" dirty="0">
                <a:latin typeface="Trebuchet MS"/>
                <a:cs typeface="Trebuchet MS"/>
              </a:rPr>
              <a:t> </a:t>
            </a:r>
            <a:r>
              <a:rPr sz="1450" dirty="0">
                <a:latin typeface="Trebuchet MS"/>
                <a:cs typeface="Trebuchet MS"/>
              </a:rPr>
              <a:t>fragile</a:t>
            </a:r>
            <a:r>
              <a:rPr sz="1450" spc="-60" dirty="0">
                <a:latin typeface="Trebuchet MS"/>
                <a:cs typeface="Trebuchet MS"/>
              </a:rPr>
              <a:t> </a:t>
            </a:r>
            <a:r>
              <a:rPr sz="1450" spc="-10" dirty="0">
                <a:latin typeface="Trebuchet MS"/>
                <a:cs typeface="Trebuchet MS"/>
              </a:rPr>
              <a:t>runbooks.</a:t>
            </a:r>
            <a:endParaRPr sz="1450">
              <a:latin typeface="Trebuchet MS"/>
              <a:cs typeface="Trebuchet MS"/>
            </a:endParaRPr>
          </a:p>
        </p:txBody>
      </p:sp>
      <p:pic>
        <p:nvPicPr>
          <p:cNvPr id="8" name="object 5">
            <a:extLst>
              <a:ext uri="{FF2B5EF4-FFF2-40B4-BE49-F238E27FC236}">
                <a16:creationId xmlns:a16="http://schemas.microsoft.com/office/drawing/2014/main" id="{BC8F0793-AD11-A645-27D8-EC408DC0249F}"/>
              </a:ext>
            </a:extLst>
          </p:cNvPr>
          <p:cNvPicPr/>
          <p:nvPr/>
        </p:nvPicPr>
        <p:blipFill>
          <a:blip r:embed="rId4" cstate="print"/>
          <a:stretch>
            <a:fillRect/>
          </a:stretch>
        </p:blipFill>
        <p:spPr>
          <a:xfrm>
            <a:off x="5043170" y="2322195"/>
            <a:ext cx="1334769" cy="1304924"/>
          </a:xfrm>
          <a:prstGeom prst="rect">
            <a:avLst/>
          </a:prstGeom>
        </p:spPr>
      </p:pic>
      <p:sp>
        <p:nvSpPr>
          <p:cNvPr id="9" name="object 6">
            <a:extLst>
              <a:ext uri="{FF2B5EF4-FFF2-40B4-BE49-F238E27FC236}">
                <a16:creationId xmlns:a16="http://schemas.microsoft.com/office/drawing/2014/main" id="{3FF9E6CA-028A-D99A-395F-490F55F60CA8}"/>
              </a:ext>
            </a:extLst>
          </p:cNvPr>
          <p:cNvSpPr txBox="1"/>
          <p:nvPr/>
        </p:nvSpPr>
        <p:spPr>
          <a:xfrm>
            <a:off x="4738131" y="3904234"/>
            <a:ext cx="2132965" cy="1597660"/>
          </a:xfrm>
          <a:prstGeom prst="rect">
            <a:avLst/>
          </a:prstGeom>
        </p:spPr>
        <p:txBody>
          <a:bodyPr vert="horz" wrap="square" lIns="0" tIns="12700" rIns="0" bIns="0" rtlCol="0" anchor="t">
            <a:spAutoFit/>
          </a:bodyPr>
          <a:lstStyle>
            <a:defPPr>
              <a:defRPr kern="0"/>
            </a:defPPr>
          </a:lstStyle>
          <a:p>
            <a:pPr marL="12700">
              <a:lnSpc>
                <a:spcPct val="100000"/>
              </a:lnSpc>
              <a:spcBef>
                <a:spcPts val="100"/>
              </a:spcBef>
            </a:pPr>
            <a:r>
              <a:rPr sz="1950" u="sng" dirty="0">
                <a:latin typeface="Georgia"/>
                <a:cs typeface="Georgia"/>
              </a:rPr>
              <a:t>Scale</a:t>
            </a:r>
            <a:r>
              <a:rPr sz="1950" u="sng" spc="-10" dirty="0">
                <a:latin typeface="Georgia"/>
                <a:cs typeface="Georgia"/>
              </a:rPr>
              <a:t> Limitations</a:t>
            </a:r>
            <a:r>
              <a:rPr lang="en-US" sz="1950" u="sng" spc="-10" dirty="0">
                <a:latin typeface="Georgia"/>
                <a:cs typeface="Georgia"/>
              </a:rPr>
              <a:t>:</a:t>
            </a:r>
            <a:endParaRPr lang="en-US" sz="1950" u="sng" dirty="0">
              <a:latin typeface="Georgia"/>
              <a:cs typeface="Georgia"/>
            </a:endParaRPr>
          </a:p>
          <a:p>
            <a:pPr marL="12700" marR="5080">
              <a:lnSpc>
                <a:spcPct val="136500"/>
              </a:lnSpc>
              <a:spcBef>
                <a:spcPts val="525"/>
              </a:spcBef>
            </a:pPr>
            <a:r>
              <a:rPr sz="1450" dirty="0">
                <a:latin typeface="Trebuchet MS"/>
                <a:cs typeface="Trebuchet MS"/>
              </a:rPr>
              <a:t>Manual,</a:t>
            </a:r>
            <a:r>
              <a:rPr sz="1450" spc="160" dirty="0">
                <a:latin typeface="Trebuchet MS"/>
                <a:cs typeface="Trebuchet MS"/>
              </a:rPr>
              <a:t> </a:t>
            </a:r>
            <a:r>
              <a:rPr sz="1450" dirty="0">
                <a:latin typeface="Trebuchet MS"/>
                <a:cs typeface="Trebuchet MS"/>
              </a:rPr>
              <a:t>per</a:t>
            </a:r>
            <a:r>
              <a:rPr sz="1450" dirty="0">
                <a:latin typeface="PMingLiU-ExtB"/>
                <a:cs typeface="PMingLiU-ExtB"/>
              </a:rPr>
              <a:t>-</a:t>
            </a:r>
            <a:r>
              <a:rPr sz="1450" spc="-10" dirty="0">
                <a:latin typeface="Trebuchet MS"/>
                <a:cs typeface="Trebuchet MS"/>
              </a:rPr>
              <a:t>server </a:t>
            </a:r>
            <a:r>
              <a:rPr sz="1450" spc="10" dirty="0">
                <a:latin typeface="Trebuchet MS"/>
                <a:cs typeface="Trebuchet MS"/>
              </a:rPr>
              <a:t>configuration</a:t>
            </a:r>
            <a:r>
              <a:rPr sz="1450" spc="254" dirty="0">
                <a:latin typeface="Trebuchet MS"/>
                <a:cs typeface="Trebuchet MS"/>
              </a:rPr>
              <a:t> </a:t>
            </a:r>
            <a:r>
              <a:rPr sz="1450" spc="-10" dirty="0">
                <a:latin typeface="Trebuchet MS"/>
                <a:cs typeface="Trebuchet MS"/>
              </a:rPr>
              <a:t>prevented </a:t>
            </a:r>
            <a:r>
              <a:rPr sz="1450" dirty="0">
                <a:latin typeface="Trebuchet MS"/>
                <a:cs typeface="Trebuchet MS"/>
              </a:rPr>
              <a:t>repeatable </a:t>
            </a:r>
            <a:r>
              <a:rPr sz="1450" spc="45" dirty="0">
                <a:latin typeface="Trebuchet MS"/>
                <a:cs typeface="Trebuchet MS"/>
              </a:rPr>
              <a:t>enterprise-</a:t>
            </a:r>
            <a:r>
              <a:rPr sz="1450" dirty="0">
                <a:latin typeface="Trebuchet MS"/>
                <a:cs typeface="Trebuchet MS"/>
              </a:rPr>
              <a:t>wide</a:t>
            </a:r>
            <a:r>
              <a:rPr sz="1450" spc="100" dirty="0">
                <a:latin typeface="Trebuchet MS"/>
                <a:cs typeface="Trebuchet MS"/>
              </a:rPr>
              <a:t> </a:t>
            </a:r>
            <a:r>
              <a:rPr sz="1450" spc="-10" dirty="0">
                <a:latin typeface="Trebuchet MS"/>
                <a:cs typeface="Trebuchet MS"/>
              </a:rPr>
              <a:t>patching.</a:t>
            </a:r>
            <a:endParaRPr sz="1450">
              <a:latin typeface="Trebuchet MS"/>
              <a:cs typeface="Trebuchet MS"/>
            </a:endParaRPr>
          </a:p>
        </p:txBody>
      </p:sp>
      <p:pic>
        <p:nvPicPr>
          <p:cNvPr id="10" name="object 7">
            <a:extLst>
              <a:ext uri="{FF2B5EF4-FFF2-40B4-BE49-F238E27FC236}">
                <a16:creationId xmlns:a16="http://schemas.microsoft.com/office/drawing/2014/main" id="{34F5150D-9F23-31F3-957E-8B5E084FBFAC}"/>
              </a:ext>
            </a:extLst>
          </p:cNvPr>
          <p:cNvPicPr/>
          <p:nvPr/>
        </p:nvPicPr>
        <p:blipFill>
          <a:blip r:embed="rId5" cstate="print"/>
          <a:stretch>
            <a:fillRect/>
          </a:stretch>
        </p:blipFill>
        <p:spPr>
          <a:xfrm>
            <a:off x="8067674" y="2342515"/>
            <a:ext cx="1325244" cy="1284604"/>
          </a:xfrm>
          <a:prstGeom prst="rect">
            <a:avLst/>
          </a:prstGeom>
        </p:spPr>
      </p:pic>
      <p:sp>
        <p:nvSpPr>
          <p:cNvPr id="11" name="object 8">
            <a:extLst>
              <a:ext uri="{FF2B5EF4-FFF2-40B4-BE49-F238E27FC236}">
                <a16:creationId xmlns:a16="http://schemas.microsoft.com/office/drawing/2014/main" id="{C84BE6E1-2BC0-D094-A4B2-2386B3D4D752}"/>
              </a:ext>
            </a:extLst>
          </p:cNvPr>
          <p:cNvSpPr txBox="1"/>
          <p:nvPr/>
        </p:nvSpPr>
        <p:spPr>
          <a:xfrm>
            <a:off x="7962264" y="3904234"/>
            <a:ext cx="2226945" cy="2216785"/>
          </a:xfrm>
          <a:prstGeom prst="rect">
            <a:avLst/>
          </a:prstGeom>
        </p:spPr>
        <p:txBody>
          <a:bodyPr vert="horz" wrap="square" lIns="0" tIns="5080" rIns="0" bIns="0" rtlCol="0" anchor="t">
            <a:spAutoFit/>
          </a:bodyPr>
          <a:lstStyle>
            <a:defPPr>
              <a:defRPr kern="0"/>
            </a:defPPr>
          </a:lstStyle>
          <a:p>
            <a:pPr marL="12700" marR="880110">
              <a:lnSpc>
                <a:spcPct val="102600"/>
              </a:lnSpc>
              <a:spcBef>
                <a:spcPts val="40"/>
              </a:spcBef>
            </a:pPr>
            <a:r>
              <a:rPr sz="1950" u="sng" spc="-10" dirty="0">
                <a:latin typeface="Georgia"/>
                <a:cs typeface="Georgia"/>
              </a:rPr>
              <a:t>Fragmented Visibility</a:t>
            </a:r>
            <a:r>
              <a:rPr lang="en-US" sz="1950" u="sng" spc="-10" dirty="0">
                <a:latin typeface="Georgia"/>
                <a:cs typeface="Georgia"/>
              </a:rPr>
              <a:t>:</a:t>
            </a:r>
            <a:endParaRPr lang="en-US" sz="1950" u="sng" dirty="0">
              <a:latin typeface="Georgia"/>
              <a:cs typeface="Georgia"/>
            </a:endParaRPr>
          </a:p>
          <a:p>
            <a:pPr marL="12700" marR="532130">
              <a:lnSpc>
                <a:spcPct val="133600"/>
              </a:lnSpc>
              <a:spcBef>
                <a:spcPts val="650"/>
              </a:spcBef>
            </a:pPr>
            <a:r>
              <a:rPr sz="1450" dirty="0">
                <a:latin typeface="Trebuchet MS"/>
                <a:cs typeface="Trebuchet MS"/>
              </a:rPr>
              <a:t>Silos</a:t>
            </a:r>
            <a:r>
              <a:rPr sz="1450" spc="90" dirty="0">
                <a:latin typeface="Trebuchet MS"/>
                <a:cs typeface="Trebuchet MS"/>
              </a:rPr>
              <a:t> </a:t>
            </a:r>
            <a:r>
              <a:rPr sz="1450" spc="85" dirty="0">
                <a:latin typeface="Trebuchet MS"/>
                <a:cs typeface="Trebuchet MS"/>
              </a:rPr>
              <a:t>across</a:t>
            </a:r>
            <a:r>
              <a:rPr sz="1450" spc="90" dirty="0">
                <a:latin typeface="Trebuchet MS"/>
                <a:cs typeface="Trebuchet MS"/>
              </a:rPr>
              <a:t> </a:t>
            </a:r>
            <a:r>
              <a:rPr sz="1450" spc="-10" dirty="0">
                <a:latin typeface="Trebuchet MS"/>
                <a:cs typeface="Trebuchet MS"/>
              </a:rPr>
              <a:t>Azure, </a:t>
            </a:r>
            <a:r>
              <a:rPr sz="1450" spc="55" dirty="0">
                <a:latin typeface="Trebuchet MS"/>
                <a:cs typeface="Trebuchet MS"/>
              </a:rPr>
              <a:t>on</a:t>
            </a:r>
            <a:r>
              <a:rPr sz="1450" spc="55" dirty="0">
                <a:latin typeface="PMingLiU-ExtB"/>
                <a:cs typeface="PMingLiU-ExtB"/>
              </a:rPr>
              <a:t>-</a:t>
            </a:r>
            <a:r>
              <a:rPr sz="1450" dirty="0">
                <a:latin typeface="Trebuchet MS"/>
                <a:cs typeface="Trebuchet MS"/>
              </a:rPr>
              <a:t>prem,</a:t>
            </a:r>
            <a:r>
              <a:rPr sz="1450" spc="-60" dirty="0">
                <a:latin typeface="Trebuchet MS"/>
                <a:cs typeface="Trebuchet MS"/>
              </a:rPr>
              <a:t> </a:t>
            </a:r>
            <a:r>
              <a:rPr sz="1450" spc="70" dirty="0">
                <a:latin typeface="Trebuchet MS"/>
                <a:cs typeface="Trebuchet MS"/>
              </a:rPr>
              <a:t>and</a:t>
            </a:r>
            <a:r>
              <a:rPr sz="1450" spc="-60" dirty="0">
                <a:latin typeface="Trebuchet MS"/>
                <a:cs typeface="Trebuchet MS"/>
              </a:rPr>
              <a:t> </a:t>
            </a:r>
            <a:r>
              <a:rPr sz="1450" spc="-20" dirty="0">
                <a:latin typeface="Trebuchet MS"/>
                <a:cs typeface="Trebuchet MS"/>
              </a:rPr>
              <a:t>other</a:t>
            </a:r>
            <a:endParaRPr sz="1450">
              <a:latin typeface="Trebuchet MS"/>
              <a:cs typeface="Trebuchet MS"/>
            </a:endParaRPr>
          </a:p>
          <a:p>
            <a:pPr marL="12700" marR="5080">
              <a:lnSpc>
                <a:spcPct val="137900"/>
              </a:lnSpc>
            </a:pPr>
            <a:r>
              <a:rPr sz="1450" spc="75" dirty="0">
                <a:latin typeface="Trebuchet MS"/>
                <a:cs typeface="Trebuchet MS"/>
              </a:rPr>
              <a:t>clouds</a:t>
            </a:r>
            <a:r>
              <a:rPr sz="1450" spc="-35" dirty="0">
                <a:latin typeface="Trebuchet MS"/>
                <a:cs typeface="Trebuchet MS"/>
              </a:rPr>
              <a:t> </a:t>
            </a:r>
            <a:r>
              <a:rPr sz="1450" spc="75" dirty="0">
                <a:latin typeface="Trebuchet MS"/>
                <a:cs typeface="Trebuchet MS"/>
              </a:rPr>
              <a:t>made</a:t>
            </a:r>
            <a:r>
              <a:rPr sz="1450" spc="-35" dirty="0">
                <a:latin typeface="Trebuchet MS"/>
                <a:cs typeface="Trebuchet MS"/>
              </a:rPr>
              <a:t> </a:t>
            </a:r>
            <a:r>
              <a:rPr sz="1450" spc="45" dirty="0">
                <a:latin typeface="Trebuchet MS"/>
                <a:cs typeface="Trebuchet MS"/>
              </a:rPr>
              <a:t>compliance </a:t>
            </a:r>
            <a:r>
              <a:rPr sz="1450" dirty="0">
                <a:latin typeface="Trebuchet MS"/>
                <a:cs typeface="Trebuchet MS"/>
              </a:rPr>
              <a:t>reporting</a:t>
            </a:r>
            <a:r>
              <a:rPr sz="1450" spc="110" dirty="0">
                <a:latin typeface="Trebuchet MS"/>
                <a:cs typeface="Trebuchet MS"/>
              </a:rPr>
              <a:t> </a:t>
            </a:r>
            <a:r>
              <a:rPr sz="1450" dirty="0">
                <a:latin typeface="Trebuchet MS"/>
                <a:cs typeface="Trebuchet MS"/>
              </a:rPr>
              <a:t>slow</a:t>
            </a:r>
            <a:r>
              <a:rPr sz="1450" spc="110" dirty="0">
                <a:latin typeface="Trebuchet MS"/>
                <a:cs typeface="Trebuchet MS"/>
              </a:rPr>
              <a:t> </a:t>
            </a:r>
            <a:r>
              <a:rPr sz="1450" spc="70" dirty="0">
                <a:latin typeface="Trebuchet MS"/>
                <a:cs typeface="Trebuchet MS"/>
              </a:rPr>
              <a:t>and</a:t>
            </a:r>
            <a:r>
              <a:rPr sz="1450" spc="110" dirty="0">
                <a:latin typeface="Trebuchet MS"/>
                <a:cs typeface="Trebuchet MS"/>
              </a:rPr>
              <a:t> </a:t>
            </a:r>
            <a:r>
              <a:rPr sz="1450" spc="-20" dirty="0">
                <a:latin typeface="Trebuchet MS"/>
                <a:cs typeface="Trebuchet MS"/>
              </a:rPr>
              <a:t>error </a:t>
            </a:r>
            <a:r>
              <a:rPr sz="1450" spc="-10" dirty="0">
                <a:latin typeface="Trebuchet MS"/>
                <a:cs typeface="Trebuchet MS"/>
              </a:rPr>
              <a:t>prone.</a:t>
            </a:r>
            <a:endParaRPr sz="1450">
              <a:latin typeface="Trebuchet MS"/>
              <a:cs typeface="Trebuchet MS"/>
            </a:endParaRPr>
          </a:p>
        </p:txBody>
      </p:sp>
    </p:spTree>
    <p:extLst>
      <p:ext uri="{BB962C8B-B14F-4D97-AF65-F5344CB8AC3E}">
        <p14:creationId xmlns:p14="http://schemas.microsoft.com/office/powerpoint/2010/main" val="2061797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What performance and efficiency does Microsoft Azure Cobalt 100 VMs deliver  using Arm Neoverse performance? - Arm Newsroom">
            <a:extLst>
              <a:ext uri="{FF2B5EF4-FFF2-40B4-BE49-F238E27FC236}">
                <a16:creationId xmlns:a16="http://schemas.microsoft.com/office/drawing/2014/main" id="{3EAA15A1-CAB5-522B-F614-6E25725F1FB3}"/>
              </a:ext>
            </a:extLst>
          </p:cNvPr>
          <p:cNvPicPr>
            <a:picLocks noChangeAspect="1"/>
          </p:cNvPicPr>
          <p:nvPr/>
        </p:nvPicPr>
        <p:blipFill>
          <a:blip r:embed="rId2"/>
          <a:stretch>
            <a:fillRect/>
          </a:stretch>
        </p:blipFill>
        <p:spPr>
          <a:xfrm>
            <a:off x="0" y="2540"/>
            <a:ext cx="12395200" cy="6852920"/>
          </a:xfrm>
          <a:prstGeom prst="rect">
            <a:avLst/>
          </a:prstGeom>
        </p:spPr>
      </p:pic>
      <p:sp>
        <p:nvSpPr>
          <p:cNvPr id="2" name="Date Placeholder 1">
            <a:extLst>
              <a:ext uri="{FF2B5EF4-FFF2-40B4-BE49-F238E27FC236}">
                <a16:creationId xmlns:a16="http://schemas.microsoft.com/office/drawing/2014/main" id="{BA76463F-DB42-9900-620A-BDDAF8191057}"/>
              </a:ext>
            </a:extLst>
          </p:cNvPr>
          <p:cNvSpPr>
            <a:spLocks noGrp="1"/>
          </p:cNvSpPr>
          <p:nvPr>
            <p:ph type="dt" sz="half" idx="10"/>
          </p:nvPr>
        </p:nvSpPr>
        <p:spPr/>
        <p:txBody>
          <a:bodyPr/>
          <a:lstStyle/>
          <a:p>
            <a:fld id="{3D287892-1E3D-41D3-90F3-BFCF27A02A3E}" type="datetime1">
              <a:t>9/23/2026</a:t>
            </a:fld>
            <a:endParaRPr lang="en-US" dirty="0"/>
          </a:p>
        </p:txBody>
      </p:sp>
      <p:sp>
        <p:nvSpPr>
          <p:cNvPr id="3" name="Footer Placeholder 2">
            <a:extLst>
              <a:ext uri="{FF2B5EF4-FFF2-40B4-BE49-F238E27FC236}">
                <a16:creationId xmlns:a16="http://schemas.microsoft.com/office/drawing/2014/main" id="{F5B0A363-0336-1631-771E-03CB9653F69E}"/>
              </a:ext>
            </a:extLst>
          </p:cNvPr>
          <p:cNvSpPr>
            <a:spLocks noGrp="1"/>
          </p:cNvSpPr>
          <p:nvPr>
            <p:ph type="ftr" sz="quarter" idx="11"/>
          </p:nvPr>
        </p:nvSpPr>
        <p:spPr/>
        <p:txBody>
          <a:bodyPr/>
          <a:lstStyle/>
          <a:p>
            <a:r>
              <a:rPr lang="en-US" dirty="0"/>
              <a:t>
              </a:t>
            </a:r>
          </a:p>
        </p:txBody>
      </p:sp>
      <p:sp>
        <p:nvSpPr>
          <p:cNvPr id="5" name="object 3" descr="$PPTXTitle">
            <a:extLst>
              <a:ext uri="{FF2B5EF4-FFF2-40B4-BE49-F238E27FC236}">
                <a16:creationId xmlns:a16="http://schemas.microsoft.com/office/drawing/2014/main" id="{6D53415E-51BC-3F80-594E-467CF9BF4B2D}"/>
              </a:ext>
            </a:extLst>
          </p:cNvPr>
          <p:cNvSpPr txBox="1">
            <a:spLocks noGrp="1"/>
          </p:cNvSpPr>
          <p:nvPr/>
        </p:nvSpPr>
        <p:spPr>
          <a:xfrm>
            <a:off x="406400" y="695102"/>
            <a:ext cx="10627231" cy="1240155"/>
          </a:xfrm>
          <a:prstGeom prst="rect">
            <a:avLst/>
          </a:prstGeom>
        </p:spPr>
        <p:txBody>
          <a:bodyPr vert="horz" wrap="square" lIns="0" tIns="0" rIns="0" bIns="0" rtlCol="0" anchor="t">
            <a:spAutoFit/>
          </a:bodyPr>
          <a:lstStyle>
            <a:lvl1pPr>
              <a:defRPr sz="3900" b="0" i="0">
                <a:solidFill>
                  <a:srgbClr val="010101"/>
                </a:solidFill>
                <a:latin typeface="Georgia"/>
                <a:ea typeface="+mj-ea"/>
                <a:cs typeface="Georgia"/>
              </a:defRPr>
            </a:lvl1pPr>
          </a:lstStyle>
          <a:p>
            <a:pPr marL="12700" marR="5080">
              <a:lnSpc>
                <a:spcPts val="4880"/>
              </a:lnSpc>
            </a:pPr>
            <a:r>
              <a:rPr spc="50" dirty="0">
                <a:solidFill>
                  <a:schemeClr val="tx1"/>
                </a:solidFill>
              </a:rPr>
              <a:t>A</a:t>
            </a:r>
            <a:r>
              <a:rPr spc="-105" dirty="0">
                <a:solidFill>
                  <a:schemeClr val="tx1"/>
                </a:solidFill>
              </a:rPr>
              <a:t> </a:t>
            </a:r>
            <a:r>
              <a:rPr spc="-10" dirty="0">
                <a:solidFill>
                  <a:schemeClr val="tx1"/>
                </a:solidFill>
              </a:rPr>
              <a:t>Paradigm</a:t>
            </a:r>
            <a:r>
              <a:rPr spc="-35" dirty="0">
                <a:solidFill>
                  <a:schemeClr val="tx1"/>
                </a:solidFill>
              </a:rPr>
              <a:t> </a:t>
            </a:r>
            <a:r>
              <a:rPr dirty="0">
                <a:solidFill>
                  <a:schemeClr val="tx1"/>
                </a:solidFill>
              </a:rPr>
              <a:t>Shift:</a:t>
            </a:r>
            <a:r>
              <a:rPr spc="-35" dirty="0">
                <a:solidFill>
                  <a:schemeClr val="tx1"/>
                </a:solidFill>
              </a:rPr>
              <a:t> </a:t>
            </a:r>
            <a:r>
              <a:rPr spc="-25" dirty="0">
                <a:solidFill>
                  <a:schemeClr val="tx1"/>
                </a:solidFill>
              </a:rPr>
              <a:t>The </a:t>
            </a:r>
            <a:r>
              <a:rPr dirty="0">
                <a:solidFill>
                  <a:schemeClr val="tx1"/>
                </a:solidFill>
              </a:rPr>
              <a:t>Cloud-Native</a:t>
            </a:r>
            <a:r>
              <a:rPr spc="95" dirty="0"/>
              <a:t> </a:t>
            </a:r>
            <a:r>
              <a:rPr spc="-10" dirty="0">
                <a:solidFill>
                  <a:schemeClr val="tx1"/>
                </a:solidFill>
              </a:rPr>
              <a:t>Architecture</a:t>
            </a:r>
          </a:p>
        </p:txBody>
      </p:sp>
      <p:sp>
        <p:nvSpPr>
          <p:cNvPr id="6" name="object 4">
            <a:extLst>
              <a:ext uri="{FF2B5EF4-FFF2-40B4-BE49-F238E27FC236}">
                <a16:creationId xmlns:a16="http://schemas.microsoft.com/office/drawing/2014/main" id="{DBAA32D1-4218-D10E-8D2F-D1CFC038B930}"/>
              </a:ext>
            </a:extLst>
          </p:cNvPr>
          <p:cNvSpPr txBox="1"/>
          <p:nvPr/>
        </p:nvSpPr>
        <p:spPr>
          <a:xfrm>
            <a:off x="533400" y="2244420"/>
            <a:ext cx="10998071" cy="653320"/>
          </a:xfrm>
          <a:prstGeom prst="rect">
            <a:avLst/>
          </a:prstGeom>
        </p:spPr>
        <p:txBody>
          <a:bodyPr vert="horz" wrap="square" lIns="0" tIns="11430" rIns="0" bIns="0" rtlCol="0" anchor="t">
            <a:spAutoFit/>
          </a:bodyPr>
          <a:lstStyle>
            <a:defPPr>
              <a:defRPr kern="0"/>
            </a:defPPr>
          </a:lstStyle>
          <a:p>
            <a:pPr marL="12700" marR="5080">
              <a:lnSpc>
                <a:spcPct val="137900"/>
              </a:lnSpc>
              <a:spcBef>
                <a:spcPts val="90"/>
              </a:spcBef>
            </a:pPr>
            <a:r>
              <a:rPr sz="1600" spc="10" dirty="0">
                <a:latin typeface="Trebuchet MS"/>
                <a:cs typeface="Trebuchet MS"/>
              </a:rPr>
              <a:t>Azure</a:t>
            </a:r>
            <a:r>
              <a:rPr sz="1600" spc="45" dirty="0">
                <a:latin typeface="Trebuchet MS"/>
                <a:cs typeface="Trebuchet MS"/>
              </a:rPr>
              <a:t> </a:t>
            </a:r>
            <a:r>
              <a:rPr sz="1600" spc="10" dirty="0">
                <a:latin typeface="Trebuchet MS"/>
                <a:cs typeface="Trebuchet MS"/>
              </a:rPr>
              <a:t>Update</a:t>
            </a:r>
            <a:r>
              <a:rPr sz="1600" spc="45" dirty="0">
                <a:latin typeface="Trebuchet MS"/>
                <a:cs typeface="Trebuchet MS"/>
              </a:rPr>
              <a:t> </a:t>
            </a:r>
            <a:r>
              <a:rPr sz="1600" spc="65" dirty="0">
                <a:latin typeface="Trebuchet MS"/>
                <a:cs typeface="Trebuchet MS"/>
              </a:rPr>
              <a:t>Manager</a:t>
            </a:r>
            <a:r>
              <a:rPr sz="1600" spc="45" dirty="0">
                <a:latin typeface="Trebuchet MS"/>
                <a:cs typeface="Trebuchet MS"/>
              </a:rPr>
              <a:t> </a:t>
            </a:r>
            <a:r>
              <a:rPr sz="1600" spc="10" dirty="0">
                <a:latin typeface="Trebuchet MS"/>
                <a:cs typeface="Trebuchet MS"/>
              </a:rPr>
              <a:t>reimagines</a:t>
            </a:r>
            <a:r>
              <a:rPr sz="1600" spc="45" dirty="0">
                <a:latin typeface="Trebuchet MS"/>
                <a:cs typeface="Trebuchet MS"/>
              </a:rPr>
              <a:t> patching </a:t>
            </a:r>
            <a:r>
              <a:rPr sz="1600" spc="95" dirty="0">
                <a:latin typeface="Trebuchet MS"/>
                <a:cs typeface="Trebuchet MS"/>
              </a:rPr>
              <a:t>as</a:t>
            </a:r>
            <a:r>
              <a:rPr sz="1600" spc="50" dirty="0">
                <a:latin typeface="Trebuchet MS"/>
                <a:cs typeface="Trebuchet MS"/>
              </a:rPr>
              <a:t> an</a:t>
            </a:r>
            <a:r>
              <a:rPr sz="1600" spc="45" dirty="0">
                <a:latin typeface="Trebuchet MS"/>
                <a:cs typeface="Trebuchet MS"/>
              </a:rPr>
              <a:t> </a:t>
            </a:r>
            <a:r>
              <a:rPr sz="1600" dirty="0">
                <a:latin typeface="Trebuchet MS"/>
                <a:cs typeface="Trebuchet MS"/>
              </a:rPr>
              <a:t>integrated,</a:t>
            </a:r>
            <a:r>
              <a:rPr sz="1600" spc="45" dirty="0">
                <a:latin typeface="Trebuchet MS"/>
                <a:cs typeface="Trebuchet MS"/>
              </a:rPr>
              <a:t> </a:t>
            </a:r>
            <a:r>
              <a:rPr sz="1600" spc="90" dirty="0">
                <a:latin typeface="Trebuchet MS"/>
                <a:cs typeface="Trebuchet MS"/>
              </a:rPr>
              <a:t>cloud-</a:t>
            </a:r>
            <a:r>
              <a:rPr sz="1600" spc="-10" dirty="0">
                <a:latin typeface="Trebuchet MS"/>
                <a:cs typeface="Trebuchet MS"/>
              </a:rPr>
              <a:t>first </a:t>
            </a:r>
            <a:r>
              <a:rPr sz="1600" spc="50" dirty="0">
                <a:latin typeface="Trebuchet MS"/>
                <a:cs typeface="Trebuchet MS"/>
              </a:rPr>
              <a:t>service</a:t>
            </a:r>
            <a:r>
              <a:rPr sz="1600" spc="60" dirty="0">
                <a:latin typeface="Trebuchet MS"/>
                <a:cs typeface="Trebuchet MS"/>
              </a:rPr>
              <a:t> </a:t>
            </a:r>
            <a:r>
              <a:rPr sz="1600" dirty="0">
                <a:latin typeface="Trebuchet MS"/>
                <a:cs typeface="Trebuchet MS"/>
              </a:rPr>
              <a:t>that</a:t>
            </a:r>
            <a:r>
              <a:rPr sz="1600" spc="60" dirty="0">
                <a:latin typeface="Trebuchet MS"/>
                <a:cs typeface="Trebuchet MS"/>
              </a:rPr>
              <a:t> </a:t>
            </a:r>
            <a:r>
              <a:rPr sz="1600" dirty="0">
                <a:latin typeface="Trebuchet MS"/>
                <a:cs typeface="Trebuchet MS"/>
              </a:rPr>
              <a:t>minimizes</a:t>
            </a:r>
            <a:r>
              <a:rPr sz="1600" spc="60" dirty="0">
                <a:latin typeface="Trebuchet MS"/>
                <a:cs typeface="Trebuchet MS"/>
              </a:rPr>
              <a:t> agents </a:t>
            </a:r>
            <a:r>
              <a:rPr sz="1600" spc="70" dirty="0">
                <a:latin typeface="Trebuchet MS"/>
                <a:cs typeface="Trebuchet MS"/>
              </a:rPr>
              <a:t>and</a:t>
            </a:r>
            <a:r>
              <a:rPr sz="1600" spc="60" dirty="0">
                <a:latin typeface="Trebuchet MS"/>
                <a:cs typeface="Trebuchet MS"/>
              </a:rPr>
              <a:t> </a:t>
            </a:r>
            <a:r>
              <a:rPr sz="1600" dirty="0">
                <a:latin typeface="Trebuchet MS"/>
                <a:cs typeface="Trebuchet MS"/>
              </a:rPr>
              <a:t>operational</a:t>
            </a:r>
            <a:r>
              <a:rPr sz="1600" spc="60" dirty="0">
                <a:latin typeface="Trebuchet MS"/>
                <a:cs typeface="Trebuchet MS"/>
              </a:rPr>
              <a:t> </a:t>
            </a:r>
            <a:r>
              <a:rPr sz="1600" spc="45" dirty="0">
                <a:latin typeface="Trebuchet MS"/>
                <a:cs typeface="Trebuchet MS"/>
              </a:rPr>
              <a:t>overhead</a:t>
            </a:r>
            <a:r>
              <a:rPr sz="1600" spc="60" dirty="0">
                <a:latin typeface="Trebuchet MS"/>
                <a:cs typeface="Trebuchet MS"/>
              </a:rPr>
              <a:t> </a:t>
            </a:r>
            <a:r>
              <a:rPr sz="1600" spc="-10" dirty="0">
                <a:latin typeface="Trebuchet MS"/>
                <a:cs typeface="Trebuchet MS"/>
              </a:rPr>
              <a:t>while </a:t>
            </a:r>
            <a:r>
              <a:rPr sz="1600" dirty="0">
                <a:latin typeface="Trebuchet MS"/>
                <a:cs typeface="Trebuchet MS"/>
              </a:rPr>
              <a:t>maximizing</a:t>
            </a:r>
            <a:r>
              <a:rPr sz="1600" spc="60" dirty="0">
                <a:latin typeface="Trebuchet MS"/>
                <a:cs typeface="Trebuchet MS"/>
              </a:rPr>
              <a:t> </a:t>
            </a:r>
            <a:r>
              <a:rPr sz="1600" dirty="0">
                <a:latin typeface="Trebuchet MS"/>
                <a:cs typeface="Trebuchet MS"/>
              </a:rPr>
              <a:t>visibility</a:t>
            </a:r>
            <a:r>
              <a:rPr sz="1600" spc="65" dirty="0">
                <a:latin typeface="Trebuchet MS"/>
                <a:cs typeface="Trebuchet MS"/>
              </a:rPr>
              <a:t> </a:t>
            </a:r>
            <a:r>
              <a:rPr sz="1600" spc="70" dirty="0">
                <a:latin typeface="Trebuchet MS"/>
                <a:cs typeface="Trebuchet MS"/>
              </a:rPr>
              <a:t>and</a:t>
            </a:r>
            <a:r>
              <a:rPr sz="1600" spc="65" dirty="0">
                <a:latin typeface="Trebuchet MS"/>
                <a:cs typeface="Trebuchet MS"/>
              </a:rPr>
              <a:t> </a:t>
            </a:r>
            <a:r>
              <a:rPr sz="1600" spc="-10" dirty="0">
                <a:latin typeface="Trebuchet MS"/>
                <a:cs typeface="Trebuchet MS"/>
              </a:rPr>
              <a:t>governance.</a:t>
            </a:r>
            <a:endParaRPr lang="en-US" sz="1600">
              <a:latin typeface="Trebuchet MS"/>
              <a:cs typeface="Trebuchet MS"/>
            </a:endParaRPr>
          </a:p>
        </p:txBody>
      </p:sp>
      <p:sp>
        <p:nvSpPr>
          <p:cNvPr id="7" name="object 5">
            <a:extLst>
              <a:ext uri="{FF2B5EF4-FFF2-40B4-BE49-F238E27FC236}">
                <a16:creationId xmlns:a16="http://schemas.microsoft.com/office/drawing/2014/main" id="{0544691E-9167-8052-F6A2-9AC9FFA12D41}"/>
              </a:ext>
            </a:extLst>
          </p:cNvPr>
          <p:cNvSpPr/>
          <p:nvPr/>
        </p:nvSpPr>
        <p:spPr>
          <a:xfrm>
            <a:off x="1143000" y="3397926"/>
            <a:ext cx="2867023" cy="2632934"/>
          </a:xfrm>
          <a:custGeom>
            <a:avLst/>
            <a:gdLst/>
            <a:ahLst/>
            <a:cxnLst/>
            <a:rect l="l" t="t" r="r" b="b"/>
            <a:pathLst>
              <a:path w="1981200" h="2619375">
                <a:moveTo>
                  <a:pt x="1960705" y="2619374"/>
                </a:moveTo>
                <a:lnTo>
                  <a:pt x="20494" y="2619374"/>
                </a:lnTo>
                <a:lnTo>
                  <a:pt x="17480" y="2618774"/>
                </a:lnTo>
                <a:lnTo>
                  <a:pt x="0" y="2598879"/>
                </a:lnTo>
                <a:lnTo>
                  <a:pt x="0" y="2595747"/>
                </a:lnTo>
                <a:lnTo>
                  <a:pt x="0" y="20494"/>
                </a:lnTo>
                <a:lnTo>
                  <a:pt x="20494" y="0"/>
                </a:lnTo>
                <a:lnTo>
                  <a:pt x="1960705" y="0"/>
                </a:lnTo>
                <a:lnTo>
                  <a:pt x="1981199" y="20494"/>
                </a:lnTo>
                <a:lnTo>
                  <a:pt x="1981199" y="2598879"/>
                </a:lnTo>
                <a:lnTo>
                  <a:pt x="1963718" y="2618774"/>
                </a:lnTo>
                <a:lnTo>
                  <a:pt x="1960705" y="2619374"/>
                </a:lnTo>
                <a:close/>
              </a:path>
            </a:pathLst>
          </a:custGeom>
          <a:solidFill>
            <a:srgbClr val="F1EDED"/>
          </a:solidFill>
        </p:spPr>
        <p:txBody>
          <a:bodyPr wrap="square" lIns="0" tIns="0" rIns="0" bIns="0" rtlCol="0"/>
          <a:lstStyle>
            <a:defPPr>
              <a:defRPr kern="0"/>
            </a:defPPr>
          </a:lstStyle>
          <a:p>
            <a:endParaRPr/>
          </a:p>
        </p:txBody>
      </p:sp>
      <p:sp>
        <p:nvSpPr>
          <p:cNvPr id="8" name="object 6">
            <a:extLst>
              <a:ext uri="{FF2B5EF4-FFF2-40B4-BE49-F238E27FC236}">
                <a16:creationId xmlns:a16="http://schemas.microsoft.com/office/drawing/2014/main" id="{24D28A51-19A0-4EE3-A464-79DCE24A8A9C}"/>
              </a:ext>
            </a:extLst>
          </p:cNvPr>
          <p:cNvSpPr txBox="1"/>
          <p:nvPr/>
        </p:nvSpPr>
        <p:spPr>
          <a:xfrm>
            <a:off x="1585911" y="3657600"/>
            <a:ext cx="1981199" cy="1889363"/>
          </a:xfrm>
          <a:prstGeom prst="rect">
            <a:avLst/>
          </a:prstGeom>
        </p:spPr>
        <p:txBody>
          <a:bodyPr vert="horz" wrap="square" lIns="0" tIns="5080" rIns="0" bIns="0" rtlCol="0">
            <a:spAutoFit/>
          </a:bodyPr>
          <a:lstStyle>
            <a:defPPr>
              <a:defRPr kern="0"/>
            </a:defPPr>
          </a:lstStyle>
          <a:p>
            <a:pPr marL="12700" marR="5080">
              <a:lnSpc>
                <a:spcPct val="102600"/>
              </a:lnSpc>
              <a:spcBef>
                <a:spcPts val="40"/>
              </a:spcBef>
            </a:pPr>
            <a:r>
              <a:rPr sz="1950" spc="-10" dirty="0">
                <a:solidFill>
                  <a:srgbClr val="373737"/>
                </a:solidFill>
                <a:latin typeface="Georgia"/>
                <a:cs typeface="Georgia"/>
              </a:rPr>
              <a:t>Unified </a:t>
            </a:r>
            <a:r>
              <a:rPr sz="1950" dirty="0">
                <a:solidFill>
                  <a:srgbClr val="373737"/>
                </a:solidFill>
                <a:latin typeface="Georgia"/>
                <a:cs typeface="Georgia"/>
              </a:rPr>
              <a:t>Control</a:t>
            </a:r>
            <a:r>
              <a:rPr sz="1950" spc="-20" dirty="0">
                <a:solidFill>
                  <a:srgbClr val="373737"/>
                </a:solidFill>
                <a:latin typeface="Georgia"/>
                <a:cs typeface="Georgia"/>
              </a:rPr>
              <a:t> Plane</a:t>
            </a:r>
            <a:endParaRPr sz="1950" dirty="0">
              <a:latin typeface="Georgia"/>
              <a:cs typeface="Georgia"/>
            </a:endParaRPr>
          </a:p>
          <a:p>
            <a:pPr marL="12700" marR="11430">
              <a:lnSpc>
                <a:spcPct val="136900"/>
              </a:lnSpc>
              <a:spcBef>
                <a:spcPts val="595"/>
              </a:spcBef>
            </a:pPr>
            <a:r>
              <a:rPr sz="1450" dirty="0">
                <a:solidFill>
                  <a:srgbClr val="373737"/>
                </a:solidFill>
                <a:latin typeface="Trebuchet MS"/>
                <a:cs typeface="Trebuchet MS"/>
              </a:rPr>
              <a:t>Single</a:t>
            </a:r>
            <a:r>
              <a:rPr sz="1450" spc="155" dirty="0">
                <a:solidFill>
                  <a:srgbClr val="373737"/>
                </a:solidFill>
                <a:latin typeface="Trebuchet MS"/>
                <a:cs typeface="Trebuchet MS"/>
              </a:rPr>
              <a:t> </a:t>
            </a:r>
            <a:r>
              <a:rPr sz="1450" spc="60" dirty="0">
                <a:solidFill>
                  <a:srgbClr val="373737"/>
                </a:solidFill>
                <a:latin typeface="Trebuchet MS"/>
                <a:cs typeface="Trebuchet MS"/>
              </a:rPr>
              <a:t>dashboard </a:t>
            </a:r>
            <a:r>
              <a:rPr sz="1450" dirty="0">
                <a:solidFill>
                  <a:srgbClr val="373737"/>
                </a:solidFill>
                <a:latin typeface="Trebuchet MS"/>
                <a:cs typeface="Trebuchet MS"/>
              </a:rPr>
              <a:t>for</a:t>
            </a:r>
            <a:r>
              <a:rPr sz="1450" spc="-55" dirty="0">
                <a:solidFill>
                  <a:srgbClr val="373737"/>
                </a:solidFill>
                <a:latin typeface="Trebuchet MS"/>
                <a:cs typeface="Trebuchet MS"/>
              </a:rPr>
              <a:t> </a:t>
            </a:r>
            <a:r>
              <a:rPr sz="1450" spc="-10" dirty="0">
                <a:solidFill>
                  <a:srgbClr val="373737"/>
                </a:solidFill>
                <a:latin typeface="Trebuchet MS"/>
                <a:cs typeface="Trebuchet MS"/>
              </a:rPr>
              <a:t>Azure,</a:t>
            </a:r>
            <a:r>
              <a:rPr sz="1450" spc="-55" dirty="0">
                <a:solidFill>
                  <a:srgbClr val="373737"/>
                </a:solidFill>
                <a:latin typeface="Trebuchet MS"/>
                <a:cs typeface="Trebuchet MS"/>
              </a:rPr>
              <a:t> </a:t>
            </a:r>
            <a:r>
              <a:rPr sz="1450" spc="95" dirty="0">
                <a:solidFill>
                  <a:srgbClr val="373737"/>
                </a:solidFill>
                <a:latin typeface="Trebuchet MS"/>
                <a:cs typeface="Trebuchet MS"/>
              </a:rPr>
              <a:t>Arc-</a:t>
            </a:r>
            <a:r>
              <a:rPr sz="1450" spc="45" dirty="0">
                <a:solidFill>
                  <a:srgbClr val="373737"/>
                </a:solidFill>
                <a:latin typeface="Trebuchet MS"/>
                <a:cs typeface="Trebuchet MS"/>
              </a:rPr>
              <a:t>enabled</a:t>
            </a:r>
            <a:r>
              <a:rPr sz="1450" spc="-40" dirty="0">
                <a:solidFill>
                  <a:srgbClr val="373737"/>
                </a:solidFill>
                <a:latin typeface="Trebuchet MS"/>
                <a:cs typeface="Trebuchet MS"/>
              </a:rPr>
              <a:t> </a:t>
            </a:r>
            <a:r>
              <a:rPr sz="1450" spc="-10" dirty="0">
                <a:solidFill>
                  <a:srgbClr val="373737"/>
                </a:solidFill>
                <a:latin typeface="Trebuchet MS"/>
                <a:cs typeface="Trebuchet MS"/>
              </a:rPr>
              <a:t>servers, </a:t>
            </a:r>
            <a:r>
              <a:rPr sz="1450" spc="70" dirty="0">
                <a:solidFill>
                  <a:srgbClr val="373737"/>
                </a:solidFill>
                <a:latin typeface="Trebuchet MS"/>
                <a:cs typeface="Trebuchet MS"/>
              </a:rPr>
              <a:t>and</a:t>
            </a:r>
            <a:r>
              <a:rPr sz="1450" spc="35" dirty="0">
                <a:solidFill>
                  <a:srgbClr val="373737"/>
                </a:solidFill>
                <a:latin typeface="Trebuchet MS"/>
                <a:cs typeface="Trebuchet MS"/>
              </a:rPr>
              <a:t> </a:t>
            </a:r>
            <a:r>
              <a:rPr sz="1450" dirty="0">
                <a:solidFill>
                  <a:srgbClr val="373737"/>
                </a:solidFill>
                <a:latin typeface="Trebuchet MS"/>
                <a:cs typeface="Trebuchet MS"/>
              </a:rPr>
              <a:t>third</a:t>
            </a:r>
            <a:r>
              <a:rPr sz="1450" dirty="0">
                <a:solidFill>
                  <a:srgbClr val="373737"/>
                </a:solidFill>
                <a:latin typeface="PMingLiU-ExtB"/>
                <a:cs typeface="PMingLiU-ExtB"/>
              </a:rPr>
              <a:t>-</a:t>
            </a:r>
            <a:r>
              <a:rPr sz="1450" spc="-20" dirty="0">
                <a:solidFill>
                  <a:srgbClr val="373737"/>
                </a:solidFill>
                <a:latin typeface="Trebuchet MS"/>
                <a:cs typeface="Trebuchet MS"/>
              </a:rPr>
              <a:t>party </a:t>
            </a:r>
            <a:r>
              <a:rPr sz="1450" spc="-10" dirty="0">
                <a:solidFill>
                  <a:srgbClr val="373737"/>
                </a:solidFill>
                <a:latin typeface="Trebuchet MS"/>
                <a:cs typeface="Trebuchet MS"/>
              </a:rPr>
              <a:t>clouds.</a:t>
            </a:r>
            <a:endParaRPr sz="1450" dirty="0">
              <a:latin typeface="Trebuchet MS"/>
              <a:cs typeface="Trebuchet MS"/>
            </a:endParaRPr>
          </a:p>
        </p:txBody>
      </p:sp>
      <p:sp>
        <p:nvSpPr>
          <p:cNvPr id="9" name="object 7">
            <a:extLst>
              <a:ext uri="{FF2B5EF4-FFF2-40B4-BE49-F238E27FC236}">
                <a16:creationId xmlns:a16="http://schemas.microsoft.com/office/drawing/2014/main" id="{AF419038-6F63-1668-66D1-CFC529F18314}"/>
              </a:ext>
            </a:extLst>
          </p:cNvPr>
          <p:cNvSpPr/>
          <p:nvPr/>
        </p:nvSpPr>
        <p:spPr>
          <a:xfrm>
            <a:off x="4800597" y="3397926"/>
            <a:ext cx="2271395" cy="2619375"/>
          </a:xfrm>
          <a:custGeom>
            <a:avLst/>
            <a:gdLst/>
            <a:ahLst/>
            <a:cxnLst/>
            <a:rect l="l" t="t" r="r" b="b"/>
            <a:pathLst>
              <a:path w="1981200" h="2619375">
                <a:moveTo>
                  <a:pt x="1960705" y="2619374"/>
                </a:moveTo>
                <a:lnTo>
                  <a:pt x="20494" y="2619374"/>
                </a:lnTo>
                <a:lnTo>
                  <a:pt x="17480" y="2618774"/>
                </a:lnTo>
                <a:lnTo>
                  <a:pt x="0" y="2598879"/>
                </a:lnTo>
                <a:lnTo>
                  <a:pt x="0" y="2595747"/>
                </a:lnTo>
                <a:lnTo>
                  <a:pt x="0" y="20494"/>
                </a:lnTo>
                <a:lnTo>
                  <a:pt x="20494" y="0"/>
                </a:lnTo>
                <a:lnTo>
                  <a:pt x="1960705" y="0"/>
                </a:lnTo>
                <a:lnTo>
                  <a:pt x="1981199" y="20494"/>
                </a:lnTo>
                <a:lnTo>
                  <a:pt x="1981199" y="2598879"/>
                </a:lnTo>
                <a:lnTo>
                  <a:pt x="1963718" y="2618774"/>
                </a:lnTo>
                <a:lnTo>
                  <a:pt x="1960705" y="2619374"/>
                </a:lnTo>
                <a:close/>
              </a:path>
            </a:pathLst>
          </a:custGeom>
          <a:solidFill>
            <a:srgbClr val="F1EDED"/>
          </a:solidFill>
        </p:spPr>
        <p:txBody>
          <a:bodyPr wrap="square" lIns="0" tIns="0" rIns="0" bIns="0" rtlCol="0"/>
          <a:lstStyle>
            <a:defPPr>
              <a:defRPr kern="0"/>
            </a:defPPr>
          </a:lstStyle>
          <a:p>
            <a:endParaRPr/>
          </a:p>
        </p:txBody>
      </p:sp>
      <p:sp>
        <p:nvSpPr>
          <p:cNvPr id="10" name="object 8">
            <a:extLst>
              <a:ext uri="{FF2B5EF4-FFF2-40B4-BE49-F238E27FC236}">
                <a16:creationId xmlns:a16="http://schemas.microsoft.com/office/drawing/2014/main" id="{F7FC29DE-05F5-A77B-D2AE-54422E64BE42}"/>
              </a:ext>
            </a:extLst>
          </p:cNvPr>
          <p:cNvSpPr txBox="1"/>
          <p:nvPr/>
        </p:nvSpPr>
        <p:spPr>
          <a:xfrm>
            <a:off x="5090792" y="3615943"/>
            <a:ext cx="1691007" cy="1889363"/>
          </a:xfrm>
          <a:prstGeom prst="rect">
            <a:avLst/>
          </a:prstGeom>
        </p:spPr>
        <p:txBody>
          <a:bodyPr vert="horz" wrap="square" lIns="0" tIns="5080" rIns="0" bIns="0" rtlCol="0">
            <a:spAutoFit/>
          </a:bodyPr>
          <a:lstStyle>
            <a:defPPr>
              <a:defRPr kern="0"/>
            </a:defPPr>
          </a:lstStyle>
          <a:p>
            <a:pPr marL="12700" marR="127000">
              <a:lnSpc>
                <a:spcPct val="102600"/>
              </a:lnSpc>
              <a:spcBef>
                <a:spcPts val="40"/>
              </a:spcBef>
            </a:pPr>
            <a:r>
              <a:rPr sz="1950" spc="-10" dirty="0">
                <a:solidFill>
                  <a:srgbClr val="373737"/>
                </a:solidFill>
                <a:latin typeface="Georgia"/>
                <a:cs typeface="Georgia"/>
              </a:rPr>
              <a:t>Native Integration</a:t>
            </a:r>
            <a:endParaRPr sz="1950" dirty="0">
              <a:latin typeface="Georgia"/>
              <a:cs typeface="Georgia"/>
            </a:endParaRPr>
          </a:p>
          <a:p>
            <a:pPr marL="12700" marR="5080">
              <a:lnSpc>
                <a:spcPct val="136900"/>
              </a:lnSpc>
              <a:spcBef>
                <a:spcPts val="595"/>
              </a:spcBef>
            </a:pPr>
            <a:r>
              <a:rPr sz="1450" spc="95" dirty="0">
                <a:solidFill>
                  <a:srgbClr val="373737"/>
                </a:solidFill>
                <a:latin typeface="Trebuchet MS"/>
                <a:cs typeface="Trebuchet MS"/>
              </a:rPr>
              <a:t>No</a:t>
            </a:r>
            <a:r>
              <a:rPr sz="1450" spc="-20" dirty="0">
                <a:solidFill>
                  <a:srgbClr val="373737"/>
                </a:solidFill>
                <a:latin typeface="Trebuchet MS"/>
                <a:cs typeface="Trebuchet MS"/>
              </a:rPr>
              <a:t> </a:t>
            </a:r>
            <a:r>
              <a:rPr sz="1450" dirty="0">
                <a:solidFill>
                  <a:srgbClr val="373737"/>
                </a:solidFill>
                <a:latin typeface="Trebuchet MS"/>
                <a:cs typeface="Trebuchet MS"/>
              </a:rPr>
              <a:t>extra</a:t>
            </a:r>
            <a:r>
              <a:rPr sz="1450" spc="-20" dirty="0">
                <a:solidFill>
                  <a:srgbClr val="373737"/>
                </a:solidFill>
                <a:latin typeface="Trebuchet MS"/>
                <a:cs typeface="Trebuchet MS"/>
              </a:rPr>
              <a:t> </a:t>
            </a:r>
            <a:r>
              <a:rPr sz="1450" spc="50" dirty="0">
                <a:solidFill>
                  <a:srgbClr val="373737"/>
                </a:solidFill>
                <a:latin typeface="Trebuchet MS"/>
                <a:cs typeface="Trebuchet MS"/>
              </a:rPr>
              <a:t>agents required—</a:t>
            </a:r>
            <a:r>
              <a:rPr sz="1450" spc="-10" dirty="0">
                <a:solidFill>
                  <a:srgbClr val="373737"/>
                </a:solidFill>
                <a:latin typeface="Trebuchet MS"/>
                <a:cs typeface="Trebuchet MS"/>
              </a:rPr>
              <a:t>leverages </a:t>
            </a:r>
            <a:r>
              <a:rPr sz="1450" spc="60" dirty="0">
                <a:solidFill>
                  <a:srgbClr val="373737"/>
                </a:solidFill>
                <a:latin typeface="Trebuchet MS"/>
                <a:cs typeface="Trebuchet MS"/>
              </a:rPr>
              <a:t>VM/Connected </a:t>
            </a:r>
            <a:r>
              <a:rPr sz="1450" spc="70" dirty="0">
                <a:solidFill>
                  <a:srgbClr val="373737"/>
                </a:solidFill>
                <a:latin typeface="Trebuchet MS"/>
                <a:cs typeface="Trebuchet MS"/>
              </a:rPr>
              <a:t>Machine</a:t>
            </a:r>
            <a:r>
              <a:rPr sz="1450" spc="-35" dirty="0">
                <a:solidFill>
                  <a:srgbClr val="373737"/>
                </a:solidFill>
                <a:latin typeface="Trebuchet MS"/>
                <a:cs typeface="Trebuchet MS"/>
              </a:rPr>
              <a:t> </a:t>
            </a:r>
            <a:r>
              <a:rPr sz="1450" spc="-10" dirty="0">
                <a:solidFill>
                  <a:srgbClr val="373737"/>
                </a:solidFill>
                <a:latin typeface="Trebuchet MS"/>
                <a:cs typeface="Trebuchet MS"/>
              </a:rPr>
              <a:t>agent.</a:t>
            </a:r>
            <a:endParaRPr sz="1450" dirty="0">
              <a:latin typeface="Trebuchet MS"/>
              <a:cs typeface="Trebuchet MS"/>
            </a:endParaRPr>
          </a:p>
        </p:txBody>
      </p:sp>
      <p:sp>
        <p:nvSpPr>
          <p:cNvPr id="11" name="object 9">
            <a:extLst>
              <a:ext uri="{FF2B5EF4-FFF2-40B4-BE49-F238E27FC236}">
                <a16:creationId xmlns:a16="http://schemas.microsoft.com/office/drawing/2014/main" id="{E77AF99B-1C21-120F-2ABD-387FC1485030}"/>
              </a:ext>
            </a:extLst>
          </p:cNvPr>
          <p:cNvSpPr/>
          <p:nvPr/>
        </p:nvSpPr>
        <p:spPr>
          <a:xfrm>
            <a:off x="8181978" y="3384494"/>
            <a:ext cx="2562221" cy="2619375"/>
          </a:xfrm>
          <a:custGeom>
            <a:avLst/>
            <a:gdLst/>
            <a:ahLst/>
            <a:cxnLst/>
            <a:rect l="l" t="t" r="r" b="b"/>
            <a:pathLst>
              <a:path w="1981200" h="2619375">
                <a:moveTo>
                  <a:pt x="1960706" y="2619374"/>
                </a:moveTo>
                <a:lnTo>
                  <a:pt x="20494" y="2619374"/>
                </a:lnTo>
                <a:lnTo>
                  <a:pt x="17479" y="2618774"/>
                </a:lnTo>
                <a:lnTo>
                  <a:pt x="0" y="2598879"/>
                </a:lnTo>
                <a:lnTo>
                  <a:pt x="0" y="2595747"/>
                </a:lnTo>
                <a:lnTo>
                  <a:pt x="0" y="20494"/>
                </a:lnTo>
                <a:lnTo>
                  <a:pt x="20494" y="0"/>
                </a:lnTo>
                <a:lnTo>
                  <a:pt x="1960706" y="0"/>
                </a:lnTo>
                <a:lnTo>
                  <a:pt x="1981199" y="20494"/>
                </a:lnTo>
                <a:lnTo>
                  <a:pt x="1981199" y="2598879"/>
                </a:lnTo>
                <a:lnTo>
                  <a:pt x="1963720" y="2618774"/>
                </a:lnTo>
                <a:lnTo>
                  <a:pt x="1960706" y="2619374"/>
                </a:lnTo>
                <a:close/>
              </a:path>
            </a:pathLst>
          </a:custGeom>
          <a:solidFill>
            <a:srgbClr val="F1EDED"/>
          </a:solidFill>
        </p:spPr>
        <p:txBody>
          <a:bodyPr wrap="square" lIns="0" tIns="0" rIns="0" bIns="0" rtlCol="0"/>
          <a:lstStyle>
            <a:defPPr>
              <a:defRPr kern="0"/>
            </a:defPPr>
          </a:lstStyle>
          <a:p>
            <a:endParaRPr dirty="0"/>
          </a:p>
        </p:txBody>
      </p:sp>
      <p:sp>
        <p:nvSpPr>
          <p:cNvPr id="12" name="object 10">
            <a:extLst>
              <a:ext uri="{FF2B5EF4-FFF2-40B4-BE49-F238E27FC236}">
                <a16:creationId xmlns:a16="http://schemas.microsoft.com/office/drawing/2014/main" id="{A6A2E130-71CE-9DEB-BF07-42BA420A5A44}"/>
              </a:ext>
            </a:extLst>
          </p:cNvPr>
          <p:cNvSpPr txBox="1"/>
          <p:nvPr/>
        </p:nvSpPr>
        <p:spPr>
          <a:xfrm>
            <a:off x="8465429" y="3498650"/>
            <a:ext cx="2050171" cy="2309991"/>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600" dirty="0">
                <a:solidFill>
                  <a:srgbClr val="373737"/>
                </a:solidFill>
                <a:latin typeface="Georgia"/>
                <a:cs typeface="Georgia"/>
              </a:rPr>
              <a:t>Data</a:t>
            </a:r>
            <a:r>
              <a:rPr sz="1600" spc="-80" dirty="0">
                <a:solidFill>
                  <a:srgbClr val="373737"/>
                </a:solidFill>
                <a:latin typeface="Georgia"/>
                <a:cs typeface="Georgia"/>
              </a:rPr>
              <a:t> </a:t>
            </a:r>
            <a:r>
              <a:rPr sz="1600" spc="-10" dirty="0">
                <a:solidFill>
                  <a:srgbClr val="373737"/>
                </a:solidFill>
                <a:latin typeface="Georgia"/>
                <a:cs typeface="Georgia"/>
              </a:rPr>
              <a:t>Locality</a:t>
            </a:r>
            <a:endParaRPr sz="1600" dirty="0">
              <a:latin typeface="Georgia"/>
              <a:cs typeface="Georgia"/>
            </a:endParaRPr>
          </a:p>
          <a:p>
            <a:pPr marL="12700" marR="5080">
              <a:lnSpc>
                <a:spcPct val="137100"/>
              </a:lnSpc>
              <a:spcBef>
                <a:spcPts val="515"/>
              </a:spcBef>
            </a:pPr>
            <a:r>
              <a:rPr sz="1600" spc="60" dirty="0">
                <a:solidFill>
                  <a:srgbClr val="373737"/>
                </a:solidFill>
                <a:latin typeface="Trebuchet MS"/>
                <a:cs typeface="Trebuchet MS"/>
              </a:rPr>
              <a:t>Compliance</a:t>
            </a:r>
            <a:r>
              <a:rPr sz="1600" spc="-10" dirty="0">
                <a:solidFill>
                  <a:srgbClr val="373737"/>
                </a:solidFill>
                <a:latin typeface="Trebuchet MS"/>
                <a:cs typeface="Trebuchet MS"/>
              </a:rPr>
              <a:t> </a:t>
            </a:r>
            <a:r>
              <a:rPr sz="1600" spc="-20" dirty="0">
                <a:solidFill>
                  <a:srgbClr val="373737"/>
                </a:solidFill>
                <a:latin typeface="Trebuchet MS"/>
                <a:cs typeface="Trebuchet MS"/>
              </a:rPr>
              <a:t>data </a:t>
            </a:r>
            <a:r>
              <a:rPr sz="1600" dirty="0">
                <a:solidFill>
                  <a:srgbClr val="373737"/>
                </a:solidFill>
                <a:latin typeface="Trebuchet MS"/>
                <a:cs typeface="Trebuchet MS"/>
              </a:rPr>
              <a:t>in</a:t>
            </a:r>
            <a:r>
              <a:rPr sz="1600" spc="45" dirty="0">
                <a:solidFill>
                  <a:srgbClr val="373737"/>
                </a:solidFill>
                <a:latin typeface="Trebuchet MS"/>
                <a:cs typeface="Trebuchet MS"/>
              </a:rPr>
              <a:t> </a:t>
            </a:r>
            <a:r>
              <a:rPr sz="1600" dirty="0">
                <a:solidFill>
                  <a:srgbClr val="373737"/>
                </a:solidFill>
                <a:latin typeface="Trebuchet MS"/>
                <a:cs typeface="Trebuchet MS"/>
              </a:rPr>
              <a:t>Azure</a:t>
            </a:r>
            <a:r>
              <a:rPr sz="1600" spc="50" dirty="0">
                <a:solidFill>
                  <a:srgbClr val="373737"/>
                </a:solidFill>
                <a:latin typeface="Trebuchet MS"/>
                <a:cs typeface="Trebuchet MS"/>
              </a:rPr>
              <a:t> </a:t>
            </a:r>
            <a:r>
              <a:rPr sz="1600" spc="45" dirty="0">
                <a:solidFill>
                  <a:srgbClr val="373737"/>
                </a:solidFill>
                <a:latin typeface="Trebuchet MS"/>
                <a:cs typeface="Trebuchet MS"/>
              </a:rPr>
              <a:t>Resource </a:t>
            </a:r>
            <a:r>
              <a:rPr sz="1600" spc="65" dirty="0">
                <a:solidFill>
                  <a:srgbClr val="373737"/>
                </a:solidFill>
                <a:latin typeface="Trebuchet MS"/>
                <a:cs typeface="Trebuchet MS"/>
              </a:rPr>
              <a:t>Graph</a:t>
            </a:r>
            <a:r>
              <a:rPr sz="1600" spc="-40" dirty="0">
                <a:solidFill>
                  <a:srgbClr val="373737"/>
                </a:solidFill>
                <a:latin typeface="Trebuchet MS"/>
                <a:cs typeface="Trebuchet MS"/>
              </a:rPr>
              <a:t> </a:t>
            </a:r>
            <a:r>
              <a:rPr sz="1600" spc="229" dirty="0">
                <a:solidFill>
                  <a:srgbClr val="373737"/>
                </a:solidFill>
                <a:latin typeface="Trebuchet MS"/>
                <a:cs typeface="Trebuchet MS"/>
              </a:rPr>
              <a:t>—</a:t>
            </a:r>
            <a:r>
              <a:rPr sz="1600" spc="-40" dirty="0">
                <a:solidFill>
                  <a:srgbClr val="373737"/>
                </a:solidFill>
                <a:latin typeface="Trebuchet MS"/>
                <a:cs typeface="Trebuchet MS"/>
              </a:rPr>
              <a:t> </a:t>
            </a:r>
            <a:r>
              <a:rPr sz="1600" spc="45" dirty="0">
                <a:solidFill>
                  <a:srgbClr val="373737"/>
                </a:solidFill>
                <a:latin typeface="Trebuchet MS"/>
                <a:cs typeface="Trebuchet MS"/>
              </a:rPr>
              <a:t>reduce </a:t>
            </a:r>
            <a:r>
              <a:rPr sz="1600" spc="55" dirty="0">
                <a:solidFill>
                  <a:srgbClr val="373737"/>
                </a:solidFill>
                <a:latin typeface="Trebuchet MS"/>
                <a:cs typeface="Trebuchet MS"/>
              </a:rPr>
              <a:t>Log</a:t>
            </a:r>
            <a:r>
              <a:rPr sz="1600" spc="-35" dirty="0">
                <a:solidFill>
                  <a:srgbClr val="373737"/>
                </a:solidFill>
                <a:latin typeface="Trebuchet MS"/>
                <a:cs typeface="Trebuchet MS"/>
              </a:rPr>
              <a:t> </a:t>
            </a:r>
            <a:r>
              <a:rPr sz="1600" spc="40" dirty="0">
                <a:solidFill>
                  <a:srgbClr val="373737"/>
                </a:solidFill>
                <a:latin typeface="Trebuchet MS"/>
                <a:cs typeface="Trebuchet MS"/>
              </a:rPr>
              <a:t>Analytics </a:t>
            </a:r>
            <a:r>
              <a:rPr sz="1600" spc="75" dirty="0">
                <a:solidFill>
                  <a:srgbClr val="373737"/>
                </a:solidFill>
                <a:latin typeface="Trebuchet MS"/>
                <a:cs typeface="Trebuchet MS"/>
              </a:rPr>
              <a:t>dependence</a:t>
            </a:r>
            <a:r>
              <a:rPr sz="1600" spc="-20" dirty="0">
                <a:solidFill>
                  <a:srgbClr val="373737"/>
                </a:solidFill>
                <a:latin typeface="Trebuchet MS"/>
                <a:cs typeface="Trebuchet MS"/>
              </a:rPr>
              <a:t> </a:t>
            </a:r>
            <a:r>
              <a:rPr sz="1600" spc="45" dirty="0">
                <a:solidFill>
                  <a:srgbClr val="373737"/>
                </a:solidFill>
                <a:latin typeface="Trebuchet MS"/>
                <a:cs typeface="Trebuchet MS"/>
              </a:rPr>
              <a:t>and </a:t>
            </a:r>
            <a:r>
              <a:rPr sz="1600" spc="-10" dirty="0">
                <a:solidFill>
                  <a:srgbClr val="373737"/>
                </a:solidFill>
                <a:latin typeface="Trebuchet MS"/>
                <a:cs typeface="Trebuchet MS"/>
              </a:rPr>
              <a:t>costs.</a:t>
            </a:r>
            <a:endParaRPr sz="1600" dirty="0">
              <a:latin typeface="Trebuchet MS"/>
              <a:cs typeface="Trebuchet MS"/>
            </a:endParaRPr>
          </a:p>
        </p:txBody>
      </p:sp>
    </p:spTree>
    <p:extLst>
      <p:ext uri="{BB962C8B-B14F-4D97-AF65-F5344CB8AC3E}">
        <p14:creationId xmlns:p14="http://schemas.microsoft.com/office/powerpoint/2010/main" val="1652656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E7A706-E3C2-BF25-DEF7-89F7B8B89188}"/>
              </a:ext>
            </a:extLst>
          </p:cNvPr>
          <p:cNvSpPr>
            <a:spLocks noGrp="1"/>
          </p:cNvSpPr>
          <p:nvPr>
            <p:ph type="dt" sz="half" idx="10"/>
          </p:nvPr>
        </p:nvSpPr>
        <p:spPr/>
        <p:txBody>
          <a:bodyPr/>
          <a:lstStyle/>
          <a:p>
            <a:fld id="{65C4A094-0EEE-408A-AC93-7A8D231B99FA}" type="datetime1">
              <a:t>9/23/2026</a:t>
            </a:fld>
            <a:endParaRPr lang="en-US" dirty="0"/>
          </a:p>
        </p:txBody>
      </p:sp>
      <p:sp>
        <p:nvSpPr>
          <p:cNvPr id="3" name="Footer Placeholder 2">
            <a:extLst>
              <a:ext uri="{FF2B5EF4-FFF2-40B4-BE49-F238E27FC236}">
                <a16:creationId xmlns:a16="http://schemas.microsoft.com/office/drawing/2014/main" id="{009340EB-8F90-6B74-1332-930639C990D3}"/>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75440630-735E-B5F9-0C7A-E1BDC91B915A}"/>
              </a:ext>
            </a:extLst>
          </p:cNvPr>
          <p:cNvSpPr>
            <a:spLocks noGrp="1"/>
          </p:cNvSpPr>
          <p:nvPr>
            <p:ph type="sldNum" sz="quarter" idx="12"/>
          </p:nvPr>
        </p:nvSpPr>
        <p:spPr/>
        <p:txBody>
          <a:bodyPr/>
          <a:lstStyle/>
          <a:p>
            <a:fld id="{196A61CA-0502-4EE4-9724-96EA822543E5}" type="slidenum">
              <a:rPr lang="en-US" dirty="0"/>
              <a:t>8</a:t>
            </a:fld>
            <a:endParaRPr lang="en-US" dirty="0"/>
          </a:p>
        </p:txBody>
      </p:sp>
      <p:pic>
        <p:nvPicPr>
          <p:cNvPr id="5" name="Picture 4">
            <a:extLst>
              <a:ext uri="{FF2B5EF4-FFF2-40B4-BE49-F238E27FC236}">
                <a16:creationId xmlns:a16="http://schemas.microsoft.com/office/drawing/2014/main" id="{5A898153-5054-38B7-D711-B5DCD5D01BDD}"/>
              </a:ext>
            </a:extLst>
          </p:cNvPr>
          <p:cNvPicPr>
            <a:picLocks noChangeAspect="1"/>
          </p:cNvPicPr>
          <p:nvPr/>
        </p:nvPicPr>
        <p:blipFill>
          <a:blip r:embed="rId2"/>
          <a:srcRect r="77"/>
          <a:stretch>
            <a:fillRect/>
          </a:stretch>
        </p:blipFill>
        <p:spPr>
          <a:xfrm>
            <a:off x="-4445" y="-3175"/>
            <a:ext cx="12191593" cy="6955790"/>
          </a:xfrm>
          <a:prstGeom prst="rect">
            <a:avLst/>
          </a:prstGeom>
        </p:spPr>
      </p:pic>
    </p:spTree>
    <p:extLst>
      <p:ext uri="{BB962C8B-B14F-4D97-AF65-F5344CB8AC3E}">
        <p14:creationId xmlns:p14="http://schemas.microsoft.com/office/powerpoint/2010/main" val="197048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638E2B2-AC54-4C13-DC02-8050E2665948}"/>
              </a:ext>
            </a:extLst>
          </p:cNvPr>
          <p:cNvSpPr/>
          <p:nvPr/>
        </p:nvSpPr>
        <p:spPr>
          <a:xfrm>
            <a:off x="6518782" y="2002103"/>
            <a:ext cx="5289578" cy="439824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Date Placeholder 1">
            <a:extLst>
              <a:ext uri="{FF2B5EF4-FFF2-40B4-BE49-F238E27FC236}">
                <a16:creationId xmlns:a16="http://schemas.microsoft.com/office/drawing/2014/main" id="{5A74D3B5-8C68-3E91-8490-1BF4C5AAE711}"/>
              </a:ext>
            </a:extLst>
          </p:cNvPr>
          <p:cNvSpPr>
            <a:spLocks noGrp="1"/>
          </p:cNvSpPr>
          <p:nvPr>
            <p:ph type="dt" sz="half" idx="10"/>
          </p:nvPr>
        </p:nvSpPr>
        <p:spPr/>
        <p:txBody>
          <a:bodyPr/>
          <a:lstStyle/>
          <a:p>
            <a:fld id="{5773114B-6398-4EA4-8BD5-52E19AD2CFBA}" type="datetime1">
              <a:t>9/23/2026</a:t>
            </a:fld>
            <a:endParaRPr lang="en-US" dirty="0"/>
          </a:p>
        </p:txBody>
      </p:sp>
      <p:sp>
        <p:nvSpPr>
          <p:cNvPr id="3" name="Footer Placeholder 2">
            <a:extLst>
              <a:ext uri="{FF2B5EF4-FFF2-40B4-BE49-F238E27FC236}">
                <a16:creationId xmlns:a16="http://schemas.microsoft.com/office/drawing/2014/main" id="{B9A069DB-EB22-AABD-DBE2-F93B33E8FE36}"/>
              </a:ext>
            </a:extLst>
          </p:cNvPr>
          <p:cNvSpPr>
            <a:spLocks noGrp="1"/>
          </p:cNvSpPr>
          <p:nvPr>
            <p:ph type="ftr" sz="quarter" idx="11"/>
          </p:nvPr>
        </p:nvSpPr>
        <p:spPr/>
        <p:txBody>
          <a:bodyPr/>
          <a:lstStyle/>
          <a:p>
            <a:r>
              <a:rPr lang="en-US" dirty="0"/>
              <a:t>
              </a:t>
            </a:r>
          </a:p>
        </p:txBody>
      </p:sp>
      <p:sp>
        <p:nvSpPr>
          <p:cNvPr id="5" name="object 2" descr="$PPTXTitle">
            <a:extLst>
              <a:ext uri="{FF2B5EF4-FFF2-40B4-BE49-F238E27FC236}">
                <a16:creationId xmlns:a16="http://schemas.microsoft.com/office/drawing/2014/main" id="{0B587A34-9456-39C1-B1A1-94884C42F11A}"/>
              </a:ext>
            </a:extLst>
          </p:cNvPr>
          <p:cNvSpPr txBox="1">
            <a:spLocks noGrp="1"/>
          </p:cNvSpPr>
          <p:nvPr/>
        </p:nvSpPr>
        <p:spPr>
          <a:xfrm>
            <a:off x="953640" y="-281972"/>
            <a:ext cx="10753725" cy="1997790"/>
          </a:xfrm>
          <a:prstGeom prst="rect">
            <a:avLst/>
          </a:prstGeom>
        </p:spPr>
        <p:txBody>
          <a:bodyPr vert="horz" wrap="square" lIns="0" tIns="777049" rIns="0" bIns="0" rtlCol="0" anchor="t">
            <a:spAutoFit/>
          </a:bodyPr>
          <a:lstStyle>
            <a:lvl1pPr>
              <a:defRPr sz="3900" b="0" i="0">
                <a:solidFill>
                  <a:srgbClr val="010101"/>
                </a:solidFill>
                <a:latin typeface="Georgia"/>
                <a:ea typeface="+mj-ea"/>
                <a:cs typeface="Georgia"/>
              </a:defRPr>
            </a:lvl1pPr>
          </a:lstStyle>
          <a:p>
            <a:pPr marL="12700">
              <a:spcBef>
                <a:spcPts val="105"/>
              </a:spcBef>
            </a:pPr>
            <a:r>
              <a:rPr dirty="0">
                <a:solidFill>
                  <a:schemeClr val="tx1"/>
                </a:solidFill>
              </a:rPr>
              <a:t>The</a:t>
            </a:r>
            <a:r>
              <a:rPr spc="25" dirty="0">
                <a:solidFill>
                  <a:schemeClr val="tx1"/>
                </a:solidFill>
              </a:rPr>
              <a:t> </a:t>
            </a:r>
            <a:r>
              <a:rPr dirty="0">
                <a:solidFill>
                  <a:schemeClr val="tx1"/>
                </a:solidFill>
              </a:rPr>
              <a:t>Foundation:</a:t>
            </a:r>
            <a:r>
              <a:rPr spc="-50" dirty="0">
                <a:solidFill>
                  <a:schemeClr val="tx1"/>
                </a:solidFill>
              </a:rPr>
              <a:t> </a:t>
            </a:r>
            <a:endParaRPr lang="en-US" spc="-10" dirty="0">
              <a:solidFill>
                <a:schemeClr val="tx1"/>
              </a:solidFill>
            </a:endParaRPr>
          </a:p>
          <a:p>
            <a:pPr marL="12700">
              <a:lnSpc>
                <a:spcPct val="100000"/>
              </a:lnSpc>
              <a:spcBef>
                <a:spcPts val="105"/>
              </a:spcBef>
            </a:pPr>
            <a:r>
              <a:rPr dirty="0">
                <a:solidFill>
                  <a:schemeClr val="tx1"/>
                </a:solidFill>
              </a:rPr>
              <a:t>Azure</a:t>
            </a:r>
            <a:r>
              <a:rPr spc="-45" dirty="0">
                <a:solidFill>
                  <a:schemeClr val="tx1"/>
                </a:solidFill>
              </a:rPr>
              <a:t> </a:t>
            </a:r>
            <a:r>
              <a:rPr dirty="0">
                <a:solidFill>
                  <a:schemeClr val="tx1"/>
                </a:solidFill>
              </a:rPr>
              <a:t>Arc</a:t>
            </a:r>
            <a:r>
              <a:rPr spc="25" dirty="0">
                <a:solidFill>
                  <a:schemeClr val="tx1"/>
                </a:solidFill>
              </a:rPr>
              <a:t> </a:t>
            </a:r>
            <a:r>
              <a:rPr spc="-10" dirty="0">
                <a:solidFill>
                  <a:schemeClr val="tx1"/>
                </a:solidFill>
              </a:rPr>
              <a:t>Connectivity</a:t>
            </a:r>
            <a:endParaRPr lang="en-US" spc="-10">
              <a:solidFill>
                <a:schemeClr val="tx1"/>
              </a:solidFill>
            </a:endParaRPr>
          </a:p>
        </p:txBody>
      </p:sp>
      <p:pic>
        <p:nvPicPr>
          <p:cNvPr id="6" name="object 3">
            <a:extLst>
              <a:ext uri="{FF2B5EF4-FFF2-40B4-BE49-F238E27FC236}">
                <a16:creationId xmlns:a16="http://schemas.microsoft.com/office/drawing/2014/main" id="{E0E21768-DB2D-A828-A785-A287391F02DB}"/>
              </a:ext>
            </a:extLst>
          </p:cNvPr>
          <p:cNvPicPr/>
          <p:nvPr/>
        </p:nvPicPr>
        <p:blipFill>
          <a:blip r:embed="rId2" cstate="print"/>
          <a:stretch>
            <a:fillRect/>
          </a:stretch>
        </p:blipFill>
        <p:spPr>
          <a:xfrm>
            <a:off x="809625" y="2138045"/>
            <a:ext cx="5285739" cy="4391024"/>
          </a:xfrm>
          <a:prstGeom prst="rect">
            <a:avLst/>
          </a:prstGeom>
        </p:spPr>
      </p:pic>
      <p:pic>
        <p:nvPicPr>
          <p:cNvPr id="7" name="object 4">
            <a:extLst>
              <a:ext uri="{FF2B5EF4-FFF2-40B4-BE49-F238E27FC236}">
                <a16:creationId xmlns:a16="http://schemas.microsoft.com/office/drawing/2014/main" id="{CED07154-C8E4-3098-F2D3-C395B85802DC}"/>
              </a:ext>
            </a:extLst>
          </p:cNvPr>
          <p:cNvPicPr/>
          <p:nvPr/>
        </p:nvPicPr>
        <p:blipFill>
          <a:blip r:embed="rId3" cstate="print"/>
          <a:stretch>
            <a:fillRect/>
          </a:stretch>
        </p:blipFill>
        <p:spPr>
          <a:xfrm>
            <a:off x="5238748" y="4305299"/>
            <a:ext cx="66675" cy="66674"/>
          </a:xfrm>
          <a:prstGeom prst="rect">
            <a:avLst/>
          </a:prstGeom>
        </p:spPr>
      </p:pic>
      <p:sp>
        <p:nvSpPr>
          <p:cNvPr id="8" name="object 7">
            <a:extLst>
              <a:ext uri="{FF2B5EF4-FFF2-40B4-BE49-F238E27FC236}">
                <a16:creationId xmlns:a16="http://schemas.microsoft.com/office/drawing/2014/main" id="{983CCD99-62BA-0060-BD8B-ECEA58C80437}"/>
              </a:ext>
            </a:extLst>
          </p:cNvPr>
          <p:cNvSpPr txBox="1"/>
          <p:nvPr/>
        </p:nvSpPr>
        <p:spPr>
          <a:xfrm>
            <a:off x="6592410" y="2314270"/>
            <a:ext cx="5029200" cy="3771738"/>
          </a:xfrm>
          <a:prstGeom prst="rect">
            <a:avLst/>
          </a:prstGeom>
        </p:spPr>
        <p:txBody>
          <a:bodyPr vert="horz" wrap="square" lIns="0" tIns="11430" rIns="0" bIns="0" rtlCol="0" anchor="t">
            <a:spAutoFit/>
          </a:bodyPr>
          <a:lstStyle>
            <a:defPPr>
              <a:defRPr kern="0"/>
            </a:defPPr>
          </a:lstStyle>
          <a:p>
            <a:pPr marL="298450" marR="128905" indent="-285750">
              <a:lnSpc>
                <a:spcPct val="137900"/>
              </a:lnSpc>
              <a:spcBef>
                <a:spcPts val="90"/>
              </a:spcBef>
              <a:buFont typeface="Arial"/>
              <a:buChar char="•"/>
            </a:pPr>
            <a:r>
              <a:rPr sz="1450" b="1" spc="65" dirty="0">
                <a:latin typeface="Century Schoolbook"/>
                <a:cs typeface="Trebuchet MS"/>
              </a:rPr>
              <a:t>Arc</a:t>
            </a:r>
            <a:r>
              <a:rPr sz="1450" b="1" spc="65" dirty="0">
                <a:latin typeface="Century Schoolbook"/>
                <a:cs typeface="Sitka Banner"/>
              </a:rPr>
              <a:t>-</a:t>
            </a:r>
            <a:r>
              <a:rPr sz="1450" b="1" spc="65" dirty="0">
                <a:latin typeface="Century Schoolbook"/>
                <a:cs typeface="Trebuchet MS"/>
              </a:rPr>
              <a:t>enabled</a:t>
            </a:r>
            <a:r>
              <a:rPr sz="1450" b="1" spc="-50" dirty="0">
                <a:latin typeface="Century Schoolbook"/>
                <a:cs typeface="Trebuchet MS"/>
              </a:rPr>
              <a:t> </a:t>
            </a:r>
            <a:r>
              <a:rPr sz="1450" b="1" spc="55" dirty="0">
                <a:latin typeface="Century Schoolbook"/>
                <a:cs typeface="Trebuchet MS"/>
              </a:rPr>
              <a:t>servers</a:t>
            </a:r>
            <a:r>
              <a:rPr sz="1450" b="1" spc="5" dirty="0">
                <a:latin typeface="Century Schoolbook"/>
                <a:cs typeface="Trebuchet MS"/>
              </a:rPr>
              <a:t> </a:t>
            </a:r>
            <a:r>
              <a:rPr sz="1450" dirty="0">
                <a:latin typeface="Century Schoolbook"/>
                <a:cs typeface="Trebuchet MS"/>
              </a:rPr>
              <a:t>gain Azure</a:t>
            </a:r>
            <a:r>
              <a:rPr sz="1450" spc="5" dirty="0">
                <a:latin typeface="Century Schoolbook"/>
                <a:cs typeface="Trebuchet MS"/>
              </a:rPr>
              <a:t> </a:t>
            </a:r>
            <a:r>
              <a:rPr sz="1450" spc="55" dirty="0">
                <a:latin typeface="Century Schoolbook"/>
                <a:cs typeface="Trebuchet MS"/>
              </a:rPr>
              <a:t>Resource</a:t>
            </a:r>
            <a:r>
              <a:rPr sz="1450" dirty="0">
                <a:latin typeface="Century Schoolbook"/>
                <a:cs typeface="Trebuchet MS"/>
              </a:rPr>
              <a:t> </a:t>
            </a:r>
            <a:r>
              <a:rPr sz="1450" spc="75" dirty="0">
                <a:latin typeface="Century Schoolbook"/>
                <a:cs typeface="Trebuchet MS"/>
              </a:rPr>
              <a:t>IDs</a:t>
            </a:r>
            <a:r>
              <a:rPr sz="1450" spc="5" dirty="0">
                <a:latin typeface="Century Schoolbook"/>
                <a:cs typeface="Trebuchet MS"/>
              </a:rPr>
              <a:t> </a:t>
            </a:r>
            <a:endParaRPr lang="en-US" sz="1450">
              <a:latin typeface="Century Schoolbook"/>
              <a:cs typeface="Trebuchet MS"/>
            </a:endParaRPr>
          </a:p>
          <a:p>
            <a:pPr marL="12700" marR="128905">
              <a:lnSpc>
                <a:spcPct val="137900"/>
              </a:lnSpc>
              <a:spcBef>
                <a:spcPts val="90"/>
              </a:spcBef>
            </a:pPr>
            <a:r>
              <a:rPr sz="1450" spc="70" dirty="0">
                <a:latin typeface="Century Schoolbook"/>
                <a:cs typeface="Trebuchet MS"/>
              </a:rPr>
              <a:t>and</a:t>
            </a:r>
            <a:r>
              <a:rPr sz="1450" dirty="0">
                <a:latin typeface="Century Schoolbook"/>
                <a:cs typeface="Trebuchet MS"/>
              </a:rPr>
              <a:t> </a:t>
            </a:r>
            <a:r>
              <a:rPr sz="1450" spc="55" dirty="0">
                <a:latin typeface="Century Schoolbook"/>
                <a:cs typeface="Trebuchet MS"/>
              </a:rPr>
              <a:t>appear</a:t>
            </a:r>
            <a:r>
              <a:rPr sz="1450" spc="5" dirty="0">
                <a:latin typeface="Century Schoolbook"/>
                <a:cs typeface="Trebuchet MS"/>
              </a:rPr>
              <a:t> </a:t>
            </a:r>
            <a:r>
              <a:rPr sz="1450" spc="95" dirty="0">
                <a:latin typeface="Century Schoolbook"/>
                <a:cs typeface="Trebuchet MS"/>
              </a:rPr>
              <a:t>as</a:t>
            </a:r>
            <a:r>
              <a:rPr sz="1450" dirty="0">
                <a:latin typeface="Century Schoolbook"/>
                <a:cs typeface="Trebuchet MS"/>
              </a:rPr>
              <a:t> </a:t>
            </a:r>
            <a:r>
              <a:rPr sz="1450" spc="-10" dirty="0">
                <a:latin typeface="Century Schoolbook"/>
                <a:cs typeface="Trebuchet MS"/>
              </a:rPr>
              <a:t>native </a:t>
            </a:r>
            <a:r>
              <a:rPr sz="1450" dirty="0">
                <a:latin typeface="Century Schoolbook"/>
                <a:cs typeface="Trebuchet MS"/>
              </a:rPr>
              <a:t>Azure</a:t>
            </a:r>
            <a:r>
              <a:rPr sz="1450" spc="45" dirty="0">
                <a:latin typeface="Century Schoolbook"/>
                <a:cs typeface="Trebuchet MS"/>
              </a:rPr>
              <a:t> </a:t>
            </a:r>
            <a:r>
              <a:rPr sz="1450" spc="65" dirty="0">
                <a:latin typeface="Century Schoolbook"/>
                <a:cs typeface="Trebuchet MS"/>
              </a:rPr>
              <a:t>resources</a:t>
            </a:r>
            <a:r>
              <a:rPr sz="1450" spc="45" dirty="0">
                <a:latin typeface="Century Schoolbook"/>
                <a:cs typeface="Trebuchet MS"/>
              </a:rPr>
              <a:t> </a:t>
            </a:r>
            <a:endParaRPr lang="en-US" sz="1450">
              <a:latin typeface="Century Schoolbook"/>
              <a:cs typeface="Trebuchet MS"/>
            </a:endParaRPr>
          </a:p>
          <a:p>
            <a:pPr marL="12700" marR="128905">
              <a:lnSpc>
                <a:spcPct val="137900"/>
              </a:lnSpc>
              <a:spcBef>
                <a:spcPts val="90"/>
              </a:spcBef>
            </a:pPr>
            <a:r>
              <a:rPr lang="en-US" sz="1450" spc="229" dirty="0">
                <a:latin typeface="Century Schoolbook"/>
                <a:cs typeface="Trebuchet MS"/>
              </a:rPr>
              <a:t> </a:t>
            </a:r>
            <a:r>
              <a:rPr sz="1450" dirty="0">
                <a:latin typeface="Century Schoolbook"/>
                <a:cs typeface="Trebuchet MS"/>
              </a:rPr>
              <a:t>enabling</a:t>
            </a:r>
            <a:r>
              <a:rPr sz="1450" spc="50" dirty="0">
                <a:latin typeface="Century Schoolbook"/>
                <a:cs typeface="Trebuchet MS"/>
              </a:rPr>
              <a:t> </a:t>
            </a:r>
            <a:r>
              <a:rPr sz="1450" spc="-10" dirty="0">
                <a:latin typeface="Century Schoolbook"/>
                <a:cs typeface="Trebuchet MS"/>
              </a:rPr>
              <a:t>policy,</a:t>
            </a:r>
            <a:r>
              <a:rPr sz="1450" spc="45" dirty="0">
                <a:latin typeface="Century Schoolbook"/>
                <a:cs typeface="Trebuchet MS"/>
              </a:rPr>
              <a:t> </a:t>
            </a:r>
            <a:r>
              <a:rPr sz="1450" dirty="0">
                <a:latin typeface="Century Schoolbook"/>
                <a:cs typeface="Trebuchet MS"/>
              </a:rPr>
              <a:t>RBAC,</a:t>
            </a:r>
            <a:r>
              <a:rPr sz="1450" spc="45" dirty="0">
                <a:latin typeface="Century Schoolbook"/>
                <a:cs typeface="Trebuchet MS"/>
              </a:rPr>
              <a:t> </a:t>
            </a:r>
            <a:r>
              <a:rPr sz="1450" spc="70" dirty="0">
                <a:latin typeface="Century Schoolbook"/>
                <a:cs typeface="Trebuchet MS"/>
              </a:rPr>
              <a:t>and</a:t>
            </a:r>
            <a:r>
              <a:rPr sz="1450" spc="50" dirty="0">
                <a:latin typeface="Century Schoolbook"/>
                <a:cs typeface="Trebuchet MS"/>
              </a:rPr>
              <a:t> </a:t>
            </a:r>
            <a:r>
              <a:rPr sz="1450" dirty="0">
                <a:latin typeface="Century Schoolbook"/>
                <a:cs typeface="Trebuchet MS"/>
              </a:rPr>
              <a:t>Update</a:t>
            </a:r>
            <a:r>
              <a:rPr sz="1450" spc="45" dirty="0">
                <a:latin typeface="Century Schoolbook"/>
                <a:cs typeface="Trebuchet MS"/>
              </a:rPr>
              <a:t> </a:t>
            </a:r>
            <a:r>
              <a:rPr sz="1450" spc="65" dirty="0">
                <a:latin typeface="Century Schoolbook"/>
                <a:cs typeface="Trebuchet MS"/>
              </a:rPr>
              <a:t>Manager</a:t>
            </a:r>
            <a:r>
              <a:rPr sz="1450" spc="45" dirty="0">
                <a:latin typeface="Century Schoolbook"/>
                <a:cs typeface="Trebuchet MS"/>
              </a:rPr>
              <a:t> </a:t>
            </a:r>
            <a:r>
              <a:rPr sz="1450" spc="-10" dirty="0">
                <a:latin typeface="Century Schoolbook"/>
                <a:cs typeface="Trebuchet MS"/>
              </a:rPr>
              <a:t>control.</a:t>
            </a:r>
            <a:endParaRPr lang="en-US" sz="1450">
              <a:latin typeface="Century Schoolbook"/>
              <a:cs typeface="Trebuchet MS"/>
            </a:endParaRPr>
          </a:p>
          <a:p>
            <a:pPr marL="298450" marR="5080" indent="-285750">
              <a:lnSpc>
                <a:spcPct val="137900"/>
              </a:lnSpc>
              <a:spcBef>
                <a:spcPts val="1275"/>
              </a:spcBef>
              <a:buFont typeface="Arial"/>
              <a:buChar char="•"/>
            </a:pPr>
            <a:r>
              <a:rPr sz="1450" b="1" spc="45" dirty="0">
                <a:latin typeface="Century Schoolbook"/>
                <a:cs typeface="Trebuchet MS"/>
              </a:rPr>
              <a:t>Infrastructure</a:t>
            </a:r>
            <a:r>
              <a:rPr sz="1450" b="1" spc="-80" dirty="0">
                <a:latin typeface="Century Schoolbook"/>
                <a:cs typeface="Trebuchet MS"/>
              </a:rPr>
              <a:t> </a:t>
            </a:r>
            <a:r>
              <a:rPr sz="1450" b="1" spc="125" dirty="0">
                <a:latin typeface="Century Schoolbook"/>
                <a:cs typeface="Trebuchet MS"/>
              </a:rPr>
              <a:t>as</a:t>
            </a:r>
            <a:r>
              <a:rPr sz="1450" b="1" spc="-80" dirty="0">
                <a:latin typeface="Century Schoolbook"/>
                <a:cs typeface="Trebuchet MS"/>
              </a:rPr>
              <a:t> </a:t>
            </a:r>
            <a:r>
              <a:rPr sz="1450" b="1" spc="110" dirty="0">
                <a:latin typeface="Century Schoolbook"/>
                <a:cs typeface="Trebuchet MS"/>
              </a:rPr>
              <a:t>Code</a:t>
            </a:r>
            <a:r>
              <a:rPr sz="1450" b="1" spc="-30" dirty="0">
                <a:latin typeface="Century Schoolbook"/>
                <a:cs typeface="Trebuchet MS"/>
              </a:rPr>
              <a:t> </a:t>
            </a:r>
            <a:r>
              <a:rPr sz="1450" dirty="0">
                <a:latin typeface="Century Schoolbook"/>
                <a:cs typeface="Trebuchet MS"/>
              </a:rPr>
              <a:t>(Terraform)</a:t>
            </a:r>
            <a:r>
              <a:rPr sz="1450" spc="-30" dirty="0">
                <a:latin typeface="Century Schoolbook"/>
                <a:cs typeface="Trebuchet MS"/>
              </a:rPr>
              <a:t> </a:t>
            </a:r>
            <a:r>
              <a:rPr sz="1450" spc="55" dirty="0">
                <a:latin typeface="Century Schoolbook"/>
                <a:cs typeface="Trebuchet MS"/>
              </a:rPr>
              <a:t>automates</a:t>
            </a:r>
            <a:endParaRPr lang="en-US" sz="1450" dirty="0">
              <a:latin typeface="Century Schoolbook"/>
              <a:cs typeface="Trebuchet MS"/>
            </a:endParaRPr>
          </a:p>
          <a:p>
            <a:pPr marL="12700" marR="5080">
              <a:lnSpc>
                <a:spcPct val="137900"/>
              </a:lnSpc>
              <a:spcBef>
                <a:spcPts val="1275"/>
              </a:spcBef>
            </a:pPr>
            <a:r>
              <a:rPr lang="en-US" sz="1450" spc="-35" dirty="0">
                <a:latin typeface="Century Schoolbook"/>
                <a:cs typeface="Trebuchet MS"/>
              </a:rPr>
              <a:t> </a:t>
            </a:r>
            <a:r>
              <a:rPr sz="1450" spc="55" dirty="0">
                <a:latin typeface="Century Schoolbook"/>
                <a:cs typeface="Trebuchet MS"/>
              </a:rPr>
              <a:t>onboarding</a:t>
            </a:r>
            <a:r>
              <a:rPr sz="1450" spc="-30" dirty="0">
                <a:latin typeface="Century Schoolbook"/>
                <a:cs typeface="Trebuchet MS"/>
              </a:rPr>
              <a:t> </a:t>
            </a:r>
            <a:r>
              <a:rPr sz="1450" spc="70" dirty="0">
                <a:latin typeface="Century Schoolbook"/>
                <a:cs typeface="Trebuchet MS"/>
              </a:rPr>
              <a:t>and</a:t>
            </a:r>
            <a:r>
              <a:rPr sz="1450" spc="-30" dirty="0">
                <a:latin typeface="Century Schoolbook"/>
                <a:cs typeface="Trebuchet MS"/>
              </a:rPr>
              <a:t> </a:t>
            </a:r>
            <a:r>
              <a:rPr sz="1450" spc="55" dirty="0">
                <a:latin typeface="Century Schoolbook"/>
                <a:cs typeface="Trebuchet MS"/>
              </a:rPr>
              <a:t>ensures </a:t>
            </a:r>
            <a:r>
              <a:rPr sz="1450" dirty="0">
                <a:latin typeface="Century Schoolbook"/>
                <a:cs typeface="Trebuchet MS"/>
              </a:rPr>
              <a:t>repeatable,</a:t>
            </a:r>
            <a:r>
              <a:rPr sz="1450" spc="35" dirty="0">
                <a:latin typeface="Century Schoolbook"/>
                <a:cs typeface="Trebuchet MS"/>
              </a:rPr>
              <a:t> </a:t>
            </a:r>
            <a:r>
              <a:rPr sz="1450" dirty="0">
                <a:latin typeface="Century Schoolbook"/>
                <a:cs typeface="Trebuchet MS"/>
              </a:rPr>
              <a:t>auditable</a:t>
            </a:r>
            <a:r>
              <a:rPr sz="1450" spc="40" dirty="0">
                <a:latin typeface="Century Schoolbook"/>
                <a:cs typeface="Trebuchet MS"/>
              </a:rPr>
              <a:t> </a:t>
            </a:r>
            <a:endParaRPr lang="en-US" sz="1450" dirty="0">
              <a:latin typeface="Century Schoolbook"/>
              <a:cs typeface="Trebuchet MS"/>
            </a:endParaRPr>
          </a:p>
          <a:p>
            <a:pPr marL="12700" marR="5080">
              <a:lnSpc>
                <a:spcPct val="137900"/>
              </a:lnSpc>
              <a:spcBef>
                <a:spcPts val="1275"/>
              </a:spcBef>
            </a:pPr>
            <a:r>
              <a:rPr sz="1450" spc="60" dirty="0">
                <a:latin typeface="Century Schoolbook"/>
                <a:cs typeface="Trebuchet MS"/>
              </a:rPr>
              <a:t>deployments</a:t>
            </a:r>
            <a:r>
              <a:rPr sz="1450" spc="35" dirty="0">
                <a:latin typeface="Century Schoolbook"/>
                <a:cs typeface="Trebuchet MS"/>
              </a:rPr>
              <a:t> </a:t>
            </a:r>
            <a:r>
              <a:rPr sz="1450" spc="85" dirty="0">
                <a:latin typeface="Century Schoolbook"/>
                <a:cs typeface="Trebuchet MS"/>
              </a:rPr>
              <a:t>across</a:t>
            </a:r>
            <a:r>
              <a:rPr sz="1450" spc="40" dirty="0">
                <a:latin typeface="Century Schoolbook"/>
                <a:cs typeface="Trebuchet MS"/>
              </a:rPr>
              <a:t> </a:t>
            </a:r>
            <a:r>
              <a:rPr sz="1450" spc="-10" dirty="0">
                <a:latin typeface="Century Schoolbook"/>
                <a:cs typeface="Trebuchet MS"/>
              </a:rPr>
              <a:t>environments.</a:t>
            </a:r>
            <a:endParaRPr lang="en-US" sz="1450" dirty="0">
              <a:latin typeface="Century Schoolbook"/>
              <a:cs typeface="Trebuchet MS"/>
            </a:endParaRPr>
          </a:p>
          <a:p>
            <a:pPr marL="298450" marR="5080" indent="-285750">
              <a:lnSpc>
                <a:spcPct val="137900"/>
              </a:lnSpc>
              <a:spcBef>
                <a:spcPts val="1275"/>
              </a:spcBef>
              <a:buFont typeface="Arial"/>
              <a:buChar char="•"/>
            </a:pPr>
            <a:r>
              <a:rPr sz="1450" spc="65" dirty="0">
                <a:latin typeface="Century Schoolbook"/>
                <a:cs typeface="Trebuchet MS"/>
              </a:rPr>
              <a:t>Consistent</a:t>
            </a:r>
            <a:r>
              <a:rPr sz="1450" dirty="0">
                <a:latin typeface="Century Schoolbook"/>
                <a:cs typeface="Trebuchet MS"/>
              </a:rPr>
              <a:t> </a:t>
            </a:r>
            <a:r>
              <a:rPr sz="1450" spc="55" dirty="0">
                <a:latin typeface="Century Schoolbook"/>
                <a:cs typeface="Trebuchet MS"/>
              </a:rPr>
              <a:t>resource</a:t>
            </a:r>
            <a:r>
              <a:rPr sz="1450" spc="5" dirty="0">
                <a:latin typeface="Century Schoolbook"/>
                <a:cs typeface="Trebuchet MS"/>
              </a:rPr>
              <a:t> </a:t>
            </a:r>
            <a:r>
              <a:rPr sz="1450" dirty="0">
                <a:latin typeface="Century Schoolbook"/>
                <a:cs typeface="Trebuchet MS"/>
              </a:rPr>
              <a:t>identity for</a:t>
            </a:r>
            <a:r>
              <a:rPr sz="1450" spc="5" dirty="0">
                <a:latin typeface="Century Schoolbook"/>
                <a:cs typeface="Trebuchet MS"/>
              </a:rPr>
              <a:t> </a:t>
            </a:r>
            <a:r>
              <a:rPr sz="1450" spc="60" dirty="0">
                <a:latin typeface="Century Schoolbook"/>
                <a:cs typeface="Trebuchet MS"/>
              </a:rPr>
              <a:t>patch</a:t>
            </a:r>
            <a:r>
              <a:rPr sz="1450" dirty="0">
                <a:latin typeface="Century Schoolbook"/>
                <a:cs typeface="Trebuchet MS"/>
              </a:rPr>
              <a:t> </a:t>
            </a:r>
            <a:r>
              <a:rPr lang="en-US" sz="1450" spc="-10" dirty="0">
                <a:latin typeface="Century Schoolbook"/>
                <a:cs typeface="Trebuchet MS"/>
              </a:rPr>
              <a:t>targeting</a:t>
            </a:r>
            <a:endParaRPr lang="en-US" sz="1450" dirty="0">
              <a:latin typeface="Century Schoolbook"/>
              <a:cs typeface="Trebuchet MS"/>
            </a:endParaRPr>
          </a:p>
          <a:p>
            <a:pPr marL="12700" marR="5080">
              <a:lnSpc>
                <a:spcPct val="137900"/>
              </a:lnSpc>
              <a:spcBef>
                <a:spcPts val="1275"/>
              </a:spcBef>
            </a:pPr>
            <a:r>
              <a:rPr lang="en-US" sz="1450" spc="50" dirty="0">
                <a:latin typeface="Century Schoolbook"/>
                <a:cs typeface="Trebuchet MS"/>
              </a:rPr>
              <a:t>Versioned</a:t>
            </a:r>
            <a:r>
              <a:rPr sz="1450" spc="65" dirty="0">
                <a:latin typeface="Century Schoolbook"/>
                <a:cs typeface="Trebuchet MS"/>
              </a:rPr>
              <a:t> </a:t>
            </a:r>
            <a:r>
              <a:rPr sz="1450" spc="10" dirty="0">
                <a:latin typeface="Century Schoolbook"/>
                <a:cs typeface="Trebuchet MS"/>
              </a:rPr>
              <a:t>configuration</a:t>
            </a:r>
            <a:r>
              <a:rPr sz="1450" spc="70" dirty="0">
                <a:latin typeface="Century Schoolbook"/>
                <a:cs typeface="Trebuchet MS"/>
              </a:rPr>
              <a:t> and</a:t>
            </a:r>
            <a:r>
              <a:rPr sz="1450" spc="65" dirty="0">
                <a:latin typeface="Century Schoolbook"/>
                <a:cs typeface="Trebuchet MS"/>
              </a:rPr>
              <a:t> </a:t>
            </a:r>
            <a:r>
              <a:rPr lang="en-US" sz="1450" spc="-10" dirty="0">
                <a:latin typeface="Century Schoolbook"/>
                <a:cs typeface="Trebuchet MS"/>
              </a:rPr>
              <a:t>rollback</a:t>
            </a:r>
            <a:endParaRPr lang="en-US" sz="1450" dirty="0">
              <a:latin typeface="Century Schoolbook"/>
              <a:cs typeface="Trebuchet MS"/>
            </a:endParaRPr>
          </a:p>
          <a:p>
            <a:pPr marL="12700" marR="5080">
              <a:lnSpc>
                <a:spcPct val="137900"/>
              </a:lnSpc>
              <a:spcBef>
                <a:spcPts val="1275"/>
              </a:spcBef>
            </a:pPr>
            <a:r>
              <a:rPr lang="en-US" sz="1450" spc="10" dirty="0">
                <a:latin typeface="Century Schoolbook"/>
                <a:cs typeface="Trebuchet MS"/>
              </a:rPr>
              <a:t>Faster</a:t>
            </a:r>
            <a:r>
              <a:rPr sz="1450" spc="150" dirty="0">
                <a:latin typeface="Century Schoolbook"/>
                <a:cs typeface="Trebuchet MS"/>
              </a:rPr>
              <a:t> </a:t>
            </a:r>
            <a:r>
              <a:rPr sz="1450" spc="10" dirty="0">
                <a:latin typeface="Century Schoolbook"/>
                <a:cs typeface="Trebuchet MS"/>
              </a:rPr>
              <a:t>provisioning</a:t>
            </a:r>
            <a:r>
              <a:rPr sz="1450" spc="150" dirty="0">
                <a:latin typeface="Century Schoolbook"/>
                <a:cs typeface="Trebuchet MS"/>
              </a:rPr>
              <a:t> </a:t>
            </a:r>
            <a:r>
              <a:rPr sz="1450" spc="10" dirty="0">
                <a:latin typeface="Century Schoolbook"/>
                <a:cs typeface="Trebuchet MS"/>
              </a:rPr>
              <a:t>of</a:t>
            </a:r>
            <a:r>
              <a:rPr sz="1450" spc="155" dirty="0">
                <a:latin typeface="Century Schoolbook"/>
                <a:cs typeface="Trebuchet MS"/>
              </a:rPr>
              <a:t> </a:t>
            </a:r>
            <a:r>
              <a:rPr sz="1450" spc="10" dirty="0">
                <a:latin typeface="Century Schoolbook"/>
                <a:cs typeface="Trebuchet MS"/>
              </a:rPr>
              <a:t>compliant</a:t>
            </a:r>
            <a:r>
              <a:rPr sz="1450" spc="150" dirty="0">
                <a:latin typeface="Century Schoolbook"/>
                <a:cs typeface="Trebuchet MS"/>
              </a:rPr>
              <a:t> </a:t>
            </a:r>
            <a:r>
              <a:rPr sz="1450" spc="-10" dirty="0">
                <a:latin typeface="Century Schoolbook"/>
                <a:cs typeface="Trebuchet MS"/>
              </a:rPr>
              <a:t>fleets</a:t>
            </a:r>
            <a:endParaRPr sz="1450">
              <a:latin typeface="Century Schoolbook"/>
              <a:cs typeface="Trebuchet MS"/>
            </a:endParaRPr>
          </a:p>
        </p:txBody>
      </p:sp>
    </p:spTree>
    <p:extLst>
      <p:ext uri="{BB962C8B-B14F-4D97-AF65-F5344CB8AC3E}">
        <p14:creationId xmlns:p14="http://schemas.microsoft.com/office/powerpoint/2010/main" val="1262456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4F3FBCB-F379-3800-BC98-D45B0FAB5EED}"/>
              </a:ext>
            </a:extLst>
          </p:cNvPr>
          <p:cNvSpPr/>
          <p:nvPr/>
        </p:nvSpPr>
        <p:spPr>
          <a:xfrm>
            <a:off x="686941" y="2235782"/>
            <a:ext cx="10938538" cy="390040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761963B1-C38E-343C-CAA8-793F3A4D2A69}"/>
              </a:ext>
            </a:extLst>
          </p:cNvPr>
          <p:cNvSpPr>
            <a:spLocks noGrp="1"/>
          </p:cNvSpPr>
          <p:nvPr>
            <p:ph type="dt" sz="half" idx="10"/>
          </p:nvPr>
        </p:nvSpPr>
        <p:spPr/>
        <p:txBody>
          <a:bodyPr/>
          <a:lstStyle/>
          <a:p>
            <a:fld id="{454F8525-036F-492D-B68D-89010BB0BCDD}" type="datetime1">
              <a:t>9/23/2026</a:t>
            </a:fld>
            <a:endParaRPr lang="en-US" dirty="0"/>
          </a:p>
        </p:txBody>
      </p:sp>
      <p:sp>
        <p:nvSpPr>
          <p:cNvPr id="3" name="Footer Placeholder 2">
            <a:extLst>
              <a:ext uri="{FF2B5EF4-FFF2-40B4-BE49-F238E27FC236}">
                <a16:creationId xmlns:a16="http://schemas.microsoft.com/office/drawing/2014/main" id="{94D35773-846F-3DCC-9868-D71182F4A9FA}"/>
              </a:ext>
            </a:extLst>
          </p:cNvPr>
          <p:cNvSpPr>
            <a:spLocks noGrp="1"/>
          </p:cNvSpPr>
          <p:nvPr>
            <p:ph type="ftr" sz="quarter" idx="11"/>
          </p:nvPr>
        </p:nvSpPr>
        <p:spPr/>
        <p:txBody>
          <a:bodyPr/>
          <a:lstStyle/>
          <a:p>
            <a:r>
              <a:rPr lang="en-US" dirty="0"/>
              <a:t>
              </a:t>
            </a:r>
          </a:p>
        </p:txBody>
      </p:sp>
      <p:sp>
        <p:nvSpPr>
          <p:cNvPr id="5" name="object 3" descr="$PPTXTitle">
            <a:extLst>
              <a:ext uri="{FF2B5EF4-FFF2-40B4-BE49-F238E27FC236}">
                <a16:creationId xmlns:a16="http://schemas.microsoft.com/office/drawing/2014/main" id="{51E22A6A-D86F-C271-C494-76285BF9B269}"/>
              </a:ext>
            </a:extLst>
          </p:cNvPr>
          <p:cNvSpPr txBox="1">
            <a:spLocks noGrp="1"/>
          </p:cNvSpPr>
          <p:nvPr/>
        </p:nvSpPr>
        <p:spPr>
          <a:xfrm>
            <a:off x="685800" y="805592"/>
            <a:ext cx="10128121" cy="628377"/>
          </a:xfrm>
          <a:prstGeom prst="rect">
            <a:avLst/>
          </a:prstGeom>
        </p:spPr>
        <p:txBody>
          <a:bodyPr vert="horz" wrap="square" lIns="0" tIns="0" rIns="0" bIns="0" rtlCol="0" anchor="t">
            <a:spAutoFit/>
          </a:bodyPr>
          <a:lstStyle>
            <a:lvl1pPr>
              <a:defRPr sz="3900" b="0" i="0">
                <a:solidFill>
                  <a:srgbClr val="010101"/>
                </a:solidFill>
                <a:latin typeface="Georgia"/>
                <a:ea typeface="+mj-ea"/>
                <a:cs typeface="Georgia"/>
              </a:defRPr>
            </a:lvl1pPr>
          </a:lstStyle>
          <a:p>
            <a:pPr marL="12700" marR="5080">
              <a:lnSpc>
                <a:spcPts val="4880"/>
              </a:lnSpc>
            </a:pPr>
            <a:r>
              <a:rPr sz="4400" dirty="0">
                <a:solidFill>
                  <a:schemeClr val="tx1"/>
                </a:solidFill>
              </a:rPr>
              <a:t>Core</a:t>
            </a:r>
            <a:r>
              <a:rPr sz="4400" spc="-80" dirty="0">
                <a:solidFill>
                  <a:schemeClr val="tx1"/>
                </a:solidFill>
              </a:rPr>
              <a:t> </a:t>
            </a:r>
            <a:r>
              <a:rPr sz="4400" dirty="0">
                <a:solidFill>
                  <a:schemeClr val="tx1"/>
                </a:solidFill>
              </a:rPr>
              <a:t>Mechanics:</a:t>
            </a:r>
            <a:r>
              <a:rPr sz="4400" spc="-80" dirty="0">
                <a:solidFill>
                  <a:schemeClr val="tx1"/>
                </a:solidFill>
              </a:rPr>
              <a:t> </a:t>
            </a:r>
            <a:r>
              <a:rPr sz="4400" spc="-10" dirty="0">
                <a:solidFill>
                  <a:schemeClr val="tx1"/>
                </a:solidFill>
              </a:rPr>
              <a:t>Periodic Assessment</a:t>
            </a:r>
            <a:endParaRPr lang="en-US" sz="4400" spc="-10" dirty="0">
              <a:solidFill>
                <a:schemeClr val="tx1"/>
              </a:solidFill>
            </a:endParaRPr>
          </a:p>
        </p:txBody>
      </p:sp>
      <p:sp>
        <p:nvSpPr>
          <p:cNvPr id="6" name="object 4">
            <a:extLst>
              <a:ext uri="{FF2B5EF4-FFF2-40B4-BE49-F238E27FC236}">
                <a16:creationId xmlns:a16="http://schemas.microsoft.com/office/drawing/2014/main" id="{28819216-5A44-B25F-9AE7-32C3BCB7FED7}"/>
              </a:ext>
            </a:extLst>
          </p:cNvPr>
          <p:cNvSpPr txBox="1"/>
          <p:nvPr/>
        </p:nvSpPr>
        <p:spPr>
          <a:xfrm>
            <a:off x="3235961" y="2239270"/>
            <a:ext cx="8899396" cy="240450"/>
          </a:xfrm>
          <a:prstGeom prst="rect">
            <a:avLst/>
          </a:prstGeom>
        </p:spPr>
        <p:txBody>
          <a:bodyPr vert="horz" wrap="square" lIns="0" tIns="17145" rIns="0" bIns="0" rtlCol="0" anchor="t">
            <a:spAutoFit/>
          </a:bodyPr>
          <a:lstStyle>
            <a:defPPr>
              <a:defRPr kern="0"/>
            </a:defPPr>
          </a:lstStyle>
          <a:p>
            <a:pPr marL="12700">
              <a:spcBef>
                <a:spcPts val="135"/>
              </a:spcBef>
              <a:tabLst>
                <a:tab pos="3255010" algn="l"/>
              </a:tabLst>
            </a:pPr>
            <a:r>
              <a:rPr lang="en-US" sz="1450" spc="-25" dirty="0">
                <a:latin typeface="Georgia"/>
                <a:cs typeface="Georgia"/>
              </a:rPr>
              <a:t>Core-1                                                                                                                              </a:t>
            </a:r>
            <a:r>
              <a:rPr lang="en-US" sz="1450" dirty="0">
                <a:latin typeface="Georgia"/>
                <a:cs typeface="Georgia"/>
              </a:rPr>
              <a:t>                                   Core-2</a:t>
            </a:r>
          </a:p>
        </p:txBody>
      </p:sp>
      <p:sp>
        <p:nvSpPr>
          <p:cNvPr id="7" name="object 5">
            <a:extLst>
              <a:ext uri="{FF2B5EF4-FFF2-40B4-BE49-F238E27FC236}">
                <a16:creationId xmlns:a16="http://schemas.microsoft.com/office/drawing/2014/main" id="{2E203B47-EC67-CBCA-2133-636ADE935C8B}"/>
              </a:ext>
            </a:extLst>
          </p:cNvPr>
          <p:cNvSpPr/>
          <p:nvPr/>
        </p:nvSpPr>
        <p:spPr>
          <a:xfrm flipV="1">
            <a:off x="1148079" y="2560762"/>
            <a:ext cx="5257799" cy="101217"/>
          </a:xfrm>
          <a:custGeom>
            <a:avLst/>
            <a:gdLst/>
            <a:ahLst/>
            <a:cxnLst/>
            <a:rect l="l" t="t" r="r" b="b"/>
            <a:pathLst>
              <a:path w="3057525" h="19050">
                <a:moveTo>
                  <a:pt x="3057524" y="19049"/>
                </a:moveTo>
                <a:lnTo>
                  <a:pt x="0" y="19049"/>
                </a:lnTo>
                <a:lnTo>
                  <a:pt x="0" y="0"/>
                </a:lnTo>
                <a:lnTo>
                  <a:pt x="3057524" y="0"/>
                </a:lnTo>
                <a:lnTo>
                  <a:pt x="3057524" y="19049"/>
                </a:lnTo>
                <a:close/>
              </a:path>
            </a:pathLst>
          </a:custGeom>
          <a:solidFill>
            <a:srgbClr val="DF4E00"/>
          </a:solidFill>
        </p:spPr>
        <p:txBody>
          <a:bodyPr wrap="square" lIns="0" tIns="0" rIns="0" bIns="0" rtlCol="0"/>
          <a:lstStyle>
            <a:defPPr>
              <a:defRPr kern="0"/>
            </a:defPPr>
          </a:lstStyle>
          <a:p>
            <a:endParaRPr/>
          </a:p>
        </p:txBody>
      </p:sp>
      <p:sp>
        <p:nvSpPr>
          <p:cNvPr id="8" name="object 6">
            <a:extLst>
              <a:ext uri="{FF2B5EF4-FFF2-40B4-BE49-F238E27FC236}">
                <a16:creationId xmlns:a16="http://schemas.microsoft.com/office/drawing/2014/main" id="{BDFE9C03-67F1-F55B-02A1-4F5B601A3B2C}"/>
              </a:ext>
            </a:extLst>
          </p:cNvPr>
          <p:cNvSpPr txBox="1"/>
          <p:nvPr/>
        </p:nvSpPr>
        <p:spPr>
          <a:xfrm>
            <a:off x="1143001" y="2758694"/>
            <a:ext cx="5257800" cy="969111"/>
          </a:xfrm>
          <a:prstGeom prst="rect">
            <a:avLst/>
          </a:prstGeom>
        </p:spPr>
        <p:txBody>
          <a:bodyPr vert="horz" wrap="square" lIns="0" tIns="12700" rIns="0" bIns="0" rtlCol="0" anchor="t">
            <a:spAutoFit/>
          </a:bodyPr>
          <a:lstStyle>
            <a:defPPr>
              <a:defRPr kern="0"/>
            </a:defPPr>
          </a:lstStyle>
          <a:p>
            <a:pPr marL="12700" algn="just">
              <a:lnSpc>
                <a:spcPct val="100000"/>
              </a:lnSpc>
              <a:spcBef>
                <a:spcPts val="100"/>
              </a:spcBef>
            </a:pPr>
            <a:r>
              <a:rPr sz="1600" dirty="0">
                <a:latin typeface="Georgia"/>
                <a:cs typeface="Georgia"/>
              </a:rPr>
              <a:t>Policy</a:t>
            </a:r>
            <a:r>
              <a:rPr sz="1600" spc="-15" dirty="0">
                <a:latin typeface="Georgia"/>
                <a:cs typeface="Georgia"/>
              </a:rPr>
              <a:t> </a:t>
            </a:r>
            <a:r>
              <a:rPr sz="1600" spc="-10" dirty="0">
                <a:latin typeface="Georgia"/>
                <a:cs typeface="Georgia"/>
              </a:rPr>
              <a:t>Enforcement</a:t>
            </a:r>
            <a:r>
              <a:rPr lang="en-US" sz="1600" spc="-10" dirty="0">
                <a:latin typeface="Georgia"/>
                <a:cs typeface="Georgia"/>
              </a:rPr>
              <a:t>:</a:t>
            </a:r>
            <a:endParaRPr lang="en-US" sz="1600">
              <a:latin typeface="Georgia"/>
              <a:cs typeface="Georgia"/>
            </a:endParaRPr>
          </a:p>
          <a:p>
            <a:pPr marL="12700" marR="5080" algn="just">
              <a:lnSpc>
                <a:spcPct val="135800"/>
              </a:lnSpc>
              <a:spcBef>
                <a:spcPts val="615"/>
              </a:spcBef>
            </a:pPr>
            <a:r>
              <a:rPr sz="1600" dirty="0">
                <a:latin typeface="Trebuchet MS"/>
                <a:cs typeface="Trebuchet MS"/>
              </a:rPr>
              <a:t>Azure</a:t>
            </a:r>
            <a:r>
              <a:rPr sz="1600" spc="95" dirty="0">
                <a:latin typeface="Trebuchet MS"/>
                <a:cs typeface="Trebuchet MS"/>
              </a:rPr>
              <a:t> </a:t>
            </a:r>
            <a:r>
              <a:rPr sz="1600" dirty="0">
                <a:latin typeface="Trebuchet MS"/>
                <a:cs typeface="Trebuchet MS"/>
              </a:rPr>
              <a:t>Policy</a:t>
            </a:r>
            <a:r>
              <a:rPr sz="1600" spc="95" dirty="0">
                <a:latin typeface="Trebuchet MS"/>
                <a:cs typeface="Trebuchet MS"/>
              </a:rPr>
              <a:t> </a:t>
            </a:r>
            <a:r>
              <a:rPr sz="1600" dirty="0">
                <a:latin typeface="Trebuchet MS"/>
                <a:cs typeface="Trebuchet MS"/>
              </a:rPr>
              <a:t>at</a:t>
            </a:r>
            <a:r>
              <a:rPr sz="1600" spc="95" dirty="0">
                <a:latin typeface="Trebuchet MS"/>
                <a:cs typeface="Trebuchet MS"/>
              </a:rPr>
              <a:t> </a:t>
            </a:r>
            <a:r>
              <a:rPr sz="1600" spc="75" dirty="0">
                <a:latin typeface="Trebuchet MS"/>
                <a:cs typeface="Trebuchet MS"/>
              </a:rPr>
              <a:t>resource-</a:t>
            </a:r>
            <a:r>
              <a:rPr sz="1600" spc="40" dirty="0">
                <a:latin typeface="Trebuchet MS"/>
                <a:cs typeface="Trebuchet MS"/>
              </a:rPr>
              <a:t>group </a:t>
            </a:r>
            <a:r>
              <a:rPr sz="1600" spc="105" dirty="0">
                <a:latin typeface="Trebuchet MS"/>
                <a:cs typeface="Trebuchet MS"/>
              </a:rPr>
              <a:t>scope</a:t>
            </a:r>
            <a:r>
              <a:rPr sz="1600" spc="-25" dirty="0">
                <a:latin typeface="Trebuchet MS"/>
                <a:cs typeface="Trebuchet MS"/>
              </a:rPr>
              <a:t> </a:t>
            </a:r>
            <a:r>
              <a:rPr sz="1600" spc="65" dirty="0">
                <a:latin typeface="Trebuchet MS"/>
                <a:cs typeface="Trebuchet MS"/>
              </a:rPr>
              <a:t>ensures</a:t>
            </a:r>
            <a:r>
              <a:rPr sz="1600" spc="-20" dirty="0">
                <a:latin typeface="Trebuchet MS"/>
                <a:cs typeface="Trebuchet MS"/>
              </a:rPr>
              <a:t> </a:t>
            </a:r>
            <a:r>
              <a:rPr sz="1600" spc="65" dirty="0">
                <a:latin typeface="Trebuchet MS"/>
                <a:cs typeface="Trebuchet MS"/>
              </a:rPr>
              <a:t>machines</a:t>
            </a:r>
            <a:r>
              <a:rPr sz="1600" spc="-20" dirty="0">
                <a:latin typeface="Trebuchet MS"/>
                <a:cs typeface="Trebuchet MS"/>
              </a:rPr>
              <a:t> </a:t>
            </a:r>
            <a:r>
              <a:rPr sz="1600" spc="-10" dirty="0">
                <a:latin typeface="Trebuchet MS"/>
                <a:cs typeface="Trebuchet MS"/>
              </a:rPr>
              <a:t>report </a:t>
            </a:r>
            <a:r>
              <a:rPr sz="1600" spc="65" dirty="0">
                <a:latin typeface="Trebuchet MS"/>
                <a:cs typeface="Trebuchet MS"/>
              </a:rPr>
              <a:t>missing</a:t>
            </a:r>
            <a:r>
              <a:rPr sz="1600" spc="-30" dirty="0">
                <a:latin typeface="Trebuchet MS"/>
                <a:cs typeface="Trebuchet MS"/>
              </a:rPr>
              <a:t> </a:t>
            </a:r>
            <a:r>
              <a:rPr sz="1600" spc="65" dirty="0">
                <a:latin typeface="Trebuchet MS"/>
                <a:cs typeface="Trebuchet MS"/>
              </a:rPr>
              <a:t>updates</a:t>
            </a:r>
            <a:r>
              <a:rPr sz="1600" spc="-30" dirty="0">
                <a:latin typeface="Trebuchet MS"/>
                <a:cs typeface="Trebuchet MS"/>
              </a:rPr>
              <a:t> </a:t>
            </a:r>
            <a:r>
              <a:rPr sz="1600" spc="-10" dirty="0">
                <a:latin typeface="Trebuchet MS"/>
                <a:cs typeface="Trebuchet MS"/>
              </a:rPr>
              <a:t>automatically.</a:t>
            </a:r>
            <a:endParaRPr sz="1600" dirty="0">
              <a:latin typeface="Trebuchet MS"/>
              <a:cs typeface="Trebuchet MS"/>
            </a:endParaRPr>
          </a:p>
        </p:txBody>
      </p:sp>
      <p:sp>
        <p:nvSpPr>
          <p:cNvPr id="9" name="object 7">
            <a:extLst>
              <a:ext uri="{FF2B5EF4-FFF2-40B4-BE49-F238E27FC236}">
                <a16:creationId xmlns:a16="http://schemas.microsoft.com/office/drawing/2014/main" id="{096D2AC4-95BF-7C12-BC58-0D9E6160108D}"/>
              </a:ext>
            </a:extLst>
          </p:cNvPr>
          <p:cNvSpPr/>
          <p:nvPr/>
        </p:nvSpPr>
        <p:spPr>
          <a:xfrm flipV="1">
            <a:off x="6791961" y="2555873"/>
            <a:ext cx="4752974" cy="101219"/>
          </a:xfrm>
          <a:custGeom>
            <a:avLst/>
            <a:gdLst/>
            <a:ahLst/>
            <a:cxnLst/>
            <a:rect l="l" t="t" r="r" b="b"/>
            <a:pathLst>
              <a:path w="3057525" h="19050">
                <a:moveTo>
                  <a:pt x="3057524" y="19049"/>
                </a:moveTo>
                <a:lnTo>
                  <a:pt x="0" y="19049"/>
                </a:lnTo>
                <a:lnTo>
                  <a:pt x="0" y="0"/>
                </a:lnTo>
                <a:lnTo>
                  <a:pt x="3057524" y="0"/>
                </a:lnTo>
                <a:lnTo>
                  <a:pt x="3057524" y="19049"/>
                </a:lnTo>
                <a:close/>
              </a:path>
            </a:pathLst>
          </a:custGeom>
          <a:solidFill>
            <a:srgbClr val="DF4E00"/>
          </a:solidFill>
        </p:spPr>
        <p:txBody>
          <a:bodyPr wrap="square" lIns="0" tIns="0" rIns="0" bIns="0" rtlCol="0"/>
          <a:lstStyle>
            <a:defPPr>
              <a:defRPr kern="0"/>
            </a:defPPr>
          </a:lstStyle>
          <a:p>
            <a:endParaRPr/>
          </a:p>
        </p:txBody>
      </p:sp>
      <p:sp>
        <p:nvSpPr>
          <p:cNvPr id="10" name="object 8">
            <a:extLst>
              <a:ext uri="{FF2B5EF4-FFF2-40B4-BE49-F238E27FC236}">
                <a16:creationId xmlns:a16="http://schemas.microsoft.com/office/drawing/2014/main" id="{94827008-E323-AC05-FC41-4D115BF18658}"/>
              </a:ext>
            </a:extLst>
          </p:cNvPr>
          <p:cNvSpPr txBox="1"/>
          <p:nvPr/>
        </p:nvSpPr>
        <p:spPr>
          <a:xfrm>
            <a:off x="6934200" y="2758694"/>
            <a:ext cx="4860815" cy="969111"/>
          </a:xfrm>
          <a:prstGeom prst="rect">
            <a:avLst/>
          </a:prstGeom>
        </p:spPr>
        <p:txBody>
          <a:bodyPr vert="horz" wrap="square" lIns="0" tIns="12700" rIns="0" bIns="0" rtlCol="0" anchor="t">
            <a:spAutoFit/>
          </a:bodyPr>
          <a:lstStyle>
            <a:defPPr>
              <a:defRPr kern="0"/>
            </a:defPPr>
          </a:lstStyle>
          <a:p>
            <a:pPr marL="12700">
              <a:lnSpc>
                <a:spcPct val="100000"/>
              </a:lnSpc>
              <a:spcBef>
                <a:spcPts val="100"/>
              </a:spcBef>
            </a:pPr>
            <a:r>
              <a:rPr sz="1600" dirty="0">
                <a:latin typeface="Georgia"/>
                <a:cs typeface="Georgia"/>
              </a:rPr>
              <a:t>Automatic</a:t>
            </a:r>
            <a:r>
              <a:rPr sz="1600" spc="60" dirty="0">
                <a:latin typeface="Georgia"/>
                <a:cs typeface="Georgia"/>
              </a:rPr>
              <a:t> </a:t>
            </a:r>
            <a:r>
              <a:rPr sz="1600" spc="-10" dirty="0">
                <a:latin typeface="Georgia"/>
                <a:cs typeface="Georgia"/>
              </a:rPr>
              <a:t>Scanning</a:t>
            </a:r>
            <a:r>
              <a:rPr lang="en-US" sz="1600" spc="-10" dirty="0">
                <a:latin typeface="Georgia"/>
                <a:cs typeface="Georgia"/>
              </a:rPr>
              <a:t>:</a:t>
            </a:r>
            <a:endParaRPr lang="en-US" sz="1600" dirty="0">
              <a:latin typeface="Georgia"/>
              <a:cs typeface="Georgia"/>
            </a:endParaRPr>
          </a:p>
          <a:p>
            <a:pPr marL="12700" marR="5080">
              <a:lnSpc>
                <a:spcPct val="135800"/>
              </a:lnSpc>
              <a:spcBef>
                <a:spcPts val="615"/>
              </a:spcBef>
            </a:pPr>
            <a:r>
              <a:rPr sz="1600" dirty="0">
                <a:latin typeface="Trebuchet MS"/>
                <a:cs typeface="Trebuchet MS"/>
              </a:rPr>
              <a:t>Fleet</a:t>
            </a:r>
            <a:r>
              <a:rPr sz="1600" spc="25" dirty="0">
                <a:latin typeface="Trebuchet MS"/>
                <a:cs typeface="Trebuchet MS"/>
              </a:rPr>
              <a:t> </a:t>
            </a:r>
            <a:r>
              <a:rPr sz="1600" spc="105" dirty="0">
                <a:latin typeface="Trebuchet MS"/>
                <a:cs typeface="Trebuchet MS"/>
              </a:rPr>
              <a:t>scans</a:t>
            </a:r>
            <a:r>
              <a:rPr sz="1600" spc="30" dirty="0">
                <a:latin typeface="Trebuchet MS"/>
                <a:cs typeface="Trebuchet MS"/>
              </a:rPr>
              <a:t> </a:t>
            </a:r>
            <a:r>
              <a:rPr sz="1600" dirty="0">
                <a:latin typeface="Trebuchet MS"/>
                <a:cs typeface="Trebuchet MS"/>
              </a:rPr>
              <a:t>run</a:t>
            </a:r>
            <a:r>
              <a:rPr sz="1600" spc="30" dirty="0">
                <a:latin typeface="Trebuchet MS"/>
                <a:cs typeface="Trebuchet MS"/>
              </a:rPr>
              <a:t> </a:t>
            </a:r>
            <a:r>
              <a:rPr sz="1600" dirty="0">
                <a:latin typeface="Trebuchet MS"/>
                <a:cs typeface="Trebuchet MS"/>
              </a:rPr>
              <a:t>~every</a:t>
            </a:r>
            <a:r>
              <a:rPr sz="1600" spc="30" dirty="0">
                <a:latin typeface="Trebuchet MS"/>
                <a:cs typeface="Trebuchet MS"/>
              </a:rPr>
              <a:t> </a:t>
            </a:r>
            <a:r>
              <a:rPr sz="1600" spc="95" dirty="0">
                <a:latin typeface="Trebuchet MS"/>
                <a:cs typeface="Trebuchet MS"/>
              </a:rPr>
              <a:t>24</a:t>
            </a:r>
            <a:r>
              <a:rPr sz="1600" spc="30" dirty="0">
                <a:latin typeface="Trebuchet MS"/>
                <a:cs typeface="Trebuchet MS"/>
              </a:rPr>
              <a:t> </a:t>
            </a:r>
            <a:r>
              <a:rPr sz="1600" spc="-10" dirty="0">
                <a:latin typeface="Trebuchet MS"/>
                <a:cs typeface="Trebuchet MS"/>
              </a:rPr>
              <a:t>hours, </a:t>
            </a:r>
            <a:r>
              <a:rPr sz="1600" dirty="0">
                <a:latin typeface="Trebuchet MS"/>
                <a:cs typeface="Trebuchet MS"/>
              </a:rPr>
              <a:t>keeping</a:t>
            </a:r>
            <a:r>
              <a:rPr sz="1600" spc="105" dirty="0">
                <a:latin typeface="Trebuchet MS"/>
                <a:cs typeface="Trebuchet MS"/>
              </a:rPr>
              <a:t> </a:t>
            </a:r>
            <a:r>
              <a:rPr sz="1600" spc="55" dirty="0">
                <a:latin typeface="Trebuchet MS"/>
                <a:cs typeface="Trebuchet MS"/>
              </a:rPr>
              <a:t>compliance</a:t>
            </a:r>
            <a:r>
              <a:rPr sz="1600" spc="105" dirty="0">
                <a:latin typeface="Trebuchet MS"/>
                <a:cs typeface="Trebuchet MS"/>
              </a:rPr>
              <a:t> </a:t>
            </a:r>
            <a:r>
              <a:rPr sz="1600" dirty="0">
                <a:latin typeface="Trebuchet MS"/>
                <a:cs typeface="Trebuchet MS"/>
              </a:rPr>
              <a:t>data</a:t>
            </a:r>
            <a:r>
              <a:rPr sz="1600" spc="110" dirty="0">
                <a:latin typeface="Trebuchet MS"/>
                <a:cs typeface="Trebuchet MS"/>
              </a:rPr>
              <a:t> </a:t>
            </a:r>
            <a:r>
              <a:rPr sz="1600" spc="-10" dirty="0">
                <a:latin typeface="Trebuchet MS"/>
                <a:cs typeface="Trebuchet MS"/>
              </a:rPr>
              <a:t>current </a:t>
            </a:r>
            <a:r>
              <a:rPr sz="1600" dirty="0">
                <a:latin typeface="Trebuchet MS"/>
                <a:cs typeface="Trebuchet MS"/>
              </a:rPr>
              <a:t>without</a:t>
            </a:r>
            <a:r>
              <a:rPr sz="1600" spc="165" dirty="0">
                <a:latin typeface="Trebuchet MS"/>
                <a:cs typeface="Trebuchet MS"/>
              </a:rPr>
              <a:t> </a:t>
            </a:r>
            <a:r>
              <a:rPr sz="1600" dirty="0">
                <a:latin typeface="Trebuchet MS"/>
                <a:cs typeface="Trebuchet MS"/>
              </a:rPr>
              <a:t>manual</a:t>
            </a:r>
            <a:r>
              <a:rPr sz="1600" spc="165" dirty="0">
                <a:latin typeface="Trebuchet MS"/>
                <a:cs typeface="Trebuchet MS"/>
              </a:rPr>
              <a:t> </a:t>
            </a:r>
            <a:r>
              <a:rPr sz="1600" spc="-10" dirty="0">
                <a:latin typeface="Trebuchet MS"/>
                <a:cs typeface="Trebuchet MS"/>
              </a:rPr>
              <a:t>effort</a:t>
            </a:r>
            <a:r>
              <a:rPr sz="1450" spc="-10" dirty="0">
                <a:latin typeface="Trebuchet MS"/>
                <a:cs typeface="Trebuchet MS"/>
              </a:rPr>
              <a:t>.</a:t>
            </a:r>
            <a:endParaRPr sz="1450">
              <a:latin typeface="Trebuchet MS"/>
              <a:cs typeface="Trebuchet MS"/>
            </a:endParaRPr>
          </a:p>
        </p:txBody>
      </p:sp>
      <p:sp>
        <p:nvSpPr>
          <p:cNvPr id="11" name="object 9">
            <a:extLst>
              <a:ext uri="{FF2B5EF4-FFF2-40B4-BE49-F238E27FC236}">
                <a16:creationId xmlns:a16="http://schemas.microsoft.com/office/drawing/2014/main" id="{0FB9A5D1-71DE-7302-BEEB-1C7312F7F6E3}"/>
              </a:ext>
            </a:extLst>
          </p:cNvPr>
          <p:cNvSpPr/>
          <p:nvPr/>
        </p:nvSpPr>
        <p:spPr>
          <a:xfrm flipV="1">
            <a:off x="2316481" y="4409137"/>
            <a:ext cx="7543799" cy="125223"/>
          </a:xfrm>
          <a:custGeom>
            <a:avLst/>
            <a:gdLst/>
            <a:ahLst/>
            <a:cxnLst/>
            <a:rect l="l" t="t" r="r" b="b"/>
            <a:pathLst>
              <a:path w="6305550" h="19050">
                <a:moveTo>
                  <a:pt x="6305549" y="19049"/>
                </a:moveTo>
                <a:lnTo>
                  <a:pt x="0" y="19049"/>
                </a:lnTo>
                <a:lnTo>
                  <a:pt x="0" y="0"/>
                </a:lnTo>
                <a:lnTo>
                  <a:pt x="6305549" y="0"/>
                </a:lnTo>
                <a:lnTo>
                  <a:pt x="6305549" y="19049"/>
                </a:lnTo>
                <a:close/>
              </a:path>
            </a:pathLst>
          </a:custGeom>
          <a:solidFill>
            <a:srgbClr val="DF4E00"/>
          </a:solidFill>
        </p:spPr>
        <p:txBody>
          <a:bodyPr wrap="square" lIns="0" tIns="0" rIns="0" bIns="0" rtlCol="0"/>
          <a:lstStyle>
            <a:defPPr>
              <a:defRPr kern="0"/>
            </a:defPPr>
          </a:lstStyle>
          <a:p>
            <a:endParaRPr/>
          </a:p>
        </p:txBody>
      </p:sp>
      <p:sp>
        <p:nvSpPr>
          <p:cNvPr id="12" name="object 10">
            <a:extLst>
              <a:ext uri="{FF2B5EF4-FFF2-40B4-BE49-F238E27FC236}">
                <a16:creationId xmlns:a16="http://schemas.microsoft.com/office/drawing/2014/main" id="{EF37C6AE-B412-803A-A8A7-43EC20BF917C}"/>
              </a:ext>
            </a:extLst>
          </p:cNvPr>
          <p:cNvSpPr txBox="1"/>
          <p:nvPr/>
        </p:nvSpPr>
        <p:spPr>
          <a:xfrm>
            <a:off x="2387601" y="4184268"/>
            <a:ext cx="8416796" cy="1505477"/>
          </a:xfrm>
          <a:prstGeom prst="rect">
            <a:avLst/>
          </a:prstGeom>
        </p:spPr>
        <p:txBody>
          <a:bodyPr vert="horz" wrap="square" lIns="0" tIns="17145" rIns="0" bIns="0" rtlCol="0" anchor="t">
            <a:spAutoFit/>
          </a:bodyPr>
          <a:lstStyle>
            <a:defPPr>
              <a:defRPr kern="0"/>
            </a:defPPr>
          </a:lstStyle>
          <a:p>
            <a:pPr marL="12700">
              <a:spcBef>
                <a:spcPts val="135"/>
              </a:spcBef>
            </a:pPr>
            <a:r>
              <a:rPr lang="en-US" sz="1450" spc="-25" dirty="0">
                <a:solidFill>
                  <a:srgbClr val="373737"/>
                </a:solidFill>
                <a:latin typeface="Georgia"/>
                <a:cs typeface="Georgia"/>
              </a:rPr>
              <a:t>                                                                                          </a:t>
            </a:r>
            <a:r>
              <a:rPr lang="en-US" sz="1450" spc="-25" dirty="0">
                <a:latin typeface="Georgia"/>
                <a:cs typeface="Georgia"/>
              </a:rPr>
              <a:t>  Core-3</a:t>
            </a:r>
          </a:p>
          <a:p>
            <a:pPr>
              <a:lnSpc>
                <a:spcPct val="100000"/>
              </a:lnSpc>
              <a:spcBef>
                <a:spcPts val="15"/>
              </a:spcBef>
            </a:pPr>
            <a:endParaRPr sz="1450" dirty="0">
              <a:latin typeface="Georgia"/>
              <a:cs typeface="Georgia"/>
            </a:endParaRPr>
          </a:p>
          <a:p>
            <a:pPr marL="12700">
              <a:lnSpc>
                <a:spcPct val="100000"/>
              </a:lnSpc>
            </a:pPr>
            <a:r>
              <a:rPr sz="1600" dirty="0">
                <a:latin typeface="Georgia"/>
                <a:cs typeface="Georgia"/>
              </a:rPr>
              <a:t>On-</a:t>
            </a:r>
            <a:r>
              <a:rPr sz="1600" spc="-20" dirty="0">
                <a:latin typeface="Georgia"/>
                <a:cs typeface="Georgia"/>
              </a:rPr>
              <a:t>Demand</a:t>
            </a:r>
            <a:r>
              <a:rPr sz="1600" spc="-10" dirty="0">
                <a:latin typeface="Georgia"/>
                <a:cs typeface="Georgia"/>
              </a:rPr>
              <a:t> Assessment</a:t>
            </a:r>
            <a:endParaRPr sz="1600">
              <a:latin typeface="Georgia"/>
              <a:cs typeface="Georgia"/>
            </a:endParaRPr>
          </a:p>
          <a:p>
            <a:pPr marL="12700" marR="5080">
              <a:lnSpc>
                <a:spcPct val="137900"/>
              </a:lnSpc>
              <a:spcBef>
                <a:spcPts val="575"/>
              </a:spcBef>
            </a:pPr>
            <a:r>
              <a:rPr sz="1600" dirty="0">
                <a:latin typeface="Trebuchet MS"/>
                <a:cs typeface="Trebuchet MS"/>
              </a:rPr>
              <a:t>Trigger</a:t>
            </a:r>
            <a:r>
              <a:rPr sz="1600" spc="30" dirty="0">
                <a:latin typeface="Trebuchet MS"/>
                <a:cs typeface="Trebuchet MS"/>
              </a:rPr>
              <a:t> </a:t>
            </a:r>
            <a:r>
              <a:rPr sz="1600" dirty="0">
                <a:latin typeface="Trebuchet MS"/>
                <a:cs typeface="Trebuchet MS"/>
              </a:rPr>
              <a:t>immediate,</a:t>
            </a:r>
            <a:r>
              <a:rPr sz="1600" spc="35" dirty="0">
                <a:latin typeface="Trebuchet MS"/>
                <a:cs typeface="Trebuchet MS"/>
              </a:rPr>
              <a:t> </a:t>
            </a:r>
            <a:r>
              <a:rPr sz="1600" spc="-10" dirty="0">
                <a:latin typeface="Trebuchet MS"/>
                <a:cs typeface="Trebuchet MS"/>
              </a:rPr>
              <a:t>fleet</a:t>
            </a:r>
            <a:r>
              <a:rPr sz="1600" spc="-10" dirty="0">
                <a:latin typeface="PMingLiU-ExtB"/>
                <a:cs typeface="PMingLiU-ExtB"/>
              </a:rPr>
              <a:t>-</a:t>
            </a:r>
            <a:r>
              <a:rPr sz="1600" dirty="0">
                <a:latin typeface="Trebuchet MS"/>
                <a:cs typeface="Trebuchet MS"/>
              </a:rPr>
              <a:t>wide</a:t>
            </a:r>
            <a:r>
              <a:rPr sz="1600" spc="35" dirty="0">
                <a:latin typeface="Trebuchet MS"/>
                <a:cs typeface="Trebuchet MS"/>
              </a:rPr>
              <a:t> </a:t>
            </a:r>
            <a:r>
              <a:rPr sz="1600" spc="105" dirty="0">
                <a:latin typeface="Trebuchet MS"/>
                <a:cs typeface="Trebuchet MS"/>
              </a:rPr>
              <a:t>scans</a:t>
            </a:r>
            <a:r>
              <a:rPr sz="1600" spc="35" dirty="0">
                <a:latin typeface="Trebuchet MS"/>
                <a:cs typeface="Trebuchet MS"/>
              </a:rPr>
              <a:t> </a:t>
            </a:r>
            <a:r>
              <a:rPr sz="1600" dirty="0">
                <a:latin typeface="Trebuchet MS"/>
                <a:cs typeface="Trebuchet MS"/>
              </a:rPr>
              <a:t>for</a:t>
            </a:r>
            <a:r>
              <a:rPr sz="1600" spc="35" dirty="0">
                <a:latin typeface="Trebuchet MS"/>
                <a:cs typeface="Trebuchet MS"/>
              </a:rPr>
              <a:t> </a:t>
            </a:r>
            <a:r>
              <a:rPr sz="1600" dirty="0">
                <a:latin typeface="Trebuchet MS"/>
                <a:cs typeface="Trebuchet MS"/>
              </a:rPr>
              <a:t>zero</a:t>
            </a:r>
            <a:r>
              <a:rPr sz="1600" dirty="0">
                <a:latin typeface="PMingLiU-ExtB"/>
                <a:cs typeface="PMingLiU-ExtB"/>
              </a:rPr>
              <a:t>-</a:t>
            </a:r>
            <a:r>
              <a:rPr sz="1600" spc="80" dirty="0">
                <a:latin typeface="Trebuchet MS"/>
                <a:cs typeface="Trebuchet MS"/>
              </a:rPr>
              <a:t>day</a:t>
            </a:r>
            <a:r>
              <a:rPr sz="1600" spc="35" dirty="0">
                <a:latin typeface="Trebuchet MS"/>
                <a:cs typeface="Trebuchet MS"/>
              </a:rPr>
              <a:t> </a:t>
            </a:r>
            <a:r>
              <a:rPr sz="1600" dirty="0">
                <a:latin typeface="Trebuchet MS"/>
                <a:cs typeface="Trebuchet MS"/>
              </a:rPr>
              <a:t>vulnerabilities</a:t>
            </a:r>
            <a:r>
              <a:rPr sz="1600" spc="35" dirty="0">
                <a:latin typeface="Trebuchet MS"/>
                <a:cs typeface="Trebuchet MS"/>
              </a:rPr>
              <a:t> </a:t>
            </a:r>
            <a:r>
              <a:rPr sz="1600" spc="-25" dirty="0">
                <a:latin typeface="Trebuchet MS"/>
                <a:cs typeface="Trebuchet MS"/>
              </a:rPr>
              <a:t>or </a:t>
            </a:r>
            <a:r>
              <a:rPr sz="1600" spc="65" dirty="0">
                <a:latin typeface="Trebuchet MS"/>
                <a:cs typeface="Trebuchet MS"/>
              </a:rPr>
              <a:t>emergency</a:t>
            </a:r>
            <a:endParaRPr lang="en-US" sz="1450" dirty="0">
              <a:latin typeface="Trebuchet MS"/>
              <a:cs typeface="Trebuchet MS"/>
            </a:endParaRPr>
          </a:p>
          <a:p>
            <a:pPr marL="12700" marR="5080">
              <a:lnSpc>
                <a:spcPct val="137900"/>
              </a:lnSpc>
              <a:spcBef>
                <a:spcPts val="575"/>
              </a:spcBef>
            </a:pPr>
            <a:r>
              <a:rPr lang="en-US" sz="1600" spc="-35" dirty="0">
                <a:latin typeface="Trebuchet MS"/>
                <a:cs typeface="Trebuchet MS"/>
              </a:rPr>
              <a:t> </a:t>
            </a:r>
            <a:r>
              <a:rPr sz="1600" spc="-10" dirty="0">
                <a:latin typeface="Trebuchet MS"/>
                <a:cs typeface="Trebuchet MS"/>
              </a:rPr>
              <a:t>reviews</a:t>
            </a:r>
            <a:r>
              <a:rPr sz="1450" spc="-10" dirty="0">
                <a:latin typeface="Trebuchet MS"/>
                <a:cs typeface="Trebuchet MS"/>
              </a:rPr>
              <a:t>.</a:t>
            </a:r>
            <a:endParaRPr sz="1450">
              <a:latin typeface="Trebuchet MS"/>
              <a:cs typeface="Trebuchet MS"/>
            </a:endParaRPr>
          </a:p>
        </p:txBody>
      </p:sp>
    </p:spTree>
    <p:extLst>
      <p:ext uri="{BB962C8B-B14F-4D97-AF65-F5344CB8AC3E}">
        <p14:creationId xmlns:p14="http://schemas.microsoft.com/office/powerpoint/2010/main" val="1819686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6240DC4-96CD-9C20-75F5-9526BB88BFD5}"/>
              </a:ext>
            </a:extLst>
          </p:cNvPr>
          <p:cNvSpPr/>
          <p:nvPr/>
        </p:nvSpPr>
        <p:spPr>
          <a:xfrm>
            <a:off x="5391021" y="2124022"/>
            <a:ext cx="5848378" cy="390040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E4896DB0-75DC-D9F4-E967-7337B8F14FBD}"/>
              </a:ext>
            </a:extLst>
          </p:cNvPr>
          <p:cNvSpPr>
            <a:spLocks noGrp="1"/>
          </p:cNvSpPr>
          <p:nvPr>
            <p:ph type="dt" sz="half" idx="10"/>
          </p:nvPr>
        </p:nvSpPr>
        <p:spPr/>
        <p:txBody>
          <a:bodyPr/>
          <a:lstStyle/>
          <a:p>
            <a:fld id="{AF6E53ED-B99E-4C1E-8C4A-0D7068717ED2}" type="datetime1">
              <a:t>9/23/2026</a:t>
            </a:fld>
            <a:endParaRPr lang="en-US" dirty="0"/>
          </a:p>
        </p:txBody>
      </p:sp>
      <p:sp>
        <p:nvSpPr>
          <p:cNvPr id="3" name="Footer Placeholder 2">
            <a:extLst>
              <a:ext uri="{FF2B5EF4-FFF2-40B4-BE49-F238E27FC236}">
                <a16:creationId xmlns:a16="http://schemas.microsoft.com/office/drawing/2014/main" id="{481ACC74-976E-BF0A-9B5E-D15A9A5D0449}"/>
              </a:ext>
            </a:extLst>
          </p:cNvPr>
          <p:cNvSpPr>
            <a:spLocks noGrp="1"/>
          </p:cNvSpPr>
          <p:nvPr>
            <p:ph type="ftr" sz="quarter" idx="11"/>
          </p:nvPr>
        </p:nvSpPr>
        <p:spPr/>
        <p:txBody>
          <a:bodyPr/>
          <a:lstStyle/>
          <a:p>
            <a:r>
              <a:rPr lang="en-US" dirty="0"/>
              <a:t>
              </a:t>
            </a:r>
          </a:p>
        </p:txBody>
      </p:sp>
      <p:sp>
        <p:nvSpPr>
          <p:cNvPr id="5" name="object 2" descr="$PPTXTitle">
            <a:extLst>
              <a:ext uri="{FF2B5EF4-FFF2-40B4-BE49-F238E27FC236}">
                <a16:creationId xmlns:a16="http://schemas.microsoft.com/office/drawing/2014/main" id="{5B67AB01-916B-516E-43DF-DFD2B1E7A914}"/>
              </a:ext>
            </a:extLst>
          </p:cNvPr>
          <p:cNvSpPr txBox="1">
            <a:spLocks noGrp="1"/>
          </p:cNvSpPr>
          <p:nvPr/>
        </p:nvSpPr>
        <p:spPr>
          <a:xfrm>
            <a:off x="648840" y="632428"/>
            <a:ext cx="10753725" cy="1746694"/>
          </a:xfrm>
          <a:prstGeom prst="rect">
            <a:avLst/>
          </a:prstGeom>
        </p:spPr>
        <p:txBody>
          <a:bodyPr vert="horz" wrap="square" lIns="0" tIns="506539" rIns="0" bIns="0" rtlCol="0" anchor="t">
            <a:spAutoFit/>
          </a:bodyPr>
          <a:lstStyle>
            <a:lvl1pPr>
              <a:defRPr sz="3900" b="0" i="0">
                <a:solidFill>
                  <a:srgbClr val="010101"/>
                </a:solidFill>
                <a:latin typeface="Georgia"/>
                <a:ea typeface="+mj-ea"/>
                <a:cs typeface="Georgia"/>
              </a:defRPr>
            </a:lvl1pPr>
          </a:lstStyle>
          <a:p>
            <a:pPr marL="12700" marR="5080">
              <a:lnSpc>
                <a:spcPts val="4880"/>
              </a:lnSpc>
            </a:pPr>
            <a:r>
              <a:rPr dirty="0">
                <a:solidFill>
                  <a:schemeClr val="tx1"/>
                </a:solidFill>
              </a:rPr>
              <a:t>Intelligent</a:t>
            </a:r>
            <a:r>
              <a:rPr spc="204" dirty="0">
                <a:solidFill>
                  <a:schemeClr val="tx1"/>
                </a:solidFill>
              </a:rPr>
              <a:t> </a:t>
            </a:r>
            <a:r>
              <a:rPr dirty="0">
                <a:solidFill>
                  <a:schemeClr val="tx1"/>
                </a:solidFill>
              </a:rPr>
              <a:t>Scheduling:</a:t>
            </a:r>
            <a:r>
              <a:rPr spc="204" dirty="0">
                <a:solidFill>
                  <a:schemeClr val="tx1"/>
                </a:solidFill>
              </a:rPr>
              <a:t> </a:t>
            </a:r>
            <a:r>
              <a:rPr spc="-10" dirty="0">
                <a:solidFill>
                  <a:schemeClr val="tx1"/>
                </a:solidFill>
              </a:rPr>
              <a:t>Maintenance</a:t>
            </a:r>
            <a:r>
              <a:rPr spc="-10" dirty="0"/>
              <a:t> Configurations</a:t>
            </a:r>
          </a:p>
        </p:txBody>
      </p:sp>
      <p:pic>
        <p:nvPicPr>
          <p:cNvPr id="6" name="object 3">
            <a:extLst>
              <a:ext uri="{FF2B5EF4-FFF2-40B4-BE49-F238E27FC236}">
                <a16:creationId xmlns:a16="http://schemas.microsoft.com/office/drawing/2014/main" id="{7936C748-7837-80DD-1689-AFFCA1401A7A}"/>
              </a:ext>
            </a:extLst>
          </p:cNvPr>
          <p:cNvPicPr/>
          <p:nvPr/>
        </p:nvPicPr>
        <p:blipFill>
          <a:blip r:embed="rId2" cstate="print"/>
          <a:stretch>
            <a:fillRect/>
          </a:stretch>
        </p:blipFill>
        <p:spPr>
          <a:xfrm>
            <a:off x="657225" y="2886075"/>
            <a:ext cx="4638674" cy="2609849"/>
          </a:xfrm>
          <a:prstGeom prst="rect">
            <a:avLst/>
          </a:prstGeom>
        </p:spPr>
      </p:pic>
      <p:pic>
        <p:nvPicPr>
          <p:cNvPr id="7" name="object 4">
            <a:extLst>
              <a:ext uri="{FF2B5EF4-FFF2-40B4-BE49-F238E27FC236}">
                <a16:creationId xmlns:a16="http://schemas.microsoft.com/office/drawing/2014/main" id="{9CE607DB-4133-9845-DF00-0787982E06DB}"/>
              </a:ext>
            </a:extLst>
          </p:cNvPr>
          <p:cNvPicPr/>
          <p:nvPr/>
        </p:nvPicPr>
        <p:blipFill>
          <a:blip r:embed="rId3" cstate="print"/>
          <a:stretch>
            <a:fillRect/>
          </a:stretch>
        </p:blipFill>
        <p:spPr>
          <a:xfrm>
            <a:off x="5810248" y="4076699"/>
            <a:ext cx="66675" cy="66674"/>
          </a:xfrm>
          <a:prstGeom prst="rect">
            <a:avLst/>
          </a:prstGeom>
        </p:spPr>
      </p:pic>
      <p:pic>
        <p:nvPicPr>
          <p:cNvPr id="8" name="object 5">
            <a:extLst>
              <a:ext uri="{FF2B5EF4-FFF2-40B4-BE49-F238E27FC236}">
                <a16:creationId xmlns:a16="http://schemas.microsoft.com/office/drawing/2014/main" id="{058D0EDA-EDF4-3C7B-04FE-E6EA814EFB9B}"/>
              </a:ext>
            </a:extLst>
          </p:cNvPr>
          <p:cNvPicPr/>
          <p:nvPr/>
        </p:nvPicPr>
        <p:blipFill>
          <a:blip r:embed="rId3" cstate="print"/>
          <a:stretch>
            <a:fillRect/>
          </a:stretch>
        </p:blipFill>
        <p:spPr>
          <a:xfrm>
            <a:off x="5810248" y="4743449"/>
            <a:ext cx="66675" cy="66674"/>
          </a:xfrm>
          <a:prstGeom prst="rect">
            <a:avLst/>
          </a:prstGeom>
        </p:spPr>
      </p:pic>
      <p:pic>
        <p:nvPicPr>
          <p:cNvPr id="9" name="object 6">
            <a:extLst>
              <a:ext uri="{FF2B5EF4-FFF2-40B4-BE49-F238E27FC236}">
                <a16:creationId xmlns:a16="http://schemas.microsoft.com/office/drawing/2014/main" id="{5204A523-19FE-112E-0873-AC8D74581EC4}"/>
              </a:ext>
            </a:extLst>
          </p:cNvPr>
          <p:cNvPicPr/>
          <p:nvPr/>
        </p:nvPicPr>
        <p:blipFill>
          <a:blip r:embed="rId3" cstate="print"/>
          <a:stretch>
            <a:fillRect/>
          </a:stretch>
        </p:blipFill>
        <p:spPr>
          <a:xfrm>
            <a:off x="5810248" y="5419724"/>
            <a:ext cx="66675" cy="66674"/>
          </a:xfrm>
          <a:prstGeom prst="rect">
            <a:avLst/>
          </a:prstGeom>
        </p:spPr>
      </p:pic>
      <p:sp>
        <p:nvSpPr>
          <p:cNvPr id="10" name="object 7">
            <a:extLst>
              <a:ext uri="{FF2B5EF4-FFF2-40B4-BE49-F238E27FC236}">
                <a16:creationId xmlns:a16="http://schemas.microsoft.com/office/drawing/2014/main" id="{7B5251AB-7C58-6176-597E-C9E44CF2D859}"/>
              </a:ext>
            </a:extLst>
          </p:cNvPr>
          <p:cNvSpPr txBox="1"/>
          <p:nvPr/>
        </p:nvSpPr>
        <p:spPr>
          <a:xfrm>
            <a:off x="5756770" y="2825445"/>
            <a:ext cx="5345430" cy="2740025"/>
          </a:xfrm>
          <a:prstGeom prst="rect">
            <a:avLst/>
          </a:prstGeom>
        </p:spPr>
        <p:txBody>
          <a:bodyPr vert="horz" wrap="square" lIns="0" tIns="6985" rIns="0" bIns="0" rtlCol="0" anchor="t">
            <a:spAutoFit/>
          </a:bodyPr>
          <a:lstStyle>
            <a:defPPr>
              <a:defRPr kern="0"/>
            </a:defPPr>
          </a:lstStyle>
          <a:p>
            <a:pPr marL="12700" marR="147320">
              <a:lnSpc>
                <a:spcPct val="135800"/>
              </a:lnSpc>
              <a:spcBef>
                <a:spcPts val="55"/>
              </a:spcBef>
            </a:pPr>
            <a:r>
              <a:rPr sz="1450" b="1" spc="75" dirty="0">
                <a:latin typeface="Trebuchet MS"/>
                <a:cs typeface="Trebuchet MS"/>
              </a:rPr>
              <a:t>Maintenance</a:t>
            </a:r>
            <a:r>
              <a:rPr sz="1450" b="1" dirty="0">
                <a:latin typeface="Trebuchet MS"/>
                <a:cs typeface="Trebuchet MS"/>
              </a:rPr>
              <a:t> </a:t>
            </a:r>
            <a:r>
              <a:rPr sz="1450" b="1" spc="90" dirty="0">
                <a:latin typeface="Trebuchet MS"/>
                <a:cs typeface="Trebuchet MS"/>
              </a:rPr>
              <a:t>Windows</a:t>
            </a:r>
            <a:r>
              <a:rPr sz="1450" b="1" spc="55" dirty="0">
                <a:latin typeface="Trebuchet MS"/>
                <a:cs typeface="Trebuchet MS"/>
              </a:rPr>
              <a:t> </a:t>
            </a:r>
            <a:r>
              <a:rPr sz="1450" dirty="0">
                <a:latin typeface="Trebuchet MS"/>
                <a:cs typeface="Trebuchet MS"/>
              </a:rPr>
              <a:t>defined</a:t>
            </a:r>
            <a:r>
              <a:rPr sz="1450" spc="60" dirty="0">
                <a:latin typeface="Trebuchet MS"/>
                <a:cs typeface="Trebuchet MS"/>
              </a:rPr>
              <a:t> </a:t>
            </a:r>
            <a:r>
              <a:rPr sz="1450" dirty="0">
                <a:latin typeface="Trebuchet MS"/>
                <a:cs typeface="Trebuchet MS"/>
              </a:rPr>
              <a:t>via</a:t>
            </a:r>
            <a:r>
              <a:rPr sz="1450" spc="55" dirty="0">
                <a:latin typeface="Trebuchet MS"/>
                <a:cs typeface="Trebuchet MS"/>
              </a:rPr>
              <a:t> </a:t>
            </a:r>
            <a:r>
              <a:rPr sz="1450" spc="-10" dirty="0">
                <a:latin typeface="Trebuchet MS"/>
                <a:cs typeface="Trebuchet MS"/>
              </a:rPr>
              <a:t>Microsoft.Maintenance</a:t>
            </a:r>
            <a:r>
              <a:rPr sz="1450" spc="65" dirty="0">
                <a:latin typeface="Trebuchet MS"/>
                <a:cs typeface="Trebuchet MS"/>
              </a:rPr>
              <a:t> resources</a:t>
            </a:r>
            <a:r>
              <a:rPr sz="1450" spc="80" dirty="0">
                <a:latin typeface="Trebuchet MS"/>
                <a:cs typeface="Trebuchet MS"/>
              </a:rPr>
              <a:t> </a:t>
            </a:r>
            <a:r>
              <a:rPr sz="1450" dirty="0">
                <a:latin typeface="Trebuchet MS"/>
                <a:cs typeface="Trebuchet MS"/>
              </a:rPr>
              <a:t>control</a:t>
            </a:r>
            <a:r>
              <a:rPr sz="1450" spc="85" dirty="0">
                <a:latin typeface="Trebuchet MS"/>
                <a:cs typeface="Trebuchet MS"/>
              </a:rPr>
              <a:t> </a:t>
            </a:r>
            <a:r>
              <a:rPr sz="1450" dirty="0">
                <a:latin typeface="Trebuchet MS"/>
                <a:cs typeface="Trebuchet MS"/>
              </a:rPr>
              <a:t>schedule,</a:t>
            </a:r>
            <a:r>
              <a:rPr sz="1450" spc="85" dirty="0">
                <a:latin typeface="Trebuchet MS"/>
                <a:cs typeface="Trebuchet MS"/>
              </a:rPr>
              <a:t> </a:t>
            </a:r>
            <a:r>
              <a:rPr sz="1450" dirty="0">
                <a:latin typeface="Trebuchet MS"/>
                <a:cs typeface="Trebuchet MS"/>
              </a:rPr>
              <a:t>duration,</a:t>
            </a:r>
            <a:r>
              <a:rPr sz="1450" spc="80" dirty="0">
                <a:latin typeface="Trebuchet MS"/>
                <a:cs typeface="Trebuchet MS"/>
              </a:rPr>
              <a:t> </a:t>
            </a:r>
            <a:r>
              <a:rPr sz="1450" spc="70" dirty="0">
                <a:latin typeface="Trebuchet MS"/>
                <a:cs typeface="Trebuchet MS"/>
              </a:rPr>
              <a:t>and</a:t>
            </a:r>
            <a:r>
              <a:rPr sz="1450" spc="85" dirty="0">
                <a:latin typeface="Trebuchet MS"/>
                <a:cs typeface="Trebuchet MS"/>
              </a:rPr>
              <a:t> </a:t>
            </a:r>
            <a:r>
              <a:rPr sz="1450" dirty="0">
                <a:latin typeface="Trebuchet MS"/>
                <a:cs typeface="Trebuchet MS"/>
              </a:rPr>
              <a:t>reboot</a:t>
            </a:r>
            <a:r>
              <a:rPr sz="1450" spc="85" dirty="0">
                <a:latin typeface="Trebuchet MS"/>
                <a:cs typeface="Trebuchet MS"/>
              </a:rPr>
              <a:t> </a:t>
            </a:r>
            <a:r>
              <a:rPr sz="1450" spc="-10" dirty="0">
                <a:latin typeface="Trebuchet MS"/>
                <a:cs typeface="Trebuchet MS"/>
              </a:rPr>
              <a:t>behavior centrally.</a:t>
            </a:r>
            <a:endParaRPr lang="en-US" sz="1450">
              <a:latin typeface="Trebuchet MS"/>
              <a:cs typeface="Trebuchet MS"/>
            </a:endParaRPr>
          </a:p>
          <a:p>
            <a:pPr marL="314960" marR="5080">
              <a:lnSpc>
                <a:spcPct val="133600"/>
              </a:lnSpc>
              <a:spcBef>
                <a:spcPts val="1425"/>
              </a:spcBef>
            </a:pPr>
            <a:r>
              <a:rPr sz="1450" spc="75" dirty="0">
                <a:latin typeface="Trebuchet MS"/>
                <a:cs typeface="Trebuchet MS"/>
              </a:rPr>
              <a:t>Use</a:t>
            </a:r>
            <a:r>
              <a:rPr sz="1450" spc="-5" dirty="0">
                <a:latin typeface="Trebuchet MS"/>
                <a:cs typeface="Trebuchet MS"/>
              </a:rPr>
              <a:t> </a:t>
            </a:r>
            <a:r>
              <a:rPr sz="1450" spc="20" dirty="0">
                <a:latin typeface="Trebuchet MS"/>
                <a:cs typeface="Trebuchet MS"/>
              </a:rPr>
              <a:t>tags/resource</a:t>
            </a:r>
            <a:r>
              <a:rPr sz="1450" spc="-5" dirty="0">
                <a:latin typeface="Trebuchet MS"/>
                <a:cs typeface="Trebuchet MS"/>
              </a:rPr>
              <a:t> </a:t>
            </a:r>
            <a:r>
              <a:rPr sz="1450" spc="75" dirty="0">
                <a:latin typeface="Trebuchet MS"/>
                <a:cs typeface="Trebuchet MS"/>
              </a:rPr>
              <a:t>groups</a:t>
            </a:r>
            <a:r>
              <a:rPr sz="1450" spc="-5" dirty="0">
                <a:latin typeface="Trebuchet MS"/>
                <a:cs typeface="Trebuchet MS"/>
              </a:rPr>
              <a:t> </a:t>
            </a:r>
            <a:r>
              <a:rPr sz="1450" spc="20" dirty="0">
                <a:latin typeface="Trebuchet MS"/>
                <a:cs typeface="Trebuchet MS"/>
              </a:rPr>
              <a:t>for</a:t>
            </a:r>
            <a:r>
              <a:rPr sz="1450" spc="-5" dirty="0">
                <a:latin typeface="Trebuchet MS"/>
                <a:cs typeface="Trebuchet MS"/>
              </a:rPr>
              <a:t> </a:t>
            </a:r>
            <a:r>
              <a:rPr sz="1450" spc="70" dirty="0">
                <a:latin typeface="Trebuchet MS"/>
                <a:cs typeface="Trebuchet MS"/>
              </a:rPr>
              <a:t>dynamic</a:t>
            </a:r>
            <a:r>
              <a:rPr sz="1450" spc="-5" dirty="0">
                <a:latin typeface="Trebuchet MS"/>
                <a:cs typeface="Trebuchet MS"/>
              </a:rPr>
              <a:t> </a:t>
            </a:r>
            <a:r>
              <a:rPr sz="1450" spc="80" dirty="0">
                <a:latin typeface="Trebuchet MS"/>
                <a:cs typeface="Trebuchet MS"/>
              </a:rPr>
              <a:t>scoping</a:t>
            </a:r>
            <a:r>
              <a:rPr sz="1450" spc="-5" dirty="0">
                <a:latin typeface="Trebuchet MS"/>
                <a:cs typeface="Trebuchet MS"/>
              </a:rPr>
              <a:t> </a:t>
            </a:r>
            <a:r>
              <a:rPr sz="1450" spc="70" dirty="0">
                <a:latin typeface="Trebuchet MS"/>
                <a:cs typeface="Trebuchet MS"/>
              </a:rPr>
              <a:t>and</a:t>
            </a:r>
            <a:r>
              <a:rPr sz="1450" spc="-5" dirty="0">
                <a:latin typeface="Trebuchet MS"/>
                <a:cs typeface="Trebuchet MS"/>
              </a:rPr>
              <a:t> </a:t>
            </a:r>
            <a:r>
              <a:rPr sz="1450" spc="75" dirty="0">
                <a:latin typeface="Trebuchet MS"/>
                <a:cs typeface="Trebuchet MS"/>
              </a:rPr>
              <a:t>auto-</a:t>
            </a:r>
            <a:r>
              <a:rPr sz="1450" spc="-10" dirty="0">
                <a:latin typeface="Trebuchet MS"/>
                <a:cs typeface="Trebuchet MS"/>
              </a:rPr>
              <a:t>enrollment</a:t>
            </a:r>
            <a:endParaRPr sz="1450">
              <a:latin typeface="Trebuchet MS"/>
              <a:cs typeface="Trebuchet MS"/>
            </a:endParaRPr>
          </a:p>
          <a:p>
            <a:pPr marL="314960" marR="248920">
              <a:lnSpc>
                <a:spcPct val="137900"/>
              </a:lnSpc>
              <a:spcBef>
                <a:spcPts val="525"/>
              </a:spcBef>
            </a:pPr>
            <a:r>
              <a:rPr sz="1450" dirty="0">
                <a:latin typeface="Trebuchet MS"/>
                <a:cs typeface="Trebuchet MS"/>
              </a:rPr>
              <a:t>Exclude</a:t>
            </a:r>
            <a:r>
              <a:rPr sz="1450" spc="60" dirty="0">
                <a:latin typeface="Trebuchet MS"/>
                <a:cs typeface="Trebuchet MS"/>
              </a:rPr>
              <a:t> </a:t>
            </a:r>
            <a:r>
              <a:rPr sz="1450" spc="50" dirty="0">
                <a:latin typeface="Trebuchet MS"/>
                <a:cs typeface="Trebuchet MS"/>
              </a:rPr>
              <a:t>specific</a:t>
            </a:r>
            <a:r>
              <a:rPr sz="1450" spc="60" dirty="0">
                <a:latin typeface="Trebuchet MS"/>
                <a:cs typeface="Trebuchet MS"/>
              </a:rPr>
              <a:t> </a:t>
            </a:r>
            <a:r>
              <a:rPr sz="1450" spc="75" dirty="0">
                <a:latin typeface="Trebuchet MS"/>
                <a:cs typeface="Trebuchet MS"/>
              </a:rPr>
              <a:t>KBs</a:t>
            </a:r>
            <a:r>
              <a:rPr sz="1450" spc="65" dirty="0">
                <a:latin typeface="Trebuchet MS"/>
                <a:cs typeface="Trebuchet MS"/>
              </a:rPr>
              <a:t> </a:t>
            </a:r>
            <a:r>
              <a:rPr sz="1450" dirty="0">
                <a:latin typeface="Trebuchet MS"/>
                <a:cs typeface="Trebuchet MS"/>
              </a:rPr>
              <a:t>or</a:t>
            </a:r>
            <a:r>
              <a:rPr sz="1450" spc="60" dirty="0">
                <a:latin typeface="Trebuchet MS"/>
                <a:cs typeface="Trebuchet MS"/>
              </a:rPr>
              <a:t> </a:t>
            </a:r>
            <a:r>
              <a:rPr sz="1450" spc="70" dirty="0">
                <a:latin typeface="Trebuchet MS"/>
                <a:cs typeface="Trebuchet MS"/>
              </a:rPr>
              <a:t>packages</a:t>
            </a:r>
            <a:r>
              <a:rPr sz="1450" spc="65" dirty="0">
                <a:latin typeface="Trebuchet MS"/>
                <a:cs typeface="Trebuchet MS"/>
              </a:rPr>
              <a:t> </a:t>
            </a:r>
            <a:r>
              <a:rPr sz="1450" dirty="0">
                <a:latin typeface="Trebuchet MS"/>
                <a:cs typeface="Trebuchet MS"/>
              </a:rPr>
              <a:t>to</a:t>
            </a:r>
            <a:r>
              <a:rPr sz="1450" spc="60" dirty="0">
                <a:latin typeface="Trebuchet MS"/>
                <a:cs typeface="Trebuchet MS"/>
              </a:rPr>
              <a:t> </a:t>
            </a:r>
            <a:r>
              <a:rPr sz="1450" dirty="0">
                <a:latin typeface="Trebuchet MS"/>
                <a:cs typeface="Trebuchet MS"/>
              </a:rPr>
              <a:t>block</a:t>
            </a:r>
            <a:r>
              <a:rPr sz="1450" spc="65" dirty="0">
                <a:latin typeface="Trebuchet MS"/>
                <a:cs typeface="Trebuchet MS"/>
              </a:rPr>
              <a:t> </a:t>
            </a:r>
            <a:r>
              <a:rPr sz="1450" spc="-10" dirty="0">
                <a:latin typeface="Trebuchet MS"/>
                <a:cs typeface="Trebuchet MS"/>
              </a:rPr>
              <a:t>problematic </a:t>
            </a:r>
            <a:r>
              <a:rPr sz="1450" spc="55" dirty="0">
                <a:latin typeface="Trebuchet MS"/>
                <a:cs typeface="Trebuchet MS"/>
              </a:rPr>
              <a:t>updates</a:t>
            </a:r>
            <a:endParaRPr sz="1450">
              <a:latin typeface="Trebuchet MS"/>
              <a:cs typeface="Trebuchet MS"/>
            </a:endParaRPr>
          </a:p>
          <a:p>
            <a:pPr marL="314960">
              <a:lnSpc>
                <a:spcPct val="100000"/>
              </a:lnSpc>
              <a:spcBef>
                <a:spcPts val="1185"/>
              </a:spcBef>
            </a:pPr>
            <a:r>
              <a:rPr sz="1450" dirty="0">
                <a:latin typeface="Trebuchet MS"/>
                <a:cs typeface="Trebuchet MS"/>
              </a:rPr>
              <a:t>Global</a:t>
            </a:r>
            <a:r>
              <a:rPr sz="1450" spc="65" dirty="0">
                <a:latin typeface="Trebuchet MS"/>
                <a:cs typeface="Trebuchet MS"/>
              </a:rPr>
              <a:t> </a:t>
            </a:r>
            <a:r>
              <a:rPr sz="1450" dirty="0">
                <a:latin typeface="Trebuchet MS"/>
                <a:cs typeface="Trebuchet MS"/>
              </a:rPr>
              <a:t>safety</a:t>
            </a:r>
            <a:r>
              <a:rPr sz="1450" spc="65" dirty="0">
                <a:latin typeface="Trebuchet MS"/>
                <a:cs typeface="Trebuchet MS"/>
              </a:rPr>
              <a:t> </a:t>
            </a:r>
            <a:r>
              <a:rPr sz="1450" spc="45" dirty="0">
                <a:latin typeface="Trebuchet MS"/>
                <a:cs typeface="Trebuchet MS"/>
              </a:rPr>
              <a:t>controls</a:t>
            </a:r>
            <a:r>
              <a:rPr sz="1450" spc="65" dirty="0">
                <a:latin typeface="Trebuchet MS"/>
                <a:cs typeface="Trebuchet MS"/>
              </a:rPr>
              <a:t> </a:t>
            </a:r>
            <a:r>
              <a:rPr sz="1450" spc="55" dirty="0">
                <a:latin typeface="Trebuchet MS"/>
                <a:cs typeface="Trebuchet MS"/>
              </a:rPr>
              <a:t>reduce</a:t>
            </a:r>
            <a:r>
              <a:rPr sz="1450" spc="65" dirty="0">
                <a:latin typeface="Trebuchet MS"/>
                <a:cs typeface="Trebuchet MS"/>
              </a:rPr>
              <a:t> </a:t>
            </a:r>
            <a:r>
              <a:rPr sz="1450" spc="50" dirty="0">
                <a:latin typeface="Trebuchet MS"/>
                <a:cs typeface="Trebuchet MS"/>
              </a:rPr>
              <a:t>production</a:t>
            </a:r>
            <a:r>
              <a:rPr sz="1450" spc="65" dirty="0">
                <a:latin typeface="Trebuchet MS"/>
                <a:cs typeface="Trebuchet MS"/>
              </a:rPr>
              <a:t> </a:t>
            </a:r>
            <a:r>
              <a:rPr sz="1450" spc="-20" dirty="0">
                <a:latin typeface="Trebuchet MS"/>
                <a:cs typeface="Trebuchet MS"/>
              </a:rPr>
              <a:t>risk</a:t>
            </a:r>
            <a:endParaRPr sz="1450">
              <a:latin typeface="Trebuchet MS"/>
              <a:cs typeface="Trebuchet MS"/>
            </a:endParaRPr>
          </a:p>
        </p:txBody>
      </p:sp>
    </p:spTree>
    <p:extLst>
      <p:ext uri="{BB962C8B-B14F-4D97-AF65-F5344CB8AC3E}">
        <p14:creationId xmlns:p14="http://schemas.microsoft.com/office/powerpoint/2010/main" val="2122772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1D911F-9BBF-2940-9FAD-B6C4DB2B0AF7}"/>
              </a:ext>
            </a:extLst>
          </p:cNvPr>
          <p:cNvSpPr>
            <a:spLocks noGrp="1"/>
          </p:cNvSpPr>
          <p:nvPr>
            <p:ph type="dt" sz="half" idx="10"/>
          </p:nvPr>
        </p:nvSpPr>
        <p:spPr/>
        <p:txBody>
          <a:bodyPr/>
          <a:lstStyle/>
          <a:p>
            <a:fld id="{3577AAB7-A553-41FE-991D-A6157E9C7ED0}" type="datetime1">
              <a:t>9/23/2026</a:t>
            </a:fld>
            <a:endParaRPr lang="en-US" dirty="0"/>
          </a:p>
        </p:txBody>
      </p:sp>
      <p:sp>
        <p:nvSpPr>
          <p:cNvPr id="3" name="Footer Placeholder 2">
            <a:extLst>
              <a:ext uri="{FF2B5EF4-FFF2-40B4-BE49-F238E27FC236}">
                <a16:creationId xmlns:a16="http://schemas.microsoft.com/office/drawing/2014/main" id="{F1986FB1-04B1-1CE8-CE43-35FEF57F4DA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F229C488-DFF9-B9A4-EBE4-F07EBE001417}"/>
              </a:ext>
            </a:extLst>
          </p:cNvPr>
          <p:cNvSpPr>
            <a:spLocks noGrp="1"/>
          </p:cNvSpPr>
          <p:nvPr>
            <p:ph type="sldNum" sz="quarter" idx="12"/>
          </p:nvPr>
        </p:nvSpPr>
        <p:spPr/>
        <p:txBody>
          <a:bodyPr/>
          <a:lstStyle/>
          <a:p>
            <a:fld id="{196A61CA-0502-4EE4-9724-96EA822543E5}" type="slidenum">
              <a:rPr lang="en-US" dirty="0"/>
              <a:t>12</a:t>
            </a:fld>
            <a:endParaRPr lang="en-US" dirty="0"/>
          </a:p>
        </p:txBody>
      </p:sp>
      <p:pic>
        <p:nvPicPr>
          <p:cNvPr id="6" name="Picture 6">
            <a:extLst>
              <a:ext uri="{FF2B5EF4-FFF2-40B4-BE49-F238E27FC236}">
                <a16:creationId xmlns:a16="http://schemas.microsoft.com/office/drawing/2014/main" id="{CDEA63CD-A235-4D55-B8C4-F6A76E7EE21B}"/>
              </a:ext>
            </a:extLst>
          </p:cNvPr>
          <p:cNvPicPr/>
          <p:nvPr/>
        </p:nvPicPr>
        <p:blipFill>
          <a:blip r:embed="rId2"/>
          <a:stretch>
            <a:fillRect/>
          </a:stretch>
        </p:blipFill>
        <p:spPr>
          <a:xfrm>
            <a:off x="13642" y="0"/>
            <a:ext cx="12270904" cy="7061328"/>
          </a:xfrm>
          <a:prstGeom prst="rect">
            <a:avLst/>
          </a:prstGeom>
        </p:spPr>
      </p:pic>
    </p:spTree>
    <p:extLst>
      <p:ext uri="{BB962C8B-B14F-4D97-AF65-F5344CB8AC3E}">
        <p14:creationId xmlns:p14="http://schemas.microsoft.com/office/powerpoint/2010/main" val="4113653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DB58FFC-0CA4-F36B-2748-94317D21E6ED}"/>
              </a:ext>
            </a:extLst>
          </p:cNvPr>
          <p:cNvSpPr/>
          <p:nvPr/>
        </p:nvSpPr>
        <p:spPr>
          <a:xfrm>
            <a:off x="422781" y="2672662"/>
            <a:ext cx="11202698" cy="258976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0A8372FF-5E4F-BBEC-5EAC-624E76199BD0}"/>
              </a:ext>
            </a:extLst>
          </p:cNvPr>
          <p:cNvSpPr>
            <a:spLocks noGrp="1"/>
          </p:cNvSpPr>
          <p:nvPr>
            <p:ph type="dt" sz="half" idx="10"/>
          </p:nvPr>
        </p:nvSpPr>
        <p:spPr/>
        <p:txBody>
          <a:bodyPr/>
          <a:lstStyle/>
          <a:p>
            <a:fld id="{C3C52F7F-EDF7-46F1-BBBF-49419C1AB357}" type="datetime1">
              <a:t>9/23/2026</a:t>
            </a:fld>
            <a:endParaRPr lang="en-US" dirty="0"/>
          </a:p>
        </p:txBody>
      </p:sp>
      <p:sp>
        <p:nvSpPr>
          <p:cNvPr id="3" name="Footer Placeholder 2">
            <a:extLst>
              <a:ext uri="{FF2B5EF4-FFF2-40B4-BE49-F238E27FC236}">
                <a16:creationId xmlns:a16="http://schemas.microsoft.com/office/drawing/2014/main" id="{CEE8C96C-D7C6-F655-9347-6177C808FE89}"/>
              </a:ext>
            </a:extLst>
          </p:cNvPr>
          <p:cNvSpPr>
            <a:spLocks noGrp="1"/>
          </p:cNvSpPr>
          <p:nvPr>
            <p:ph type="ftr" sz="quarter" idx="11"/>
          </p:nvPr>
        </p:nvSpPr>
        <p:spPr/>
        <p:txBody>
          <a:bodyPr/>
          <a:lstStyle/>
          <a:p>
            <a:r>
              <a:rPr lang="en-US" dirty="0"/>
              <a:t>
              </a:t>
            </a:r>
          </a:p>
        </p:txBody>
      </p:sp>
      <p:sp>
        <p:nvSpPr>
          <p:cNvPr id="5" name="object 2" descr="$PPTXTitle">
            <a:extLst>
              <a:ext uri="{FF2B5EF4-FFF2-40B4-BE49-F238E27FC236}">
                <a16:creationId xmlns:a16="http://schemas.microsoft.com/office/drawing/2014/main" id="{10A9DA86-15B7-B0CE-F8B7-E23C501F81C8}"/>
              </a:ext>
            </a:extLst>
          </p:cNvPr>
          <p:cNvSpPr txBox="1">
            <a:spLocks noGrp="1"/>
          </p:cNvSpPr>
          <p:nvPr/>
        </p:nvSpPr>
        <p:spPr>
          <a:xfrm>
            <a:off x="648840" y="1948592"/>
            <a:ext cx="6034405" cy="613630"/>
          </a:xfrm>
          <a:prstGeom prst="rect">
            <a:avLst/>
          </a:prstGeom>
        </p:spPr>
        <p:txBody>
          <a:bodyPr vert="horz" wrap="square" lIns="0" tIns="13335" rIns="0" bIns="0" rtlCol="0" anchor="t">
            <a:spAutoFit/>
          </a:bodyPr>
          <a:lstStyle>
            <a:lvl1pPr>
              <a:defRPr sz="3900" b="0" i="0">
                <a:solidFill>
                  <a:srgbClr val="010101"/>
                </a:solidFill>
                <a:latin typeface="Georgia"/>
                <a:ea typeface="+mj-ea"/>
                <a:cs typeface="Georgia"/>
              </a:defRPr>
            </a:lvl1pPr>
          </a:lstStyle>
          <a:p>
            <a:pPr marL="12700">
              <a:lnSpc>
                <a:spcPct val="100000"/>
              </a:lnSpc>
              <a:spcBef>
                <a:spcPts val="105"/>
              </a:spcBef>
            </a:pPr>
            <a:r>
              <a:rPr dirty="0">
                <a:solidFill>
                  <a:schemeClr val="tx1"/>
                </a:solidFill>
              </a:rPr>
              <a:t>Patch</a:t>
            </a:r>
            <a:r>
              <a:rPr spc="65" dirty="0">
                <a:solidFill>
                  <a:schemeClr val="tx1"/>
                </a:solidFill>
              </a:rPr>
              <a:t> </a:t>
            </a:r>
            <a:r>
              <a:rPr dirty="0">
                <a:solidFill>
                  <a:schemeClr val="tx1"/>
                </a:solidFill>
              </a:rPr>
              <a:t>Orchestration</a:t>
            </a:r>
            <a:r>
              <a:rPr spc="70" dirty="0">
                <a:solidFill>
                  <a:schemeClr val="tx1"/>
                </a:solidFill>
              </a:rPr>
              <a:t> </a:t>
            </a:r>
            <a:r>
              <a:rPr lang="en-US" spc="-10" dirty="0">
                <a:solidFill>
                  <a:schemeClr val="tx1"/>
                </a:solidFill>
              </a:rPr>
              <a:t>Modes</a:t>
            </a:r>
          </a:p>
        </p:txBody>
      </p:sp>
      <p:grpSp>
        <p:nvGrpSpPr>
          <p:cNvPr id="6" name="object 3">
            <a:extLst>
              <a:ext uri="{FF2B5EF4-FFF2-40B4-BE49-F238E27FC236}">
                <a16:creationId xmlns:a16="http://schemas.microsoft.com/office/drawing/2014/main" id="{EDC5A9F7-1970-F313-6AF8-7159A4C7193C}"/>
              </a:ext>
            </a:extLst>
          </p:cNvPr>
          <p:cNvGrpSpPr/>
          <p:nvPr/>
        </p:nvGrpSpPr>
        <p:grpSpPr>
          <a:xfrm>
            <a:off x="652965" y="2857499"/>
            <a:ext cx="481050" cy="482994"/>
            <a:chOff x="652965" y="2857499"/>
            <a:chExt cx="481050" cy="482994"/>
          </a:xfrm>
        </p:grpSpPr>
        <p:pic>
          <p:nvPicPr>
            <p:cNvPr id="16" name="object 4">
              <a:extLst>
                <a:ext uri="{FF2B5EF4-FFF2-40B4-BE49-F238E27FC236}">
                  <a16:creationId xmlns:a16="http://schemas.microsoft.com/office/drawing/2014/main" id="{CD8C2C3D-8014-362D-8F4B-7CFF869C5471}"/>
                </a:ext>
              </a:extLst>
            </p:cNvPr>
            <p:cNvPicPr/>
            <p:nvPr/>
          </p:nvPicPr>
          <p:blipFill>
            <a:blip r:embed="rId2" cstate="print"/>
            <a:stretch>
              <a:fillRect/>
            </a:stretch>
          </p:blipFill>
          <p:spPr>
            <a:xfrm>
              <a:off x="653184" y="3258949"/>
              <a:ext cx="100867" cy="81537"/>
            </a:xfrm>
            <a:prstGeom prst="rect">
              <a:avLst/>
            </a:prstGeom>
          </p:spPr>
        </p:pic>
        <p:pic>
          <p:nvPicPr>
            <p:cNvPr id="17" name="object 5">
              <a:extLst>
                <a:ext uri="{FF2B5EF4-FFF2-40B4-BE49-F238E27FC236}">
                  <a16:creationId xmlns:a16="http://schemas.microsoft.com/office/drawing/2014/main" id="{E31BA701-D5C6-DB42-2D1E-AB3BE239AF61}"/>
                </a:ext>
              </a:extLst>
            </p:cNvPr>
            <p:cNvPicPr/>
            <p:nvPr/>
          </p:nvPicPr>
          <p:blipFill>
            <a:blip r:embed="rId3" cstate="print"/>
            <a:stretch>
              <a:fillRect/>
            </a:stretch>
          </p:blipFill>
          <p:spPr>
            <a:xfrm>
              <a:off x="1044459" y="3233599"/>
              <a:ext cx="89556" cy="106894"/>
            </a:xfrm>
            <a:prstGeom prst="rect">
              <a:avLst/>
            </a:prstGeom>
          </p:spPr>
        </p:pic>
        <p:pic>
          <p:nvPicPr>
            <p:cNvPr id="18" name="object 6">
              <a:extLst>
                <a:ext uri="{FF2B5EF4-FFF2-40B4-BE49-F238E27FC236}">
                  <a16:creationId xmlns:a16="http://schemas.microsoft.com/office/drawing/2014/main" id="{73B971F3-AB91-C1A6-7D74-000AF2B85A69}"/>
                </a:ext>
              </a:extLst>
            </p:cNvPr>
            <p:cNvPicPr/>
            <p:nvPr/>
          </p:nvPicPr>
          <p:blipFill>
            <a:blip r:embed="rId4" cstate="print"/>
            <a:stretch>
              <a:fillRect/>
            </a:stretch>
          </p:blipFill>
          <p:spPr>
            <a:xfrm>
              <a:off x="1044622" y="2895954"/>
              <a:ext cx="89382" cy="77179"/>
            </a:xfrm>
            <a:prstGeom prst="rect">
              <a:avLst/>
            </a:prstGeom>
          </p:spPr>
        </p:pic>
        <p:pic>
          <p:nvPicPr>
            <p:cNvPr id="19" name="object 7">
              <a:extLst>
                <a:ext uri="{FF2B5EF4-FFF2-40B4-BE49-F238E27FC236}">
                  <a16:creationId xmlns:a16="http://schemas.microsoft.com/office/drawing/2014/main" id="{D224EE9D-09AE-B5E1-B3FF-5869DFDC6229}"/>
                </a:ext>
              </a:extLst>
            </p:cNvPr>
            <p:cNvPicPr/>
            <p:nvPr/>
          </p:nvPicPr>
          <p:blipFill>
            <a:blip r:embed="rId5" cstate="print"/>
            <a:stretch>
              <a:fillRect/>
            </a:stretch>
          </p:blipFill>
          <p:spPr>
            <a:xfrm>
              <a:off x="652965" y="2895940"/>
              <a:ext cx="82074" cy="121577"/>
            </a:xfrm>
            <a:prstGeom prst="rect">
              <a:avLst/>
            </a:prstGeom>
          </p:spPr>
        </p:pic>
        <p:sp>
          <p:nvSpPr>
            <p:cNvPr id="20" name="object 8">
              <a:extLst>
                <a:ext uri="{FF2B5EF4-FFF2-40B4-BE49-F238E27FC236}">
                  <a16:creationId xmlns:a16="http://schemas.microsoft.com/office/drawing/2014/main" id="{602DB7CD-5EAA-FBCA-0AF0-D279E31C04E2}"/>
                </a:ext>
              </a:extLst>
            </p:cNvPr>
            <p:cNvSpPr/>
            <p:nvPr/>
          </p:nvSpPr>
          <p:spPr>
            <a:xfrm>
              <a:off x="663389" y="2857499"/>
              <a:ext cx="460375" cy="473075"/>
            </a:xfrm>
            <a:custGeom>
              <a:avLst/>
              <a:gdLst/>
              <a:ahLst/>
              <a:cxnLst/>
              <a:rect l="l" t="t" r="r" b="b"/>
              <a:pathLst>
                <a:path w="460375" h="473075">
                  <a:moveTo>
                    <a:pt x="460200" y="143174"/>
                  </a:moveTo>
                  <a:lnTo>
                    <a:pt x="0" y="143119"/>
                  </a:lnTo>
                </a:path>
                <a:path w="460375" h="473075">
                  <a:moveTo>
                    <a:pt x="62" y="149553"/>
                  </a:moveTo>
                  <a:lnTo>
                    <a:pt x="259" y="411913"/>
                  </a:lnTo>
                </a:path>
                <a:path w="460375" h="473075">
                  <a:moveTo>
                    <a:pt x="362437" y="95793"/>
                  </a:moveTo>
                  <a:lnTo>
                    <a:pt x="361725" y="0"/>
                  </a:lnTo>
                </a:path>
                <a:path w="460375" h="473075">
                  <a:moveTo>
                    <a:pt x="99777" y="48991"/>
                  </a:moveTo>
                  <a:lnTo>
                    <a:pt x="98342" y="95931"/>
                  </a:lnTo>
                </a:path>
                <a:path w="460375" h="473075">
                  <a:moveTo>
                    <a:pt x="97794" y="654"/>
                  </a:moveTo>
                  <a:lnTo>
                    <a:pt x="99777" y="48991"/>
                  </a:lnTo>
                </a:path>
                <a:path w="460375" h="473075">
                  <a:moveTo>
                    <a:pt x="328697" y="227140"/>
                  </a:moveTo>
                  <a:lnTo>
                    <a:pt x="198038" y="364141"/>
                  </a:lnTo>
                </a:path>
                <a:path w="460375" h="473075">
                  <a:moveTo>
                    <a:pt x="134533" y="300983"/>
                  </a:moveTo>
                  <a:lnTo>
                    <a:pt x="198038" y="364141"/>
                  </a:lnTo>
                </a:path>
                <a:path w="460375" h="473075">
                  <a:moveTo>
                    <a:pt x="80198" y="472522"/>
                  </a:moveTo>
                  <a:lnTo>
                    <a:pt x="391534" y="472529"/>
                  </a:lnTo>
                </a:path>
                <a:path w="460375" h="473075">
                  <a:moveTo>
                    <a:pt x="460162" y="386563"/>
                  </a:moveTo>
                  <a:lnTo>
                    <a:pt x="460150" y="105168"/>
                  </a:lnTo>
                </a:path>
                <a:path w="460375" h="473075">
                  <a:moveTo>
                    <a:pt x="391697" y="48918"/>
                  </a:moveTo>
                  <a:lnTo>
                    <a:pt x="61186" y="48905"/>
                  </a:lnTo>
                </a:path>
              </a:pathLst>
            </a:custGeom>
            <a:ln w="20928">
              <a:solidFill>
                <a:srgbClr val="DF4E00"/>
              </a:solidFill>
            </a:ln>
          </p:spPr>
          <p:txBody>
            <a:bodyPr wrap="square" lIns="0" tIns="0" rIns="0" bIns="0" rtlCol="0"/>
            <a:lstStyle>
              <a:defPPr>
                <a:defRPr kern="0"/>
              </a:defPPr>
            </a:lstStyle>
            <a:p>
              <a:endParaRPr/>
            </a:p>
          </p:txBody>
        </p:sp>
      </p:grpSp>
      <p:sp>
        <p:nvSpPr>
          <p:cNvPr id="7" name="object 9">
            <a:extLst>
              <a:ext uri="{FF2B5EF4-FFF2-40B4-BE49-F238E27FC236}">
                <a16:creationId xmlns:a16="http://schemas.microsoft.com/office/drawing/2014/main" id="{2B23C98F-8A24-7E42-72FC-95952A13B09B}"/>
              </a:ext>
            </a:extLst>
          </p:cNvPr>
          <p:cNvSpPr txBox="1"/>
          <p:nvPr/>
        </p:nvSpPr>
        <p:spPr>
          <a:xfrm>
            <a:off x="648840" y="3558793"/>
            <a:ext cx="3486785" cy="1266501"/>
          </a:xfrm>
          <a:prstGeom prst="rect">
            <a:avLst/>
          </a:prstGeom>
        </p:spPr>
        <p:txBody>
          <a:bodyPr vert="horz" wrap="square" lIns="0" tIns="12700" rIns="0" bIns="0" rtlCol="0" anchor="t">
            <a:spAutoFit/>
          </a:bodyPr>
          <a:lstStyle>
            <a:defPPr>
              <a:defRPr kern="0"/>
            </a:defPPr>
          </a:lstStyle>
          <a:p>
            <a:pPr marL="12700">
              <a:lnSpc>
                <a:spcPct val="100000"/>
              </a:lnSpc>
              <a:spcBef>
                <a:spcPts val="100"/>
              </a:spcBef>
            </a:pPr>
            <a:r>
              <a:rPr sz="1950" spc="-10" dirty="0">
                <a:latin typeface="Georgia"/>
                <a:cs typeface="Georgia"/>
              </a:rPr>
              <a:t>Customer-Managed</a:t>
            </a:r>
            <a:r>
              <a:rPr sz="1950" dirty="0">
                <a:latin typeface="Georgia"/>
                <a:cs typeface="Georgia"/>
              </a:rPr>
              <a:t> </a:t>
            </a:r>
            <a:r>
              <a:rPr sz="1950" spc="-10" dirty="0">
                <a:latin typeface="Georgia"/>
                <a:cs typeface="Georgia"/>
              </a:rPr>
              <a:t>Schedules</a:t>
            </a:r>
            <a:r>
              <a:rPr lang="en-US" sz="1950" spc="-10" dirty="0">
                <a:latin typeface="Georgia"/>
                <a:cs typeface="Georgia"/>
              </a:rPr>
              <a:t>:</a:t>
            </a:r>
            <a:endParaRPr lang="en-US" sz="1950" dirty="0">
              <a:latin typeface="Georgia"/>
              <a:cs typeface="Georgia"/>
            </a:endParaRPr>
          </a:p>
          <a:p>
            <a:pPr marL="12700" marR="273050">
              <a:lnSpc>
                <a:spcPct val="137900"/>
              </a:lnSpc>
              <a:spcBef>
                <a:spcPts val="500"/>
              </a:spcBef>
            </a:pPr>
            <a:r>
              <a:rPr sz="1450" dirty="0">
                <a:latin typeface="Trebuchet MS"/>
                <a:cs typeface="Trebuchet MS"/>
              </a:rPr>
              <a:t>Platform</a:t>
            </a:r>
            <a:r>
              <a:rPr sz="1450" spc="10" dirty="0">
                <a:latin typeface="Trebuchet MS"/>
                <a:cs typeface="Trebuchet MS"/>
              </a:rPr>
              <a:t> </a:t>
            </a:r>
            <a:r>
              <a:rPr sz="1450" spc="80" dirty="0">
                <a:latin typeface="Trebuchet MS"/>
                <a:cs typeface="Trebuchet MS"/>
              </a:rPr>
              <a:t>sets</a:t>
            </a:r>
            <a:r>
              <a:rPr sz="1450" spc="10" dirty="0">
                <a:latin typeface="Trebuchet MS"/>
                <a:cs typeface="Trebuchet MS"/>
              </a:rPr>
              <a:t> </a:t>
            </a:r>
            <a:r>
              <a:rPr sz="1450" spc="-10" dirty="0">
                <a:latin typeface="Trebuchet MS"/>
                <a:cs typeface="Trebuchet MS"/>
              </a:rPr>
              <a:t>AutomaticByPlatform </a:t>
            </a:r>
            <a:r>
              <a:rPr sz="1450" spc="90" dirty="0">
                <a:latin typeface="Trebuchet MS"/>
                <a:cs typeface="Trebuchet MS"/>
              </a:rPr>
              <a:t>mode</a:t>
            </a:r>
            <a:r>
              <a:rPr sz="1450" spc="-5" dirty="0">
                <a:latin typeface="Trebuchet MS"/>
                <a:cs typeface="Trebuchet MS"/>
              </a:rPr>
              <a:t> </a:t>
            </a:r>
            <a:r>
              <a:rPr sz="1450" dirty="0">
                <a:latin typeface="Trebuchet MS"/>
                <a:cs typeface="Trebuchet MS"/>
              </a:rPr>
              <a:t>for predictable,</a:t>
            </a:r>
            <a:r>
              <a:rPr sz="1450" spc="-5" dirty="0">
                <a:latin typeface="Trebuchet MS"/>
                <a:cs typeface="Trebuchet MS"/>
              </a:rPr>
              <a:t> </a:t>
            </a:r>
            <a:r>
              <a:rPr sz="1450" spc="55" dirty="0">
                <a:latin typeface="Trebuchet MS"/>
                <a:cs typeface="Trebuchet MS"/>
              </a:rPr>
              <a:t>scheduled </a:t>
            </a:r>
            <a:r>
              <a:rPr sz="1450" spc="45" dirty="0">
                <a:latin typeface="Trebuchet MS"/>
                <a:cs typeface="Trebuchet MS"/>
              </a:rPr>
              <a:t>maintenance</a:t>
            </a:r>
            <a:r>
              <a:rPr sz="1450" spc="-20" dirty="0">
                <a:latin typeface="Trebuchet MS"/>
                <a:cs typeface="Trebuchet MS"/>
              </a:rPr>
              <a:t> </a:t>
            </a:r>
            <a:r>
              <a:rPr sz="1450" spc="-10" dirty="0">
                <a:latin typeface="Trebuchet MS"/>
                <a:cs typeface="Trebuchet MS"/>
              </a:rPr>
              <a:t>windows</a:t>
            </a:r>
            <a:r>
              <a:rPr lang="en-US" sz="1450" spc="-10" dirty="0">
                <a:latin typeface="Trebuchet MS"/>
                <a:cs typeface="Trebuchet MS"/>
              </a:rPr>
              <a:t>.</a:t>
            </a:r>
            <a:endParaRPr lang="en-US" sz="1450" dirty="0">
              <a:latin typeface="Trebuchet MS"/>
              <a:cs typeface="Trebuchet MS"/>
            </a:endParaRPr>
          </a:p>
        </p:txBody>
      </p:sp>
      <p:grpSp>
        <p:nvGrpSpPr>
          <p:cNvPr id="8" name="object 10">
            <a:extLst>
              <a:ext uri="{FF2B5EF4-FFF2-40B4-BE49-F238E27FC236}">
                <a16:creationId xmlns:a16="http://schemas.microsoft.com/office/drawing/2014/main" id="{C91E14A8-BDDB-2E90-69E7-8E472E5E3B5A}"/>
              </a:ext>
            </a:extLst>
          </p:cNvPr>
          <p:cNvGrpSpPr/>
          <p:nvPr/>
        </p:nvGrpSpPr>
        <p:grpSpPr>
          <a:xfrm>
            <a:off x="4397696" y="2847035"/>
            <a:ext cx="401536" cy="483006"/>
            <a:chOff x="4397696" y="2847035"/>
            <a:chExt cx="401536" cy="483006"/>
          </a:xfrm>
        </p:grpSpPr>
        <p:pic>
          <p:nvPicPr>
            <p:cNvPr id="14" name="object 11">
              <a:extLst>
                <a:ext uri="{FF2B5EF4-FFF2-40B4-BE49-F238E27FC236}">
                  <a16:creationId xmlns:a16="http://schemas.microsoft.com/office/drawing/2014/main" id="{AD9A5E0C-E367-BE36-5B70-9E3031BC6481}"/>
                </a:ext>
              </a:extLst>
            </p:cNvPr>
            <p:cNvPicPr/>
            <p:nvPr/>
          </p:nvPicPr>
          <p:blipFill>
            <a:blip r:embed="rId6" cstate="print"/>
            <a:stretch>
              <a:fillRect/>
            </a:stretch>
          </p:blipFill>
          <p:spPr>
            <a:xfrm>
              <a:off x="4397696" y="2847035"/>
              <a:ext cx="401536" cy="93094"/>
            </a:xfrm>
            <a:prstGeom prst="rect">
              <a:avLst/>
            </a:prstGeom>
          </p:spPr>
        </p:pic>
        <p:sp>
          <p:nvSpPr>
            <p:cNvPr id="15" name="object 12">
              <a:extLst>
                <a:ext uri="{FF2B5EF4-FFF2-40B4-BE49-F238E27FC236}">
                  <a16:creationId xmlns:a16="http://schemas.microsoft.com/office/drawing/2014/main" id="{017B2714-AC50-AFED-37A5-8C5389E521A7}"/>
                </a:ext>
              </a:extLst>
            </p:cNvPr>
            <p:cNvSpPr/>
            <p:nvPr/>
          </p:nvSpPr>
          <p:spPr>
            <a:xfrm>
              <a:off x="4407381" y="2929356"/>
              <a:ext cx="382905" cy="400685"/>
            </a:xfrm>
            <a:custGeom>
              <a:avLst/>
              <a:gdLst/>
              <a:ahLst/>
              <a:cxnLst/>
              <a:rect l="l" t="t" r="r" b="b"/>
              <a:pathLst>
                <a:path w="382904" h="400685">
                  <a:moveTo>
                    <a:pt x="191119" y="400672"/>
                  </a:moveTo>
                  <a:lnTo>
                    <a:pt x="148094" y="372270"/>
                  </a:lnTo>
                  <a:lnTo>
                    <a:pt x="104319" y="336936"/>
                  </a:lnTo>
                  <a:lnTo>
                    <a:pt x="73387" y="308046"/>
                  </a:lnTo>
                  <a:lnTo>
                    <a:pt x="44876" y="274565"/>
                  </a:lnTo>
                  <a:lnTo>
                    <a:pt x="23442" y="240458"/>
                  </a:lnTo>
                  <a:lnTo>
                    <a:pt x="6100" y="194385"/>
                  </a:lnTo>
                  <a:lnTo>
                    <a:pt x="1248" y="169444"/>
                  </a:lnTo>
                  <a:lnTo>
                    <a:pt x="0" y="151885"/>
                  </a:lnTo>
                </a:path>
                <a:path w="382904" h="400685">
                  <a:moveTo>
                    <a:pt x="352" y="31778"/>
                  </a:moveTo>
                  <a:lnTo>
                    <a:pt x="779" y="308"/>
                  </a:lnTo>
                </a:path>
                <a:path w="382904" h="400685">
                  <a:moveTo>
                    <a:pt x="337248" y="275790"/>
                  </a:moveTo>
                  <a:lnTo>
                    <a:pt x="306699" y="310027"/>
                  </a:lnTo>
                  <a:lnTo>
                    <a:pt x="275368" y="339614"/>
                  </a:lnTo>
                  <a:lnTo>
                    <a:pt x="244707" y="364570"/>
                  </a:lnTo>
                  <a:lnTo>
                    <a:pt x="209276" y="389480"/>
                  </a:lnTo>
                  <a:lnTo>
                    <a:pt x="200146" y="395192"/>
                  </a:lnTo>
                  <a:lnTo>
                    <a:pt x="191119" y="400672"/>
                  </a:lnTo>
                </a:path>
                <a:path w="382904" h="400685">
                  <a:moveTo>
                    <a:pt x="381387" y="0"/>
                  </a:moveTo>
                  <a:lnTo>
                    <a:pt x="382638" y="144690"/>
                  </a:lnTo>
                </a:path>
                <a:path w="382904" h="400685">
                  <a:moveTo>
                    <a:pt x="0" y="151885"/>
                  </a:moveTo>
                  <a:lnTo>
                    <a:pt x="352" y="31778"/>
                  </a:lnTo>
                </a:path>
                <a:path w="382904" h="400685">
                  <a:moveTo>
                    <a:pt x="158245" y="218656"/>
                  </a:moveTo>
                  <a:lnTo>
                    <a:pt x="291655" y="83165"/>
                  </a:lnTo>
                </a:path>
                <a:path w="382904" h="400685">
                  <a:moveTo>
                    <a:pt x="94149" y="152336"/>
                  </a:moveTo>
                  <a:lnTo>
                    <a:pt x="158245" y="218656"/>
                  </a:lnTo>
                </a:path>
                <a:path w="382904" h="400685">
                  <a:moveTo>
                    <a:pt x="382665" y="144690"/>
                  </a:moveTo>
                  <a:lnTo>
                    <a:pt x="375912" y="197024"/>
                  </a:lnTo>
                  <a:lnTo>
                    <a:pt x="356514" y="246231"/>
                  </a:lnTo>
                  <a:lnTo>
                    <a:pt x="347457" y="261309"/>
                  </a:lnTo>
                  <a:lnTo>
                    <a:pt x="337117" y="275688"/>
                  </a:lnTo>
                </a:path>
              </a:pathLst>
            </a:custGeom>
            <a:ln w="20928">
              <a:solidFill>
                <a:srgbClr val="DF4E00"/>
              </a:solidFill>
            </a:ln>
          </p:spPr>
          <p:txBody>
            <a:bodyPr wrap="square" lIns="0" tIns="0" rIns="0" bIns="0" rtlCol="0"/>
            <a:lstStyle>
              <a:defPPr>
                <a:defRPr kern="0"/>
              </a:defPPr>
            </a:lstStyle>
            <a:p>
              <a:endParaRPr/>
            </a:p>
          </p:txBody>
        </p:sp>
      </p:grpSp>
      <p:sp>
        <p:nvSpPr>
          <p:cNvPr id="9" name="object 13">
            <a:extLst>
              <a:ext uri="{FF2B5EF4-FFF2-40B4-BE49-F238E27FC236}">
                <a16:creationId xmlns:a16="http://schemas.microsoft.com/office/drawing/2014/main" id="{BC1644EA-822F-16B7-AD8E-24AF394193CE}"/>
              </a:ext>
            </a:extLst>
          </p:cNvPr>
          <p:cNvSpPr txBox="1"/>
          <p:nvPr/>
        </p:nvSpPr>
        <p:spPr>
          <a:xfrm>
            <a:off x="4350494" y="3558793"/>
            <a:ext cx="3413125" cy="1302385"/>
          </a:xfrm>
          <a:prstGeom prst="rect">
            <a:avLst/>
          </a:prstGeom>
        </p:spPr>
        <p:txBody>
          <a:bodyPr vert="horz" wrap="square" lIns="0" tIns="12700" rIns="0" bIns="0" rtlCol="0" anchor="t">
            <a:spAutoFit/>
          </a:bodyPr>
          <a:lstStyle>
            <a:defPPr>
              <a:defRPr kern="0"/>
            </a:defPPr>
          </a:lstStyle>
          <a:p>
            <a:pPr marL="12700">
              <a:lnSpc>
                <a:spcPct val="100000"/>
              </a:lnSpc>
              <a:spcBef>
                <a:spcPts val="100"/>
              </a:spcBef>
            </a:pPr>
            <a:r>
              <a:rPr sz="1950" dirty="0">
                <a:latin typeface="Georgia"/>
                <a:cs typeface="Georgia"/>
              </a:rPr>
              <a:t>Automatic by</a:t>
            </a:r>
            <a:r>
              <a:rPr sz="1950" spc="5" dirty="0">
                <a:latin typeface="Georgia"/>
                <a:cs typeface="Georgia"/>
              </a:rPr>
              <a:t> </a:t>
            </a:r>
            <a:r>
              <a:rPr sz="1950" spc="-25" dirty="0">
                <a:latin typeface="Georgia"/>
                <a:cs typeface="Georgia"/>
              </a:rPr>
              <a:t>OS</a:t>
            </a:r>
            <a:r>
              <a:rPr lang="en-US" sz="1950" spc="-25" dirty="0">
                <a:latin typeface="Georgia"/>
                <a:cs typeface="Georgia"/>
              </a:rPr>
              <a:t>:</a:t>
            </a:r>
            <a:endParaRPr lang="en-US" sz="1950" dirty="0">
              <a:latin typeface="Georgia"/>
              <a:cs typeface="Georgia"/>
            </a:endParaRPr>
          </a:p>
          <a:p>
            <a:pPr marL="12700" marR="5080">
              <a:lnSpc>
                <a:spcPct val="137900"/>
              </a:lnSpc>
              <a:spcBef>
                <a:spcPts val="500"/>
              </a:spcBef>
            </a:pPr>
            <a:r>
              <a:rPr sz="1450" spc="165" dirty="0">
                <a:latin typeface="Trebuchet MS"/>
                <a:cs typeface="Trebuchet MS"/>
              </a:rPr>
              <a:t>OS</a:t>
            </a:r>
            <a:r>
              <a:rPr sz="1450" spc="95" dirty="0">
                <a:latin typeface="Trebuchet MS"/>
                <a:cs typeface="Trebuchet MS"/>
              </a:rPr>
              <a:t> </a:t>
            </a:r>
            <a:r>
              <a:rPr sz="1450" dirty="0">
                <a:latin typeface="Trebuchet MS"/>
                <a:cs typeface="Trebuchet MS"/>
              </a:rPr>
              <a:t>retains</a:t>
            </a:r>
            <a:r>
              <a:rPr sz="1450" spc="100" dirty="0">
                <a:latin typeface="Trebuchet MS"/>
                <a:cs typeface="Trebuchet MS"/>
              </a:rPr>
              <a:t> </a:t>
            </a:r>
            <a:r>
              <a:rPr sz="1450" dirty="0">
                <a:latin typeface="Trebuchet MS"/>
                <a:cs typeface="Trebuchet MS"/>
              </a:rPr>
              <a:t>control</a:t>
            </a:r>
            <a:r>
              <a:rPr sz="1450" spc="95" dirty="0">
                <a:latin typeface="Trebuchet MS"/>
                <a:cs typeface="Trebuchet MS"/>
              </a:rPr>
              <a:t> </a:t>
            </a:r>
            <a:r>
              <a:rPr sz="1450" spc="229" dirty="0">
                <a:latin typeface="Trebuchet MS"/>
                <a:cs typeface="Trebuchet MS"/>
              </a:rPr>
              <a:t>—</a:t>
            </a:r>
            <a:r>
              <a:rPr sz="1450" spc="100" dirty="0">
                <a:latin typeface="Trebuchet MS"/>
                <a:cs typeface="Trebuchet MS"/>
              </a:rPr>
              <a:t> </a:t>
            </a:r>
            <a:r>
              <a:rPr sz="1450" dirty="0">
                <a:latin typeface="Trebuchet MS"/>
                <a:cs typeface="Trebuchet MS"/>
              </a:rPr>
              <a:t>Update</a:t>
            </a:r>
            <a:r>
              <a:rPr sz="1450" spc="100" dirty="0">
                <a:latin typeface="Trebuchet MS"/>
                <a:cs typeface="Trebuchet MS"/>
              </a:rPr>
              <a:t> </a:t>
            </a:r>
            <a:r>
              <a:rPr sz="1450" spc="55" dirty="0">
                <a:latin typeface="Trebuchet MS"/>
                <a:cs typeface="Trebuchet MS"/>
              </a:rPr>
              <a:t>Manager provides</a:t>
            </a:r>
            <a:r>
              <a:rPr sz="1450" spc="50" dirty="0">
                <a:latin typeface="Trebuchet MS"/>
                <a:cs typeface="Trebuchet MS"/>
              </a:rPr>
              <a:t> </a:t>
            </a:r>
            <a:r>
              <a:rPr sz="1450" dirty="0">
                <a:latin typeface="Trebuchet MS"/>
                <a:cs typeface="Trebuchet MS"/>
              </a:rPr>
              <a:t>visibility</a:t>
            </a:r>
            <a:r>
              <a:rPr sz="1450" spc="50" dirty="0">
                <a:latin typeface="Trebuchet MS"/>
                <a:cs typeface="Trebuchet MS"/>
              </a:rPr>
              <a:t> </a:t>
            </a:r>
            <a:r>
              <a:rPr sz="1450" spc="55" dirty="0">
                <a:latin typeface="Trebuchet MS"/>
                <a:cs typeface="Trebuchet MS"/>
              </a:rPr>
              <a:t>but</a:t>
            </a:r>
            <a:r>
              <a:rPr sz="1450" spc="50" dirty="0">
                <a:latin typeface="Trebuchet MS"/>
                <a:cs typeface="Trebuchet MS"/>
              </a:rPr>
              <a:t> </a:t>
            </a:r>
            <a:r>
              <a:rPr sz="1450" dirty="0">
                <a:latin typeface="Trebuchet MS"/>
                <a:cs typeface="Trebuchet MS"/>
              </a:rPr>
              <a:t>defers</a:t>
            </a:r>
            <a:r>
              <a:rPr sz="1450" spc="50" dirty="0">
                <a:latin typeface="Trebuchet MS"/>
                <a:cs typeface="Trebuchet MS"/>
              </a:rPr>
              <a:t> </a:t>
            </a:r>
            <a:r>
              <a:rPr sz="1450" spc="-10" dirty="0">
                <a:latin typeface="Trebuchet MS"/>
                <a:cs typeface="Trebuchet MS"/>
              </a:rPr>
              <a:t>execution </a:t>
            </a:r>
            <a:r>
              <a:rPr sz="1450" dirty="0">
                <a:latin typeface="Trebuchet MS"/>
                <a:cs typeface="Trebuchet MS"/>
              </a:rPr>
              <a:t>to</a:t>
            </a:r>
            <a:r>
              <a:rPr sz="1450" spc="15" dirty="0">
                <a:latin typeface="Trebuchet MS"/>
                <a:cs typeface="Trebuchet MS"/>
              </a:rPr>
              <a:t> </a:t>
            </a:r>
            <a:r>
              <a:rPr sz="1450" dirty="0">
                <a:latin typeface="Trebuchet MS"/>
                <a:cs typeface="Trebuchet MS"/>
              </a:rPr>
              <a:t>native</a:t>
            </a:r>
            <a:r>
              <a:rPr sz="1450" spc="15" dirty="0">
                <a:latin typeface="Trebuchet MS"/>
                <a:cs typeface="Trebuchet MS"/>
              </a:rPr>
              <a:t> </a:t>
            </a:r>
            <a:r>
              <a:rPr sz="1450" spc="165" dirty="0">
                <a:latin typeface="Trebuchet MS"/>
                <a:cs typeface="Trebuchet MS"/>
              </a:rPr>
              <a:t>OS</a:t>
            </a:r>
            <a:r>
              <a:rPr sz="1450" spc="20" dirty="0">
                <a:latin typeface="Trebuchet MS"/>
                <a:cs typeface="Trebuchet MS"/>
              </a:rPr>
              <a:t> </a:t>
            </a:r>
            <a:r>
              <a:rPr sz="1450" spc="40" dirty="0">
                <a:latin typeface="Trebuchet MS"/>
                <a:cs typeface="Trebuchet MS"/>
              </a:rPr>
              <a:t>mechanisms.</a:t>
            </a:r>
            <a:endParaRPr sz="1450">
              <a:latin typeface="Trebuchet MS"/>
              <a:cs typeface="Trebuchet MS"/>
            </a:endParaRPr>
          </a:p>
        </p:txBody>
      </p:sp>
      <p:grpSp>
        <p:nvGrpSpPr>
          <p:cNvPr id="10" name="object 14">
            <a:extLst>
              <a:ext uri="{FF2B5EF4-FFF2-40B4-BE49-F238E27FC236}">
                <a16:creationId xmlns:a16="http://schemas.microsoft.com/office/drawing/2014/main" id="{E8B12C4C-63D2-DE50-6F5E-97F667F6036D}"/>
              </a:ext>
            </a:extLst>
          </p:cNvPr>
          <p:cNvGrpSpPr/>
          <p:nvPr/>
        </p:nvGrpSpPr>
        <p:grpSpPr>
          <a:xfrm>
            <a:off x="8208249" y="2847034"/>
            <a:ext cx="201643" cy="493573"/>
            <a:chOff x="8208249" y="2847034"/>
            <a:chExt cx="201643" cy="493573"/>
          </a:xfrm>
        </p:grpSpPr>
        <p:pic>
          <p:nvPicPr>
            <p:cNvPr id="12" name="object 15">
              <a:extLst>
                <a:ext uri="{FF2B5EF4-FFF2-40B4-BE49-F238E27FC236}">
                  <a16:creationId xmlns:a16="http://schemas.microsoft.com/office/drawing/2014/main" id="{409C133F-9A04-8B16-A331-73D3200C7C66}"/>
                </a:ext>
              </a:extLst>
            </p:cNvPr>
            <p:cNvPicPr/>
            <p:nvPr/>
          </p:nvPicPr>
          <p:blipFill>
            <a:blip r:embed="rId7" cstate="print"/>
            <a:stretch>
              <a:fillRect/>
            </a:stretch>
          </p:blipFill>
          <p:spPr>
            <a:xfrm>
              <a:off x="8211463" y="2847034"/>
              <a:ext cx="198429" cy="493573"/>
            </a:xfrm>
            <a:prstGeom prst="rect">
              <a:avLst/>
            </a:prstGeom>
          </p:spPr>
        </p:pic>
        <p:sp>
          <p:nvSpPr>
            <p:cNvPr id="13" name="object 16">
              <a:extLst>
                <a:ext uri="{FF2B5EF4-FFF2-40B4-BE49-F238E27FC236}">
                  <a16:creationId xmlns:a16="http://schemas.microsoft.com/office/drawing/2014/main" id="{D9B0FD44-289A-43CD-ED6F-FBD671D9E2BC}"/>
                </a:ext>
              </a:extLst>
            </p:cNvPr>
            <p:cNvSpPr/>
            <p:nvPr/>
          </p:nvSpPr>
          <p:spPr>
            <a:xfrm>
              <a:off x="8208249" y="2860130"/>
              <a:ext cx="60325" cy="422275"/>
            </a:xfrm>
            <a:custGeom>
              <a:avLst/>
              <a:gdLst/>
              <a:ahLst/>
              <a:cxnLst/>
              <a:rect l="l" t="t" r="r" b="b"/>
              <a:pathLst>
                <a:path w="60325" h="422275">
                  <a:moveTo>
                    <a:pt x="53233" y="421961"/>
                  </a:moveTo>
                  <a:lnTo>
                    <a:pt x="59858" y="188120"/>
                  </a:lnTo>
                </a:path>
                <a:path w="60325" h="422275">
                  <a:moveTo>
                    <a:pt x="13443" y="130288"/>
                  </a:moveTo>
                  <a:lnTo>
                    <a:pt x="739" y="93542"/>
                  </a:lnTo>
                  <a:lnTo>
                    <a:pt x="7" y="87023"/>
                  </a:lnTo>
                  <a:lnTo>
                    <a:pt x="4982" y="54895"/>
                  </a:lnTo>
                  <a:lnTo>
                    <a:pt x="7111" y="48690"/>
                  </a:lnTo>
                  <a:lnTo>
                    <a:pt x="9894" y="42794"/>
                  </a:lnTo>
                  <a:lnTo>
                    <a:pt x="13332" y="37207"/>
                  </a:lnTo>
                  <a:lnTo>
                    <a:pt x="16769" y="31620"/>
                  </a:lnTo>
                  <a:lnTo>
                    <a:pt x="20778" y="26478"/>
                  </a:lnTo>
                  <a:lnTo>
                    <a:pt x="25357" y="21781"/>
                  </a:lnTo>
                  <a:lnTo>
                    <a:pt x="29936" y="17084"/>
                  </a:lnTo>
                  <a:lnTo>
                    <a:pt x="34975" y="12946"/>
                  </a:lnTo>
                  <a:lnTo>
                    <a:pt x="40473" y="9368"/>
                  </a:lnTo>
                  <a:lnTo>
                    <a:pt x="45971" y="5789"/>
                  </a:lnTo>
                  <a:lnTo>
                    <a:pt x="51794" y="2857"/>
                  </a:lnTo>
                  <a:lnTo>
                    <a:pt x="57943" y="572"/>
                  </a:lnTo>
                </a:path>
                <a:path w="60325" h="422275">
                  <a:moveTo>
                    <a:pt x="57417" y="61947"/>
                  </a:moveTo>
                  <a:lnTo>
                    <a:pt x="57730" y="0"/>
                  </a:lnTo>
                </a:path>
              </a:pathLst>
            </a:custGeom>
            <a:ln w="20929">
              <a:solidFill>
                <a:srgbClr val="DF4E00"/>
              </a:solidFill>
            </a:ln>
          </p:spPr>
          <p:txBody>
            <a:bodyPr wrap="square" lIns="0" tIns="0" rIns="0" bIns="0" rtlCol="0"/>
            <a:lstStyle>
              <a:defPPr>
                <a:defRPr kern="0"/>
              </a:defPPr>
            </a:lstStyle>
            <a:p>
              <a:endParaRPr/>
            </a:p>
          </p:txBody>
        </p:sp>
      </p:grpSp>
      <p:sp>
        <p:nvSpPr>
          <p:cNvPr id="11" name="object 17">
            <a:extLst>
              <a:ext uri="{FF2B5EF4-FFF2-40B4-BE49-F238E27FC236}">
                <a16:creationId xmlns:a16="http://schemas.microsoft.com/office/drawing/2014/main" id="{6E7A0E6C-D0AA-D1D5-002C-300204F3A5AA}"/>
              </a:ext>
            </a:extLst>
          </p:cNvPr>
          <p:cNvSpPr txBox="1"/>
          <p:nvPr/>
        </p:nvSpPr>
        <p:spPr>
          <a:xfrm>
            <a:off x="8052147" y="3558793"/>
            <a:ext cx="3392170" cy="1302385"/>
          </a:xfrm>
          <a:prstGeom prst="rect">
            <a:avLst/>
          </a:prstGeom>
        </p:spPr>
        <p:txBody>
          <a:bodyPr vert="horz" wrap="square" lIns="0" tIns="12700" rIns="0" bIns="0" rtlCol="0" anchor="t">
            <a:spAutoFit/>
          </a:bodyPr>
          <a:lstStyle>
            <a:defPPr>
              <a:defRPr kern="0"/>
            </a:defPPr>
          </a:lstStyle>
          <a:p>
            <a:pPr marL="12700">
              <a:lnSpc>
                <a:spcPct val="100000"/>
              </a:lnSpc>
              <a:spcBef>
                <a:spcPts val="100"/>
              </a:spcBef>
            </a:pPr>
            <a:r>
              <a:rPr sz="1950" spc="-10" dirty="0">
                <a:latin typeface="Georgia"/>
                <a:cs typeface="Georgia"/>
              </a:rPr>
              <a:t>Manual</a:t>
            </a:r>
            <a:r>
              <a:rPr sz="1950" spc="-105" dirty="0">
                <a:latin typeface="Georgia"/>
                <a:cs typeface="Georgia"/>
              </a:rPr>
              <a:t> </a:t>
            </a:r>
            <a:r>
              <a:rPr sz="1950" spc="-254" dirty="0">
                <a:latin typeface="Georgia"/>
                <a:cs typeface="Georgia"/>
              </a:rPr>
              <a:t>/</a:t>
            </a:r>
            <a:r>
              <a:rPr sz="1950" dirty="0">
                <a:latin typeface="Georgia"/>
                <a:cs typeface="Georgia"/>
              </a:rPr>
              <a:t> Image</a:t>
            </a:r>
            <a:r>
              <a:rPr sz="1950" spc="-55" dirty="0">
                <a:latin typeface="Georgia"/>
                <a:cs typeface="Georgia"/>
              </a:rPr>
              <a:t> </a:t>
            </a:r>
            <a:r>
              <a:rPr sz="1950" spc="-10" dirty="0">
                <a:latin typeface="Georgia"/>
                <a:cs typeface="Georgia"/>
              </a:rPr>
              <a:t>Default</a:t>
            </a:r>
            <a:r>
              <a:rPr lang="en-US" sz="1950" spc="-10" dirty="0">
                <a:latin typeface="Georgia"/>
                <a:cs typeface="Georgia"/>
              </a:rPr>
              <a:t>:</a:t>
            </a:r>
            <a:endParaRPr lang="en-US" sz="1950" dirty="0">
              <a:latin typeface="Georgia"/>
              <a:cs typeface="Georgia"/>
            </a:endParaRPr>
          </a:p>
          <a:p>
            <a:pPr marL="12700" marR="5080">
              <a:lnSpc>
                <a:spcPct val="137900"/>
              </a:lnSpc>
              <a:spcBef>
                <a:spcPts val="500"/>
              </a:spcBef>
            </a:pPr>
            <a:r>
              <a:rPr sz="1450" dirty="0">
                <a:latin typeface="Trebuchet MS"/>
                <a:cs typeface="Trebuchet MS"/>
              </a:rPr>
              <a:t>Precision</a:t>
            </a:r>
            <a:r>
              <a:rPr sz="1450" spc="100" dirty="0">
                <a:latin typeface="Trebuchet MS"/>
                <a:cs typeface="Trebuchet MS"/>
              </a:rPr>
              <a:t> </a:t>
            </a:r>
            <a:r>
              <a:rPr sz="1450" spc="45" dirty="0">
                <a:latin typeface="Trebuchet MS"/>
                <a:cs typeface="Trebuchet MS"/>
              </a:rPr>
              <a:t>patching</a:t>
            </a:r>
            <a:r>
              <a:rPr sz="1450" spc="105" dirty="0">
                <a:latin typeface="Trebuchet MS"/>
                <a:cs typeface="Trebuchet MS"/>
              </a:rPr>
              <a:t> </a:t>
            </a:r>
            <a:r>
              <a:rPr sz="1450" dirty="0">
                <a:latin typeface="Trebuchet MS"/>
                <a:cs typeface="Trebuchet MS"/>
              </a:rPr>
              <a:t>for</a:t>
            </a:r>
            <a:r>
              <a:rPr sz="1450" spc="100" dirty="0">
                <a:latin typeface="Trebuchet MS"/>
                <a:cs typeface="Trebuchet MS"/>
              </a:rPr>
              <a:t> </a:t>
            </a:r>
            <a:r>
              <a:rPr sz="1450" spc="55" dirty="0">
                <a:latin typeface="Trebuchet MS"/>
                <a:cs typeface="Trebuchet MS"/>
              </a:rPr>
              <a:t>mission</a:t>
            </a:r>
            <a:r>
              <a:rPr sz="1450" spc="55" dirty="0">
                <a:latin typeface="PMingLiU-ExtB"/>
                <a:cs typeface="PMingLiU-ExtB"/>
              </a:rPr>
              <a:t>-</a:t>
            </a:r>
            <a:r>
              <a:rPr sz="1450" spc="-10" dirty="0">
                <a:latin typeface="Trebuchet MS"/>
                <a:cs typeface="Trebuchet MS"/>
              </a:rPr>
              <a:t>critical </a:t>
            </a:r>
            <a:r>
              <a:rPr sz="1450" dirty="0">
                <a:latin typeface="Trebuchet MS"/>
                <a:cs typeface="Trebuchet MS"/>
              </a:rPr>
              <a:t>or</a:t>
            </a:r>
            <a:r>
              <a:rPr sz="1450" spc="-10" dirty="0">
                <a:latin typeface="Trebuchet MS"/>
                <a:cs typeface="Trebuchet MS"/>
              </a:rPr>
              <a:t> </a:t>
            </a:r>
            <a:r>
              <a:rPr sz="1450" spc="55" dirty="0">
                <a:latin typeface="Trebuchet MS"/>
                <a:cs typeface="Trebuchet MS"/>
              </a:rPr>
              <a:t>legacy</a:t>
            </a:r>
            <a:r>
              <a:rPr sz="1450" spc="-5" dirty="0">
                <a:latin typeface="Trebuchet MS"/>
                <a:cs typeface="Trebuchet MS"/>
              </a:rPr>
              <a:t> </a:t>
            </a:r>
            <a:r>
              <a:rPr sz="1450" spc="45" dirty="0">
                <a:latin typeface="Trebuchet MS"/>
                <a:cs typeface="Trebuchet MS"/>
              </a:rPr>
              <a:t>workloads</a:t>
            </a:r>
            <a:r>
              <a:rPr sz="1450" spc="-5" dirty="0">
                <a:latin typeface="Trebuchet MS"/>
                <a:cs typeface="Trebuchet MS"/>
              </a:rPr>
              <a:t> </a:t>
            </a:r>
            <a:r>
              <a:rPr sz="1450" dirty="0">
                <a:latin typeface="Trebuchet MS"/>
                <a:cs typeface="Trebuchet MS"/>
              </a:rPr>
              <a:t>that</a:t>
            </a:r>
            <a:r>
              <a:rPr sz="1450" spc="-5" dirty="0">
                <a:latin typeface="Trebuchet MS"/>
                <a:cs typeface="Trebuchet MS"/>
              </a:rPr>
              <a:t> </a:t>
            </a:r>
            <a:r>
              <a:rPr sz="1450" spc="55" dirty="0">
                <a:latin typeface="Trebuchet MS"/>
                <a:cs typeface="Trebuchet MS"/>
              </a:rPr>
              <a:t>cannot</a:t>
            </a:r>
            <a:r>
              <a:rPr sz="1450" spc="-5" dirty="0">
                <a:latin typeface="Trebuchet MS"/>
                <a:cs typeface="Trebuchet MS"/>
              </a:rPr>
              <a:t> </a:t>
            </a:r>
            <a:r>
              <a:rPr sz="1450" spc="-10" dirty="0">
                <a:latin typeface="Trebuchet MS"/>
                <a:cs typeface="Trebuchet MS"/>
              </a:rPr>
              <a:t>follow </a:t>
            </a:r>
            <a:r>
              <a:rPr sz="1450" spc="50" dirty="0">
                <a:latin typeface="Trebuchet MS"/>
                <a:cs typeface="Trebuchet MS"/>
              </a:rPr>
              <a:t>standard</a:t>
            </a:r>
            <a:r>
              <a:rPr sz="1450" spc="-10" dirty="0">
                <a:latin typeface="Trebuchet MS"/>
                <a:cs typeface="Trebuchet MS"/>
              </a:rPr>
              <a:t> schedules.</a:t>
            </a:r>
            <a:endParaRPr sz="1450">
              <a:latin typeface="Trebuchet MS"/>
              <a:cs typeface="Trebuchet MS"/>
            </a:endParaRPr>
          </a:p>
        </p:txBody>
      </p:sp>
    </p:spTree>
    <p:extLst>
      <p:ext uri="{BB962C8B-B14F-4D97-AF65-F5344CB8AC3E}">
        <p14:creationId xmlns:p14="http://schemas.microsoft.com/office/powerpoint/2010/main" val="2806376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DA61844-481C-6049-A54D-9778319F1C5B}"/>
              </a:ext>
            </a:extLst>
          </p:cNvPr>
          <p:cNvSpPr/>
          <p:nvPr/>
        </p:nvSpPr>
        <p:spPr>
          <a:xfrm>
            <a:off x="6447660" y="2225621"/>
            <a:ext cx="2373658" cy="390040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43F06E-C17D-7B33-C858-FA3A27C412DC}"/>
              </a:ext>
            </a:extLst>
          </p:cNvPr>
          <p:cNvSpPr/>
          <p:nvPr/>
        </p:nvSpPr>
        <p:spPr>
          <a:xfrm>
            <a:off x="3379341" y="2235782"/>
            <a:ext cx="2373658" cy="390040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D8905C2-E27A-7BEA-F1FA-6AB24FC13903}"/>
              </a:ext>
            </a:extLst>
          </p:cNvPr>
          <p:cNvSpPr/>
          <p:nvPr/>
        </p:nvSpPr>
        <p:spPr>
          <a:xfrm>
            <a:off x="646302" y="2276423"/>
            <a:ext cx="1987578" cy="390040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EE75902-9080-2C08-63A6-1A14F6E52442}"/>
              </a:ext>
            </a:extLst>
          </p:cNvPr>
          <p:cNvSpPr>
            <a:spLocks noGrp="1"/>
          </p:cNvSpPr>
          <p:nvPr>
            <p:ph type="dt" sz="half" idx="10"/>
          </p:nvPr>
        </p:nvSpPr>
        <p:spPr/>
        <p:txBody>
          <a:bodyPr/>
          <a:lstStyle/>
          <a:p>
            <a:fld id="{55E97C68-150C-4EB1-893E-5861CD5A43A9}" type="datetime1">
              <a:t>9/23/2026</a:t>
            </a:fld>
            <a:endParaRPr lang="en-US" dirty="0"/>
          </a:p>
        </p:txBody>
      </p:sp>
      <p:sp>
        <p:nvSpPr>
          <p:cNvPr id="3" name="Footer Placeholder 2">
            <a:extLst>
              <a:ext uri="{FF2B5EF4-FFF2-40B4-BE49-F238E27FC236}">
                <a16:creationId xmlns:a16="http://schemas.microsoft.com/office/drawing/2014/main" id="{1E061247-159C-A122-C9BA-62F508C40519}"/>
              </a:ext>
            </a:extLst>
          </p:cNvPr>
          <p:cNvSpPr>
            <a:spLocks noGrp="1"/>
          </p:cNvSpPr>
          <p:nvPr>
            <p:ph type="ftr" sz="quarter" idx="11"/>
          </p:nvPr>
        </p:nvSpPr>
        <p:spPr/>
        <p:txBody>
          <a:bodyPr/>
          <a:lstStyle/>
          <a:p>
            <a:r>
              <a:rPr lang="en-US" dirty="0"/>
              <a:t>
              </a:t>
            </a:r>
          </a:p>
        </p:txBody>
      </p:sp>
      <p:sp>
        <p:nvSpPr>
          <p:cNvPr id="5" name="object 5" descr="$PPTXTitle">
            <a:extLst>
              <a:ext uri="{FF2B5EF4-FFF2-40B4-BE49-F238E27FC236}">
                <a16:creationId xmlns:a16="http://schemas.microsoft.com/office/drawing/2014/main" id="{85EFF15E-C141-4C8D-8A8F-1A65F4F96E98}"/>
              </a:ext>
            </a:extLst>
          </p:cNvPr>
          <p:cNvSpPr txBox="1">
            <a:spLocks noGrp="1"/>
          </p:cNvSpPr>
          <p:nvPr/>
        </p:nvSpPr>
        <p:spPr>
          <a:xfrm>
            <a:off x="648840" y="677081"/>
            <a:ext cx="5168900" cy="1282700"/>
          </a:xfrm>
          <a:prstGeom prst="rect">
            <a:avLst/>
          </a:prstGeom>
        </p:spPr>
        <p:txBody>
          <a:bodyPr vert="horz" wrap="square" lIns="0" tIns="12065" rIns="0" bIns="0" rtlCol="0" anchor="t">
            <a:spAutoFit/>
          </a:bodyPr>
          <a:lstStyle>
            <a:lvl1pPr>
              <a:defRPr sz="3900" b="0" i="0">
                <a:solidFill>
                  <a:srgbClr val="010101"/>
                </a:solidFill>
                <a:latin typeface="Georgia"/>
                <a:ea typeface="+mj-ea"/>
                <a:cs typeface="Georgia"/>
              </a:defRPr>
            </a:lvl1pPr>
          </a:lstStyle>
          <a:p>
            <a:pPr marL="12700" marR="5080">
              <a:lnSpc>
                <a:spcPct val="105800"/>
              </a:lnSpc>
              <a:spcBef>
                <a:spcPts val="95"/>
              </a:spcBef>
            </a:pPr>
            <a:r>
              <a:rPr dirty="0">
                <a:solidFill>
                  <a:schemeClr val="tx1"/>
                </a:solidFill>
              </a:rPr>
              <a:t>Engineering</a:t>
            </a:r>
            <a:r>
              <a:rPr spc="-100" dirty="0">
                <a:solidFill>
                  <a:schemeClr val="tx1"/>
                </a:solidFill>
              </a:rPr>
              <a:t> </a:t>
            </a:r>
            <a:r>
              <a:rPr spc="-10" dirty="0">
                <a:solidFill>
                  <a:schemeClr val="tx1"/>
                </a:solidFill>
              </a:rPr>
              <a:t>Success: </a:t>
            </a:r>
            <a:r>
              <a:rPr spc="-55" dirty="0">
                <a:solidFill>
                  <a:schemeClr val="tx1"/>
                </a:solidFill>
              </a:rPr>
              <a:t>Real-</a:t>
            </a:r>
            <a:r>
              <a:rPr spc="-75" dirty="0">
                <a:solidFill>
                  <a:schemeClr val="tx1"/>
                </a:solidFill>
              </a:rPr>
              <a:t>World</a:t>
            </a:r>
            <a:r>
              <a:rPr spc="-105" dirty="0">
                <a:solidFill>
                  <a:schemeClr val="tx1"/>
                </a:solidFill>
              </a:rPr>
              <a:t> </a:t>
            </a:r>
            <a:r>
              <a:rPr spc="-10" dirty="0">
                <a:solidFill>
                  <a:schemeClr val="tx1"/>
                </a:solidFill>
              </a:rPr>
              <a:t>Constraints</a:t>
            </a:r>
            <a:endParaRPr lang="en-US" spc="-10" dirty="0">
              <a:solidFill>
                <a:schemeClr val="tx1"/>
              </a:solidFill>
            </a:endParaRPr>
          </a:p>
        </p:txBody>
      </p:sp>
      <p:sp>
        <p:nvSpPr>
          <p:cNvPr id="6" name="object 6">
            <a:extLst>
              <a:ext uri="{FF2B5EF4-FFF2-40B4-BE49-F238E27FC236}">
                <a16:creationId xmlns:a16="http://schemas.microsoft.com/office/drawing/2014/main" id="{CE384CF8-0996-B42E-AB48-42CE28CD8606}"/>
              </a:ext>
            </a:extLst>
          </p:cNvPr>
          <p:cNvSpPr/>
          <p:nvPr/>
        </p:nvSpPr>
        <p:spPr>
          <a:xfrm>
            <a:off x="666749" y="2257424"/>
            <a:ext cx="1962150" cy="3867150"/>
          </a:xfrm>
          <a:custGeom>
            <a:avLst/>
            <a:gdLst/>
            <a:ahLst/>
            <a:cxnLst/>
            <a:rect l="l" t="t" r="r" b="b"/>
            <a:pathLst>
              <a:path w="1962150" h="3867150">
                <a:moveTo>
                  <a:pt x="0" y="3800474"/>
                </a:moveTo>
                <a:lnTo>
                  <a:pt x="0" y="66674"/>
                </a:lnTo>
                <a:lnTo>
                  <a:pt x="0" y="62296"/>
                </a:lnTo>
                <a:lnTo>
                  <a:pt x="427" y="57960"/>
                </a:lnTo>
                <a:lnTo>
                  <a:pt x="1281" y="53667"/>
                </a:lnTo>
                <a:lnTo>
                  <a:pt x="2135" y="49373"/>
                </a:lnTo>
                <a:lnTo>
                  <a:pt x="3399" y="45203"/>
                </a:lnTo>
                <a:lnTo>
                  <a:pt x="5075" y="41159"/>
                </a:lnTo>
                <a:lnTo>
                  <a:pt x="6750" y="37114"/>
                </a:lnTo>
                <a:lnTo>
                  <a:pt x="29632" y="11236"/>
                </a:lnTo>
                <a:lnTo>
                  <a:pt x="33272" y="8804"/>
                </a:lnTo>
                <a:lnTo>
                  <a:pt x="62296" y="0"/>
                </a:lnTo>
                <a:lnTo>
                  <a:pt x="66674" y="0"/>
                </a:lnTo>
                <a:lnTo>
                  <a:pt x="1948046" y="0"/>
                </a:lnTo>
                <a:lnTo>
                  <a:pt x="1949916" y="0"/>
                </a:lnTo>
                <a:lnTo>
                  <a:pt x="1951715" y="357"/>
                </a:lnTo>
                <a:lnTo>
                  <a:pt x="1962149" y="14102"/>
                </a:lnTo>
                <a:lnTo>
                  <a:pt x="1962149" y="3853047"/>
                </a:lnTo>
                <a:lnTo>
                  <a:pt x="1962149" y="3854917"/>
                </a:lnTo>
                <a:lnTo>
                  <a:pt x="1961791" y="3856716"/>
                </a:lnTo>
                <a:lnTo>
                  <a:pt x="1961075" y="3858443"/>
                </a:lnTo>
                <a:lnTo>
                  <a:pt x="1960360" y="3860171"/>
                </a:lnTo>
                <a:lnTo>
                  <a:pt x="1948046" y="3867149"/>
                </a:lnTo>
                <a:lnTo>
                  <a:pt x="66674" y="3867149"/>
                </a:lnTo>
                <a:lnTo>
                  <a:pt x="41159" y="3862073"/>
                </a:lnTo>
                <a:lnTo>
                  <a:pt x="37114" y="3860398"/>
                </a:lnTo>
                <a:lnTo>
                  <a:pt x="8804" y="3833876"/>
                </a:lnTo>
                <a:lnTo>
                  <a:pt x="5075" y="3825989"/>
                </a:lnTo>
                <a:lnTo>
                  <a:pt x="3399" y="3821944"/>
                </a:lnTo>
                <a:lnTo>
                  <a:pt x="2135" y="3817775"/>
                </a:lnTo>
                <a:lnTo>
                  <a:pt x="1281" y="3813482"/>
                </a:lnTo>
                <a:lnTo>
                  <a:pt x="427" y="3809188"/>
                </a:lnTo>
                <a:lnTo>
                  <a:pt x="0" y="3804852"/>
                </a:lnTo>
                <a:lnTo>
                  <a:pt x="0" y="3800474"/>
                </a:lnTo>
                <a:close/>
              </a:path>
            </a:pathLst>
          </a:custGeom>
          <a:ln w="19049">
            <a:solidFill>
              <a:srgbClr val="D8D4D4"/>
            </a:solidFill>
          </a:ln>
        </p:spPr>
        <p:txBody>
          <a:bodyPr wrap="square" lIns="0" tIns="0" rIns="0" bIns="0" rtlCol="0"/>
          <a:lstStyle>
            <a:defPPr>
              <a:defRPr kern="0"/>
            </a:defPPr>
          </a:lstStyle>
          <a:p>
            <a:endParaRPr/>
          </a:p>
        </p:txBody>
      </p:sp>
      <p:sp>
        <p:nvSpPr>
          <p:cNvPr id="7" name="object 7">
            <a:extLst>
              <a:ext uri="{FF2B5EF4-FFF2-40B4-BE49-F238E27FC236}">
                <a16:creationId xmlns:a16="http://schemas.microsoft.com/office/drawing/2014/main" id="{72C76AED-BEFC-D62C-A0BA-78B715D33C46}"/>
              </a:ext>
            </a:extLst>
          </p:cNvPr>
          <p:cNvSpPr txBox="1"/>
          <p:nvPr/>
        </p:nvSpPr>
        <p:spPr>
          <a:xfrm>
            <a:off x="933102" y="2427681"/>
            <a:ext cx="1390650" cy="3452495"/>
          </a:xfrm>
          <a:prstGeom prst="rect">
            <a:avLst/>
          </a:prstGeom>
        </p:spPr>
        <p:txBody>
          <a:bodyPr vert="horz" wrap="square" lIns="0" tIns="17145" rIns="0" bIns="0" rtlCol="0" anchor="t">
            <a:spAutoFit/>
          </a:bodyPr>
          <a:lstStyle>
            <a:defPPr>
              <a:defRPr kern="0"/>
            </a:defPPr>
          </a:lstStyle>
          <a:p>
            <a:pPr marL="12700" marR="463550">
              <a:lnSpc>
                <a:spcPct val="104200"/>
              </a:lnSpc>
              <a:spcBef>
                <a:spcPts val="135"/>
              </a:spcBef>
            </a:pPr>
            <a:r>
              <a:rPr sz="1950" dirty="0">
                <a:latin typeface="Georgia"/>
                <a:cs typeface="Georgia"/>
              </a:rPr>
              <a:t>4-</a:t>
            </a:r>
            <a:r>
              <a:rPr sz="1950" spc="-20" dirty="0">
                <a:latin typeface="Georgia"/>
                <a:cs typeface="Georgia"/>
              </a:rPr>
              <a:t>Hour </a:t>
            </a:r>
            <a:r>
              <a:rPr sz="1950" spc="-30" dirty="0">
                <a:latin typeface="Georgia"/>
                <a:cs typeface="Georgia"/>
              </a:rPr>
              <a:t>Window </a:t>
            </a:r>
            <a:r>
              <a:rPr sz="1950" spc="-10" dirty="0">
                <a:latin typeface="Georgia"/>
                <a:cs typeface="Georgia"/>
              </a:rPr>
              <a:t>Design</a:t>
            </a:r>
            <a:r>
              <a:rPr lang="en-US" sz="1950" spc="-10" dirty="0">
                <a:latin typeface="Georgia"/>
                <a:cs typeface="Georgia"/>
              </a:rPr>
              <a:t>:</a:t>
            </a:r>
            <a:endParaRPr lang="en-US" sz="1950" dirty="0">
              <a:latin typeface="Georgia"/>
              <a:cs typeface="Georgia"/>
            </a:endParaRPr>
          </a:p>
          <a:p>
            <a:pPr marL="12700" marR="5080">
              <a:lnSpc>
                <a:spcPct val="136700"/>
              </a:lnSpc>
              <a:spcBef>
                <a:spcPts val="595"/>
              </a:spcBef>
            </a:pPr>
            <a:r>
              <a:rPr sz="1450" dirty="0">
                <a:latin typeface="Trebuchet MS"/>
                <a:cs typeface="Trebuchet MS"/>
              </a:rPr>
              <a:t>Re</a:t>
            </a:r>
            <a:r>
              <a:rPr sz="1450" dirty="0">
                <a:latin typeface="PMingLiU-ExtB"/>
                <a:cs typeface="PMingLiU-ExtB"/>
              </a:rPr>
              <a:t>-</a:t>
            </a:r>
            <a:r>
              <a:rPr sz="1450" spc="-10" dirty="0">
                <a:latin typeface="Trebuchet MS"/>
                <a:cs typeface="Trebuchet MS"/>
              </a:rPr>
              <a:t>architect </a:t>
            </a:r>
            <a:r>
              <a:rPr sz="1450" spc="60" dirty="0">
                <a:latin typeface="Trebuchet MS"/>
                <a:cs typeface="Trebuchet MS"/>
              </a:rPr>
              <a:t>patch</a:t>
            </a:r>
            <a:r>
              <a:rPr sz="1450" spc="-45" dirty="0">
                <a:latin typeface="Trebuchet MS"/>
                <a:cs typeface="Trebuchet MS"/>
              </a:rPr>
              <a:t> </a:t>
            </a:r>
            <a:r>
              <a:rPr sz="1450" spc="70" dirty="0">
                <a:latin typeface="Trebuchet MS"/>
                <a:cs typeface="Trebuchet MS"/>
              </a:rPr>
              <a:t>cadence and</a:t>
            </a:r>
            <a:r>
              <a:rPr sz="1450" spc="-45" dirty="0">
                <a:latin typeface="Trebuchet MS"/>
                <a:cs typeface="Trebuchet MS"/>
              </a:rPr>
              <a:t> </a:t>
            </a:r>
            <a:r>
              <a:rPr sz="1450" spc="60" dirty="0">
                <a:latin typeface="Trebuchet MS"/>
                <a:cs typeface="Trebuchet MS"/>
              </a:rPr>
              <a:t>batch</a:t>
            </a:r>
            <a:r>
              <a:rPr sz="1450" spc="-40" dirty="0">
                <a:latin typeface="Trebuchet MS"/>
                <a:cs typeface="Trebuchet MS"/>
              </a:rPr>
              <a:t> </a:t>
            </a:r>
            <a:r>
              <a:rPr sz="1450" spc="35" dirty="0">
                <a:latin typeface="Trebuchet MS"/>
                <a:cs typeface="Trebuchet MS"/>
              </a:rPr>
              <a:t>sizes </a:t>
            </a:r>
            <a:r>
              <a:rPr sz="1450" dirty="0">
                <a:latin typeface="Trebuchet MS"/>
                <a:cs typeface="Trebuchet MS"/>
              </a:rPr>
              <a:t>to</a:t>
            </a:r>
            <a:r>
              <a:rPr sz="1450" spc="35" dirty="0">
                <a:latin typeface="Trebuchet MS"/>
                <a:cs typeface="Trebuchet MS"/>
              </a:rPr>
              <a:t> </a:t>
            </a:r>
            <a:r>
              <a:rPr sz="1450" spc="40" dirty="0">
                <a:latin typeface="Trebuchet MS"/>
                <a:cs typeface="Trebuchet MS"/>
              </a:rPr>
              <a:t>complete </a:t>
            </a:r>
            <a:r>
              <a:rPr sz="1450" spc="65" dirty="0">
                <a:latin typeface="Trebuchet MS"/>
                <a:cs typeface="Trebuchet MS"/>
              </a:rPr>
              <a:t>updates</a:t>
            </a:r>
            <a:r>
              <a:rPr sz="1450" spc="-15" dirty="0">
                <a:latin typeface="Trebuchet MS"/>
                <a:cs typeface="Trebuchet MS"/>
              </a:rPr>
              <a:t> </a:t>
            </a:r>
            <a:r>
              <a:rPr sz="1450" spc="-10" dirty="0">
                <a:latin typeface="Trebuchet MS"/>
                <a:cs typeface="Trebuchet MS"/>
              </a:rPr>
              <a:t>within strict </a:t>
            </a:r>
            <a:r>
              <a:rPr sz="1450" spc="35" dirty="0">
                <a:latin typeface="Trebuchet MS"/>
                <a:cs typeface="Trebuchet MS"/>
              </a:rPr>
              <a:t>maintenance </a:t>
            </a:r>
            <a:r>
              <a:rPr sz="1450" spc="-10" dirty="0">
                <a:latin typeface="Trebuchet MS"/>
                <a:cs typeface="Trebuchet MS"/>
              </a:rPr>
              <a:t>windows.</a:t>
            </a:r>
            <a:endParaRPr sz="1450">
              <a:latin typeface="Trebuchet MS"/>
              <a:cs typeface="Trebuchet MS"/>
            </a:endParaRPr>
          </a:p>
        </p:txBody>
      </p:sp>
      <p:sp>
        <p:nvSpPr>
          <p:cNvPr id="8" name="object 8">
            <a:extLst>
              <a:ext uri="{FF2B5EF4-FFF2-40B4-BE49-F238E27FC236}">
                <a16:creationId xmlns:a16="http://schemas.microsoft.com/office/drawing/2014/main" id="{2821D22E-56BD-D160-E5C6-7D37F244A5D5}"/>
              </a:ext>
            </a:extLst>
          </p:cNvPr>
          <p:cNvSpPr/>
          <p:nvPr/>
        </p:nvSpPr>
        <p:spPr>
          <a:xfrm>
            <a:off x="3375891" y="2257424"/>
            <a:ext cx="2370952" cy="3876676"/>
          </a:xfrm>
          <a:custGeom>
            <a:avLst/>
            <a:gdLst/>
            <a:ahLst/>
            <a:cxnLst/>
            <a:rect l="l" t="t" r="r" b="b"/>
            <a:pathLst>
              <a:path w="1962150" h="3867150">
                <a:moveTo>
                  <a:pt x="0" y="3800474"/>
                </a:moveTo>
                <a:lnTo>
                  <a:pt x="0" y="66674"/>
                </a:lnTo>
                <a:lnTo>
                  <a:pt x="0" y="62296"/>
                </a:lnTo>
                <a:lnTo>
                  <a:pt x="427" y="57960"/>
                </a:lnTo>
                <a:lnTo>
                  <a:pt x="1281" y="53667"/>
                </a:lnTo>
                <a:lnTo>
                  <a:pt x="2135" y="49373"/>
                </a:lnTo>
                <a:lnTo>
                  <a:pt x="3399" y="45203"/>
                </a:lnTo>
                <a:lnTo>
                  <a:pt x="5075" y="41159"/>
                </a:lnTo>
                <a:lnTo>
                  <a:pt x="6750" y="37114"/>
                </a:lnTo>
                <a:lnTo>
                  <a:pt x="19528" y="19528"/>
                </a:lnTo>
                <a:lnTo>
                  <a:pt x="22623" y="16432"/>
                </a:lnTo>
                <a:lnTo>
                  <a:pt x="25992" y="13668"/>
                </a:lnTo>
                <a:lnTo>
                  <a:pt x="29632" y="11236"/>
                </a:lnTo>
                <a:lnTo>
                  <a:pt x="33272" y="8804"/>
                </a:lnTo>
                <a:lnTo>
                  <a:pt x="37114" y="6750"/>
                </a:lnTo>
                <a:lnTo>
                  <a:pt x="41159" y="5075"/>
                </a:lnTo>
                <a:lnTo>
                  <a:pt x="45203" y="3399"/>
                </a:lnTo>
                <a:lnTo>
                  <a:pt x="49373" y="2135"/>
                </a:lnTo>
                <a:lnTo>
                  <a:pt x="53667" y="1281"/>
                </a:lnTo>
                <a:lnTo>
                  <a:pt x="57960" y="427"/>
                </a:lnTo>
                <a:lnTo>
                  <a:pt x="62297" y="0"/>
                </a:lnTo>
                <a:lnTo>
                  <a:pt x="66674" y="0"/>
                </a:lnTo>
                <a:lnTo>
                  <a:pt x="1948046" y="0"/>
                </a:lnTo>
                <a:lnTo>
                  <a:pt x="1949916" y="0"/>
                </a:lnTo>
                <a:lnTo>
                  <a:pt x="1951715" y="357"/>
                </a:lnTo>
                <a:lnTo>
                  <a:pt x="1961075" y="8705"/>
                </a:lnTo>
                <a:lnTo>
                  <a:pt x="1961791" y="10433"/>
                </a:lnTo>
                <a:lnTo>
                  <a:pt x="1962149" y="12232"/>
                </a:lnTo>
                <a:lnTo>
                  <a:pt x="1962149" y="14102"/>
                </a:lnTo>
                <a:lnTo>
                  <a:pt x="1962149" y="3853047"/>
                </a:lnTo>
                <a:lnTo>
                  <a:pt x="1962149" y="3854917"/>
                </a:lnTo>
                <a:lnTo>
                  <a:pt x="1961791" y="3856716"/>
                </a:lnTo>
                <a:lnTo>
                  <a:pt x="1961075" y="3858443"/>
                </a:lnTo>
                <a:lnTo>
                  <a:pt x="1960359" y="3860171"/>
                </a:lnTo>
                <a:lnTo>
                  <a:pt x="1948046" y="3867149"/>
                </a:lnTo>
                <a:lnTo>
                  <a:pt x="66674" y="3867149"/>
                </a:lnTo>
                <a:lnTo>
                  <a:pt x="62297" y="3867149"/>
                </a:lnTo>
                <a:lnTo>
                  <a:pt x="57960" y="3866721"/>
                </a:lnTo>
                <a:lnTo>
                  <a:pt x="53667" y="3865867"/>
                </a:lnTo>
                <a:lnTo>
                  <a:pt x="49373" y="3865013"/>
                </a:lnTo>
                <a:lnTo>
                  <a:pt x="45203" y="3863749"/>
                </a:lnTo>
                <a:lnTo>
                  <a:pt x="41159" y="3862073"/>
                </a:lnTo>
                <a:lnTo>
                  <a:pt x="37114" y="3860398"/>
                </a:lnTo>
                <a:lnTo>
                  <a:pt x="8804" y="3833876"/>
                </a:lnTo>
                <a:lnTo>
                  <a:pt x="5075" y="3825989"/>
                </a:lnTo>
                <a:lnTo>
                  <a:pt x="3399" y="3821944"/>
                </a:lnTo>
                <a:lnTo>
                  <a:pt x="2135" y="3817775"/>
                </a:lnTo>
                <a:lnTo>
                  <a:pt x="1281" y="3813482"/>
                </a:lnTo>
                <a:lnTo>
                  <a:pt x="427" y="3809188"/>
                </a:lnTo>
                <a:lnTo>
                  <a:pt x="0" y="3804852"/>
                </a:lnTo>
                <a:lnTo>
                  <a:pt x="0" y="3800474"/>
                </a:lnTo>
                <a:close/>
              </a:path>
            </a:pathLst>
          </a:custGeom>
          <a:ln w="19049">
            <a:solidFill>
              <a:srgbClr val="D8D4D4"/>
            </a:solidFill>
          </a:ln>
        </p:spPr>
        <p:txBody>
          <a:bodyPr wrap="square" lIns="0" tIns="0" rIns="0" bIns="0" rtlCol="0"/>
          <a:lstStyle>
            <a:defPPr>
              <a:defRPr kern="0"/>
            </a:defPPr>
          </a:lstStyle>
          <a:p>
            <a:endParaRPr/>
          </a:p>
        </p:txBody>
      </p:sp>
      <p:sp>
        <p:nvSpPr>
          <p:cNvPr id="9" name="object 9">
            <a:extLst>
              <a:ext uri="{FF2B5EF4-FFF2-40B4-BE49-F238E27FC236}">
                <a16:creationId xmlns:a16="http://schemas.microsoft.com/office/drawing/2014/main" id="{4CEBB55A-E467-E12E-273A-FD43ECA633D9}"/>
              </a:ext>
            </a:extLst>
          </p:cNvPr>
          <p:cNvSpPr txBox="1"/>
          <p:nvPr/>
        </p:nvSpPr>
        <p:spPr>
          <a:xfrm>
            <a:off x="3636482" y="2428119"/>
            <a:ext cx="1558300" cy="2818849"/>
          </a:xfrm>
          <a:prstGeom prst="rect">
            <a:avLst/>
          </a:prstGeom>
        </p:spPr>
        <p:txBody>
          <a:bodyPr vert="horz" wrap="square" lIns="0" tIns="12065" rIns="0" bIns="0" rtlCol="0" anchor="t">
            <a:spAutoFit/>
          </a:bodyPr>
          <a:lstStyle>
            <a:defPPr>
              <a:defRPr kern="0"/>
            </a:defPPr>
          </a:lstStyle>
          <a:p>
            <a:pPr marL="12700" marR="314960">
              <a:lnSpc>
                <a:spcPct val="105800"/>
              </a:lnSpc>
              <a:spcBef>
                <a:spcPts val="95"/>
              </a:spcBef>
            </a:pPr>
            <a:r>
              <a:rPr sz="1950" spc="-10" dirty="0">
                <a:latin typeface="Georgia"/>
                <a:cs typeface="Georgia"/>
              </a:rPr>
              <a:t>Conflict </a:t>
            </a:r>
            <a:r>
              <a:rPr sz="1950" spc="-20" dirty="0">
                <a:latin typeface="Georgia"/>
                <a:cs typeface="Georgia"/>
              </a:rPr>
              <a:t>Avoidance</a:t>
            </a:r>
            <a:r>
              <a:rPr lang="en-US" sz="1950" spc="-20" dirty="0">
                <a:latin typeface="Georgia"/>
                <a:cs typeface="Georgia"/>
              </a:rPr>
              <a:t>:</a:t>
            </a:r>
          </a:p>
          <a:p>
            <a:pPr marL="12700" marR="5080">
              <a:lnSpc>
                <a:spcPct val="137200"/>
              </a:lnSpc>
              <a:spcBef>
                <a:spcPts val="515"/>
              </a:spcBef>
            </a:pPr>
            <a:r>
              <a:rPr sz="1450" dirty="0">
                <a:latin typeface="Trebuchet MS"/>
                <a:cs typeface="Trebuchet MS"/>
              </a:rPr>
              <a:t>Align</a:t>
            </a:r>
            <a:r>
              <a:rPr sz="1450" spc="15" dirty="0">
                <a:latin typeface="Trebuchet MS"/>
                <a:cs typeface="Trebuchet MS"/>
              </a:rPr>
              <a:t> </a:t>
            </a:r>
            <a:r>
              <a:rPr sz="1450" spc="120" dirty="0">
                <a:latin typeface="Trebuchet MS"/>
                <a:cs typeface="Trebuchet MS"/>
              </a:rPr>
              <a:t>GPO</a:t>
            </a:r>
            <a:r>
              <a:rPr sz="1450" spc="20" dirty="0">
                <a:latin typeface="Trebuchet MS"/>
                <a:cs typeface="Trebuchet MS"/>
              </a:rPr>
              <a:t> </a:t>
            </a:r>
            <a:r>
              <a:rPr sz="1450" spc="45" dirty="0">
                <a:latin typeface="Trebuchet MS"/>
                <a:cs typeface="Trebuchet MS"/>
              </a:rPr>
              <a:t>and </a:t>
            </a:r>
            <a:r>
              <a:rPr sz="1450" dirty="0">
                <a:latin typeface="Trebuchet MS"/>
                <a:cs typeface="Trebuchet MS"/>
              </a:rPr>
              <a:t>local</a:t>
            </a:r>
            <a:r>
              <a:rPr sz="1450" spc="25" dirty="0">
                <a:latin typeface="Trebuchet MS"/>
                <a:cs typeface="Trebuchet MS"/>
              </a:rPr>
              <a:t> </a:t>
            </a:r>
            <a:r>
              <a:rPr sz="1450" spc="-10" dirty="0">
                <a:latin typeface="Trebuchet MS"/>
                <a:cs typeface="Trebuchet MS"/>
              </a:rPr>
              <a:t>registry </a:t>
            </a:r>
            <a:r>
              <a:rPr sz="1450" spc="50" dirty="0">
                <a:latin typeface="Trebuchet MS"/>
                <a:cs typeface="Trebuchet MS"/>
              </a:rPr>
              <a:t>settings</a:t>
            </a:r>
            <a:r>
              <a:rPr sz="1450" spc="-15" dirty="0">
                <a:latin typeface="Trebuchet MS"/>
                <a:cs typeface="Trebuchet MS"/>
              </a:rPr>
              <a:t> </a:t>
            </a:r>
            <a:r>
              <a:rPr sz="1450" spc="100" dirty="0">
                <a:latin typeface="Trebuchet MS"/>
                <a:cs typeface="Trebuchet MS"/>
              </a:rPr>
              <a:t>so </a:t>
            </a:r>
            <a:r>
              <a:rPr sz="1450" dirty="0">
                <a:latin typeface="Trebuchet MS"/>
                <a:cs typeface="Trebuchet MS"/>
              </a:rPr>
              <a:t>Update</a:t>
            </a:r>
            <a:r>
              <a:rPr sz="1450" spc="250" dirty="0">
                <a:latin typeface="Trebuchet MS"/>
                <a:cs typeface="Trebuchet MS"/>
              </a:rPr>
              <a:t> </a:t>
            </a:r>
            <a:r>
              <a:rPr sz="1450" spc="55" dirty="0">
                <a:latin typeface="Trebuchet MS"/>
                <a:cs typeface="Trebuchet MS"/>
              </a:rPr>
              <a:t>Manager </a:t>
            </a:r>
            <a:r>
              <a:rPr sz="1450" dirty="0">
                <a:latin typeface="Trebuchet MS"/>
                <a:cs typeface="Trebuchet MS"/>
              </a:rPr>
              <a:t>is</a:t>
            </a:r>
            <a:r>
              <a:rPr sz="1450" spc="50" dirty="0">
                <a:latin typeface="Trebuchet MS"/>
                <a:cs typeface="Trebuchet MS"/>
              </a:rPr>
              <a:t> </a:t>
            </a:r>
            <a:r>
              <a:rPr sz="1450" spc="-25" dirty="0">
                <a:latin typeface="Trebuchet MS"/>
                <a:cs typeface="Trebuchet MS"/>
              </a:rPr>
              <a:t>the </a:t>
            </a:r>
            <a:r>
              <a:rPr sz="1450" spc="-10" dirty="0">
                <a:latin typeface="Trebuchet MS"/>
                <a:cs typeface="Trebuchet MS"/>
              </a:rPr>
              <a:t>authoritative orchestrator.</a:t>
            </a:r>
            <a:endParaRPr sz="1450">
              <a:latin typeface="Trebuchet MS"/>
              <a:cs typeface="Trebuchet MS"/>
            </a:endParaRPr>
          </a:p>
        </p:txBody>
      </p:sp>
      <p:sp>
        <p:nvSpPr>
          <p:cNvPr id="10" name="object 10">
            <a:extLst>
              <a:ext uri="{FF2B5EF4-FFF2-40B4-BE49-F238E27FC236}">
                <a16:creationId xmlns:a16="http://schemas.microsoft.com/office/drawing/2014/main" id="{3EFCC4E5-4E97-CD19-0E0C-D94CF68CE4C5}"/>
              </a:ext>
            </a:extLst>
          </p:cNvPr>
          <p:cNvSpPr/>
          <p:nvPr/>
        </p:nvSpPr>
        <p:spPr>
          <a:xfrm>
            <a:off x="6446498" y="2277744"/>
            <a:ext cx="2362221" cy="3882854"/>
          </a:xfrm>
          <a:custGeom>
            <a:avLst/>
            <a:gdLst/>
            <a:ahLst/>
            <a:cxnLst/>
            <a:rect l="l" t="t" r="r" b="b"/>
            <a:pathLst>
              <a:path w="1962150" h="3867150">
                <a:moveTo>
                  <a:pt x="0" y="3800474"/>
                </a:moveTo>
                <a:lnTo>
                  <a:pt x="0" y="66674"/>
                </a:lnTo>
                <a:lnTo>
                  <a:pt x="0" y="62296"/>
                </a:lnTo>
                <a:lnTo>
                  <a:pt x="427" y="57960"/>
                </a:lnTo>
                <a:lnTo>
                  <a:pt x="1281" y="53667"/>
                </a:lnTo>
                <a:lnTo>
                  <a:pt x="2135" y="49373"/>
                </a:lnTo>
                <a:lnTo>
                  <a:pt x="3399" y="45203"/>
                </a:lnTo>
                <a:lnTo>
                  <a:pt x="5075" y="41159"/>
                </a:lnTo>
                <a:lnTo>
                  <a:pt x="6750" y="37114"/>
                </a:lnTo>
                <a:lnTo>
                  <a:pt x="8804" y="33272"/>
                </a:lnTo>
                <a:lnTo>
                  <a:pt x="11237" y="29631"/>
                </a:lnTo>
                <a:lnTo>
                  <a:pt x="13668" y="25991"/>
                </a:lnTo>
                <a:lnTo>
                  <a:pt x="16433" y="22624"/>
                </a:lnTo>
                <a:lnTo>
                  <a:pt x="19529" y="19528"/>
                </a:lnTo>
                <a:lnTo>
                  <a:pt x="22624" y="16432"/>
                </a:lnTo>
                <a:lnTo>
                  <a:pt x="25992" y="13668"/>
                </a:lnTo>
                <a:lnTo>
                  <a:pt x="29631" y="11236"/>
                </a:lnTo>
                <a:lnTo>
                  <a:pt x="33271" y="8804"/>
                </a:lnTo>
                <a:lnTo>
                  <a:pt x="37114" y="6750"/>
                </a:lnTo>
                <a:lnTo>
                  <a:pt x="41159" y="5075"/>
                </a:lnTo>
                <a:lnTo>
                  <a:pt x="45204" y="3399"/>
                </a:lnTo>
                <a:lnTo>
                  <a:pt x="49373" y="2135"/>
                </a:lnTo>
                <a:lnTo>
                  <a:pt x="53667" y="1281"/>
                </a:lnTo>
                <a:lnTo>
                  <a:pt x="57960" y="427"/>
                </a:lnTo>
                <a:lnTo>
                  <a:pt x="62297" y="0"/>
                </a:lnTo>
                <a:lnTo>
                  <a:pt x="66675" y="0"/>
                </a:lnTo>
                <a:lnTo>
                  <a:pt x="1948047" y="0"/>
                </a:lnTo>
                <a:lnTo>
                  <a:pt x="1949917" y="0"/>
                </a:lnTo>
                <a:lnTo>
                  <a:pt x="1951716" y="357"/>
                </a:lnTo>
                <a:lnTo>
                  <a:pt x="1961076" y="8705"/>
                </a:lnTo>
                <a:lnTo>
                  <a:pt x="1961792" y="10433"/>
                </a:lnTo>
                <a:lnTo>
                  <a:pt x="1962150" y="12232"/>
                </a:lnTo>
                <a:lnTo>
                  <a:pt x="1962150" y="14102"/>
                </a:lnTo>
                <a:lnTo>
                  <a:pt x="1962150" y="3853047"/>
                </a:lnTo>
                <a:lnTo>
                  <a:pt x="1962150" y="3854917"/>
                </a:lnTo>
                <a:lnTo>
                  <a:pt x="1961792" y="3856716"/>
                </a:lnTo>
                <a:lnTo>
                  <a:pt x="1948047" y="3867149"/>
                </a:lnTo>
                <a:lnTo>
                  <a:pt x="66675" y="3867149"/>
                </a:lnTo>
                <a:lnTo>
                  <a:pt x="41159" y="3862073"/>
                </a:lnTo>
                <a:lnTo>
                  <a:pt x="37114" y="3860398"/>
                </a:lnTo>
                <a:lnTo>
                  <a:pt x="8804" y="3833876"/>
                </a:lnTo>
                <a:lnTo>
                  <a:pt x="5075" y="3825989"/>
                </a:lnTo>
                <a:lnTo>
                  <a:pt x="3399" y="3821944"/>
                </a:lnTo>
                <a:lnTo>
                  <a:pt x="2135" y="3817775"/>
                </a:lnTo>
                <a:lnTo>
                  <a:pt x="1281" y="3813482"/>
                </a:lnTo>
                <a:lnTo>
                  <a:pt x="427" y="3809188"/>
                </a:lnTo>
                <a:lnTo>
                  <a:pt x="0" y="3804852"/>
                </a:lnTo>
                <a:lnTo>
                  <a:pt x="0" y="3800474"/>
                </a:lnTo>
                <a:close/>
              </a:path>
            </a:pathLst>
          </a:custGeom>
          <a:ln w="19049">
            <a:solidFill>
              <a:srgbClr val="D8D4D4"/>
            </a:solidFill>
          </a:ln>
        </p:spPr>
        <p:txBody>
          <a:bodyPr wrap="square" lIns="0" tIns="0" rIns="0" bIns="0" rtlCol="0"/>
          <a:lstStyle>
            <a:defPPr>
              <a:defRPr kern="0"/>
            </a:defPPr>
          </a:lstStyle>
          <a:p>
            <a:endParaRPr/>
          </a:p>
        </p:txBody>
      </p:sp>
      <p:sp>
        <p:nvSpPr>
          <p:cNvPr id="11" name="object 11">
            <a:extLst>
              <a:ext uri="{FF2B5EF4-FFF2-40B4-BE49-F238E27FC236}">
                <a16:creationId xmlns:a16="http://schemas.microsoft.com/office/drawing/2014/main" id="{DD0CDA4A-DE5F-244D-0A74-2C99F84FD6B5}"/>
              </a:ext>
            </a:extLst>
          </p:cNvPr>
          <p:cNvSpPr txBox="1"/>
          <p:nvPr/>
        </p:nvSpPr>
        <p:spPr>
          <a:xfrm>
            <a:off x="6685280" y="2423203"/>
            <a:ext cx="1524796" cy="3442674"/>
          </a:xfrm>
          <a:prstGeom prst="rect">
            <a:avLst/>
          </a:prstGeom>
        </p:spPr>
        <p:txBody>
          <a:bodyPr vert="horz" wrap="square" lIns="0" tIns="12065" rIns="0" bIns="0" rtlCol="0" anchor="t">
            <a:spAutoFit/>
          </a:bodyPr>
          <a:lstStyle>
            <a:defPPr>
              <a:defRPr kern="0"/>
            </a:defPPr>
          </a:lstStyle>
          <a:p>
            <a:pPr marL="12700" marR="374650">
              <a:lnSpc>
                <a:spcPct val="105800"/>
              </a:lnSpc>
              <a:spcBef>
                <a:spcPts val="95"/>
              </a:spcBef>
            </a:pPr>
            <a:r>
              <a:rPr sz="1950" spc="-20" dirty="0">
                <a:latin typeface="Georgia"/>
                <a:cs typeface="Georgia"/>
              </a:rPr>
              <a:t>Safe </a:t>
            </a:r>
            <a:r>
              <a:rPr sz="1950" spc="-10" dirty="0">
                <a:latin typeface="Georgia"/>
                <a:cs typeface="Georgia"/>
              </a:rPr>
              <a:t>Migration</a:t>
            </a:r>
            <a:r>
              <a:rPr lang="en-US" sz="1950" spc="-10" dirty="0">
                <a:latin typeface="Georgia"/>
                <a:cs typeface="Georgia"/>
              </a:rPr>
              <a:t>:</a:t>
            </a:r>
            <a:endParaRPr lang="en-US" sz="1950" dirty="0">
              <a:latin typeface="Georgia"/>
              <a:cs typeface="Georgia"/>
            </a:endParaRPr>
          </a:p>
          <a:p>
            <a:pPr marL="12700" marR="5080">
              <a:lnSpc>
                <a:spcPct val="136900"/>
              </a:lnSpc>
              <a:spcBef>
                <a:spcPts val="520"/>
              </a:spcBef>
            </a:pPr>
            <a:r>
              <a:rPr sz="1450" spc="70" dirty="0">
                <a:latin typeface="Trebuchet MS"/>
                <a:cs typeface="Trebuchet MS"/>
              </a:rPr>
              <a:t>Phase</a:t>
            </a:r>
            <a:r>
              <a:rPr sz="1450" spc="-45" dirty="0">
                <a:latin typeface="Trebuchet MS"/>
                <a:cs typeface="Trebuchet MS"/>
              </a:rPr>
              <a:t> </a:t>
            </a:r>
            <a:r>
              <a:rPr sz="1450" spc="25" dirty="0">
                <a:latin typeface="Trebuchet MS"/>
                <a:cs typeface="Trebuchet MS"/>
              </a:rPr>
              <a:t>out </a:t>
            </a:r>
            <a:r>
              <a:rPr sz="1450" spc="35" dirty="0">
                <a:latin typeface="Trebuchet MS"/>
                <a:cs typeface="Trebuchet MS"/>
              </a:rPr>
              <a:t>Automation </a:t>
            </a:r>
            <a:r>
              <a:rPr sz="1450" spc="90" dirty="0">
                <a:latin typeface="Trebuchet MS"/>
                <a:cs typeface="Trebuchet MS"/>
              </a:rPr>
              <a:t>Accounts</a:t>
            </a:r>
            <a:r>
              <a:rPr sz="1450" spc="-45" dirty="0">
                <a:latin typeface="Trebuchet MS"/>
                <a:cs typeface="Trebuchet MS"/>
              </a:rPr>
              <a:t> </a:t>
            </a:r>
            <a:r>
              <a:rPr sz="1450" spc="-20" dirty="0">
                <a:latin typeface="Trebuchet MS"/>
                <a:cs typeface="Trebuchet MS"/>
              </a:rPr>
              <a:t>with </a:t>
            </a:r>
            <a:r>
              <a:rPr sz="1450" spc="65" dirty="0">
                <a:latin typeface="Trebuchet MS"/>
                <a:cs typeface="Trebuchet MS"/>
              </a:rPr>
              <a:t>staged</a:t>
            </a:r>
            <a:r>
              <a:rPr sz="1450" spc="-40" dirty="0">
                <a:latin typeface="Trebuchet MS"/>
                <a:cs typeface="Trebuchet MS"/>
              </a:rPr>
              <a:t> </a:t>
            </a:r>
            <a:r>
              <a:rPr sz="1450" spc="-10" dirty="0">
                <a:latin typeface="Trebuchet MS"/>
                <a:cs typeface="Trebuchet MS"/>
              </a:rPr>
              <a:t>transfers, fallback </a:t>
            </a:r>
            <a:r>
              <a:rPr sz="1450" dirty="0">
                <a:latin typeface="Trebuchet MS"/>
                <a:cs typeface="Trebuchet MS"/>
              </a:rPr>
              <a:t>rollbacks,</a:t>
            </a:r>
            <a:r>
              <a:rPr sz="1450" spc="-70" dirty="0">
                <a:latin typeface="Trebuchet MS"/>
                <a:cs typeface="Trebuchet MS"/>
              </a:rPr>
              <a:t> </a:t>
            </a:r>
            <a:r>
              <a:rPr sz="1450" spc="45" dirty="0">
                <a:latin typeface="Trebuchet MS"/>
                <a:cs typeface="Trebuchet MS"/>
              </a:rPr>
              <a:t>and </a:t>
            </a:r>
            <a:r>
              <a:rPr sz="1450" spc="70" dirty="0">
                <a:latin typeface="Trebuchet MS"/>
                <a:cs typeface="Trebuchet MS"/>
              </a:rPr>
              <a:t>smoke</a:t>
            </a:r>
            <a:r>
              <a:rPr sz="1450" spc="-30" dirty="0">
                <a:latin typeface="Trebuchet MS"/>
                <a:cs typeface="Trebuchet MS"/>
              </a:rPr>
              <a:t> </a:t>
            </a:r>
            <a:r>
              <a:rPr sz="1450" spc="60" dirty="0">
                <a:latin typeface="Trebuchet MS"/>
                <a:cs typeface="Trebuchet MS"/>
              </a:rPr>
              <a:t>tests</a:t>
            </a:r>
            <a:r>
              <a:rPr sz="1450" spc="-25" dirty="0">
                <a:latin typeface="Trebuchet MS"/>
                <a:cs typeface="Trebuchet MS"/>
              </a:rPr>
              <a:t> to </a:t>
            </a:r>
            <a:r>
              <a:rPr sz="1450" dirty="0">
                <a:latin typeface="Trebuchet MS"/>
                <a:cs typeface="Trebuchet MS"/>
              </a:rPr>
              <a:t>avoid</a:t>
            </a:r>
            <a:r>
              <a:rPr sz="1450" spc="145" dirty="0">
                <a:latin typeface="Trebuchet MS"/>
                <a:cs typeface="Trebuchet MS"/>
              </a:rPr>
              <a:t> </a:t>
            </a:r>
            <a:r>
              <a:rPr sz="1450" spc="-10" dirty="0">
                <a:latin typeface="Trebuchet MS"/>
                <a:cs typeface="Trebuchet MS"/>
              </a:rPr>
              <a:t>workload disruption.</a:t>
            </a:r>
            <a:endParaRPr sz="1450">
              <a:latin typeface="Trebuchet MS"/>
              <a:cs typeface="Trebuchet MS"/>
            </a:endParaRPr>
          </a:p>
        </p:txBody>
      </p:sp>
      <p:sp>
        <p:nvSpPr>
          <p:cNvPr id="12" name="object 12">
            <a:extLst>
              <a:ext uri="{FF2B5EF4-FFF2-40B4-BE49-F238E27FC236}">
                <a16:creationId xmlns:a16="http://schemas.microsoft.com/office/drawing/2014/main" id="{3773D98D-F644-5D30-898F-B0618B7D0FCC}"/>
              </a:ext>
            </a:extLst>
          </p:cNvPr>
          <p:cNvSpPr/>
          <p:nvPr/>
        </p:nvSpPr>
        <p:spPr>
          <a:xfrm>
            <a:off x="299720" y="2237739"/>
            <a:ext cx="352424" cy="3886200"/>
          </a:xfrm>
          <a:custGeom>
            <a:avLst/>
            <a:gdLst/>
            <a:ahLst/>
            <a:cxnLst/>
            <a:rect l="l" t="t" r="r" b="b"/>
            <a:pathLst>
              <a:path w="76200" h="3886200">
                <a:moveTo>
                  <a:pt x="76200" y="3886199"/>
                </a:moveTo>
                <a:lnTo>
                  <a:pt x="20494" y="3886199"/>
                </a:lnTo>
                <a:lnTo>
                  <a:pt x="0" y="3865705"/>
                </a:lnTo>
                <a:lnTo>
                  <a:pt x="0" y="3862572"/>
                </a:lnTo>
                <a:lnTo>
                  <a:pt x="0" y="20494"/>
                </a:lnTo>
                <a:lnTo>
                  <a:pt x="20494" y="0"/>
                </a:lnTo>
                <a:lnTo>
                  <a:pt x="76200" y="0"/>
                </a:lnTo>
                <a:lnTo>
                  <a:pt x="76200" y="3886199"/>
                </a:lnTo>
                <a:close/>
              </a:path>
            </a:pathLst>
          </a:custGeom>
          <a:solidFill>
            <a:srgbClr val="DF4E00"/>
          </a:solidFill>
        </p:spPr>
        <p:txBody>
          <a:bodyPr wrap="square" lIns="0" tIns="0" rIns="0" bIns="0" rtlCol="0"/>
          <a:lstStyle>
            <a:defPPr>
              <a:defRPr kern="0"/>
            </a:defPPr>
          </a:lstStyle>
          <a:p>
            <a:endParaRPr/>
          </a:p>
        </p:txBody>
      </p:sp>
      <p:sp>
        <p:nvSpPr>
          <p:cNvPr id="13" name="object 13">
            <a:extLst>
              <a:ext uri="{FF2B5EF4-FFF2-40B4-BE49-F238E27FC236}">
                <a16:creationId xmlns:a16="http://schemas.microsoft.com/office/drawing/2014/main" id="{C7A9E74B-FE2C-132F-8651-F00FA7E0151C}"/>
              </a:ext>
            </a:extLst>
          </p:cNvPr>
          <p:cNvSpPr/>
          <p:nvPr/>
        </p:nvSpPr>
        <p:spPr>
          <a:xfrm>
            <a:off x="2987155" y="2237104"/>
            <a:ext cx="55880" cy="3896360"/>
          </a:xfrm>
          <a:custGeom>
            <a:avLst/>
            <a:gdLst/>
            <a:ahLst/>
            <a:cxnLst/>
            <a:rect l="l" t="t" r="r" b="b"/>
            <a:pathLst>
              <a:path w="76200" h="3886200">
                <a:moveTo>
                  <a:pt x="76200" y="3886199"/>
                </a:moveTo>
                <a:lnTo>
                  <a:pt x="20494" y="3886199"/>
                </a:lnTo>
                <a:lnTo>
                  <a:pt x="0" y="3865705"/>
                </a:lnTo>
                <a:lnTo>
                  <a:pt x="0" y="3862572"/>
                </a:lnTo>
                <a:lnTo>
                  <a:pt x="0" y="20494"/>
                </a:lnTo>
                <a:lnTo>
                  <a:pt x="20494" y="0"/>
                </a:lnTo>
                <a:lnTo>
                  <a:pt x="76200" y="0"/>
                </a:lnTo>
                <a:lnTo>
                  <a:pt x="76200" y="3886199"/>
                </a:lnTo>
                <a:close/>
              </a:path>
            </a:pathLst>
          </a:custGeom>
          <a:solidFill>
            <a:srgbClr val="DF4E00"/>
          </a:solidFill>
        </p:spPr>
        <p:txBody>
          <a:bodyPr wrap="square" lIns="0" tIns="0" rIns="0" bIns="0" rtlCol="0"/>
          <a:lstStyle>
            <a:defPPr>
              <a:defRPr kern="0"/>
            </a:defPPr>
          </a:lstStyle>
          <a:p>
            <a:endParaRPr/>
          </a:p>
        </p:txBody>
      </p:sp>
      <p:sp>
        <p:nvSpPr>
          <p:cNvPr id="14" name="object 14">
            <a:extLst>
              <a:ext uri="{FF2B5EF4-FFF2-40B4-BE49-F238E27FC236}">
                <a16:creationId xmlns:a16="http://schemas.microsoft.com/office/drawing/2014/main" id="{8D22404A-E0B4-A756-6F2E-47A34C383B93}"/>
              </a:ext>
            </a:extLst>
          </p:cNvPr>
          <p:cNvSpPr/>
          <p:nvPr/>
        </p:nvSpPr>
        <p:spPr>
          <a:xfrm>
            <a:off x="6095055" y="2274398"/>
            <a:ext cx="66039" cy="3886200"/>
          </a:xfrm>
          <a:custGeom>
            <a:avLst/>
            <a:gdLst/>
            <a:ahLst/>
            <a:cxnLst/>
            <a:rect l="l" t="t" r="r" b="b"/>
            <a:pathLst>
              <a:path w="76200" h="3886200">
                <a:moveTo>
                  <a:pt x="76200" y="3886199"/>
                </a:moveTo>
                <a:lnTo>
                  <a:pt x="20494" y="3886199"/>
                </a:lnTo>
                <a:lnTo>
                  <a:pt x="0" y="3865705"/>
                </a:lnTo>
                <a:lnTo>
                  <a:pt x="0" y="3862572"/>
                </a:lnTo>
                <a:lnTo>
                  <a:pt x="0" y="20494"/>
                </a:lnTo>
                <a:lnTo>
                  <a:pt x="20494" y="0"/>
                </a:lnTo>
                <a:lnTo>
                  <a:pt x="76200" y="0"/>
                </a:lnTo>
                <a:lnTo>
                  <a:pt x="76200" y="3886199"/>
                </a:lnTo>
                <a:close/>
              </a:path>
            </a:pathLst>
          </a:custGeom>
          <a:solidFill>
            <a:srgbClr val="DF4E00"/>
          </a:solidFill>
        </p:spPr>
        <p:txBody>
          <a:bodyPr wrap="square" lIns="0" tIns="0" rIns="0" bIns="0" rtlCol="0"/>
          <a:lstStyle>
            <a:defPPr>
              <a:defRPr kern="0"/>
            </a:defPPr>
          </a:lstStyle>
          <a:p>
            <a:endParaRPr/>
          </a:p>
        </p:txBody>
      </p:sp>
    </p:spTree>
    <p:extLst>
      <p:ext uri="{BB962C8B-B14F-4D97-AF65-F5344CB8AC3E}">
        <p14:creationId xmlns:p14="http://schemas.microsoft.com/office/powerpoint/2010/main" val="2143742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2D4610D-3FE4-F36D-E264-91807EE165C6}"/>
              </a:ext>
            </a:extLst>
          </p:cNvPr>
          <p:cNvSpPr/>
          <p:nvPr/>
        </p:nvSpPr>
        <p:spPr>
          <a:xfrm>
            <a:off x="646301" y="1575382"/>
            <a:ext cx="10135898" cy="456080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F09F4094-9E6B-8831-6895-4D6EF30BE2EE}"/>
              </a:ext>
            </a:extLst>
          </p:cNvPr>
          <p:cNvSpPr>
            <a:spLocks noGrp="1"/>
          </p:cNvSpPr>
          <p:nvPr>
            <p:ph type="dt" sz="half" idx="10"/>
          </p:nvPr>
        </p:nvSpPr>
        <p:spPr/>
        <p:txBody>
          <a:bodyPr/>
          <a:lstStyle/>
          <a:p>
            <a:fld id="{5DC77341-2BF0-4DE2-AB72-1AD51373B86D}" type="datetime1">
              <a:t>9/23/2026</a:t>
            </a:fld>
            <a:endParaRPr lang="en-US" dirty="0"/>
          </a:p>
        </p:txBody>
      </p:sp>
      <p:sp>
        <p:nvSpPr>
          <p:cNvPr id="3" name="Footer Placeholder 2">
            <a:extLst>
              <a:ext uri="{FF2B5EF4-FFF2-40B4-BE49-F238E27FC236}">
                <a16:creationId xmlns:a16="http://schemas.microsoft.com/office/drawing/2014/main" id="{D0CF06A9-A05A-486D-6C20-E934ABA0E683}"/>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B95BCF3F-05CD-9356-A0FE-916D9697FC79}"/>
              </a:ext>
            </a:extLst>
          </p:cNvPr>
          <p:cNvSpPr>
            <a:spLocks noGrp="1"/>
          </p:cNvSpPr>
          <p:nvPr>
            <p:ph type="sldNum" sz="quarter" idx="12"/>
          </p:nvPr>
        </p:nvSpPr>
        <p:spPr/>
        <p:txBody>
          <a:bodyPr/>
          <a:lstStyle/>
          <a:p>
            <a:fld id="{196A61CA-0502-4EE4-9724-96EA822543E5}" type="slidenum">
              <a:rPr lang="en-US" dirty="0"/>
              <a:t>15</a:t>
            </a:fld>
            <a:endParaRPr lang="en-US" dirty="0"/>
          </a:p>
        </p:txBody>
      </p:sp>
      <p:sp>
        <p:nvSpPr>
          <p:cNvPr id="5" name="object 2" descr="$PPTXTitle">
            <a:extLst>
              <a:ext uri="{FF2B5EF4-FFF2-40B4-BE49-F238E27FC236}">
                <a16:creationId xmlns:a16="http://schemas.microsoft.com/office/drawing/2014/main" id="{D39133D8-F69A-6D57-1AC6-8CFA6F36A5AC}"/>
              </a:ext>
            </a:extLst>
          </p:cNvPr>
          <p:cNvSpPr txBox="1">
            <a:spLocks noGrp="1"/>
          </p:cNvSpPr>
          <p:nvPr/>
        </p:nvSpPr>
        <p:spPr>
          <a:xfrm>
            <a:off x="648840" y="815117"/>
            <a:ext cx="10236835" cy="621030"/>
          </a:xfrm>
          <a:prstGeom prst="rect">
            <a:avLst/>
          </a:prstGeom>
        </p:spPr>
        <p:txBody>
          <a:bodyPr vert="horz" wrap="square" lIns="0" tIns="13335" rIns="0" bIns="0" rtlCol="0" anchor="t">
            <a:spAutoFit/>
          </a:bodyPr>
          <a:lstStyle>
            <a:lvl1pPr>
              <a:defRPr sz="3900" b="0" i="0">
                <a:solidFill>
                  <a:srgbClr val="010101"/>
                </a:solidFill>
                <a:latin typeface="Georgia"/>
                <a:ea typeface="+mj-ea"/>
                <a:cs typeface="Georgia"/>
              </a:defRPr>
            </a:lvl1pPr>
          </a:lstStyle>
          <a:p>
            <a:pPr marL="12700">
              <a:lnSpc>
                <a:spcPct val="100000"/>
              </a:lnSpc>
              <a:spcBef>
                <a:spcPts val="105"/>
              </a:spcBef>
            </a:pPr>
            <a:r>
              <a:rPr dirty="0">
                <a:solidFill>
                  <a:schemeClr val="tx1"/>
                </a:solidFill>
              </a:rPr>
              <a:t>The</a:t>
            </a:r>
            <a:r>
              <a:rPr spc="55" dirty="0">
                <a:solidFill>
                  <a:schemeClr val="tx1"/>
                </a:solidFill>
              </a:rPr>
              <a:t> </a:t>
            </a:r>
            <a:r>
              <a:rPr dirty="0">
                <a:solidFill>
                  <a:schemeClr val="tx1"/>
                </a:solidFill>
              </a:rPr>
              <a:t>Future:</a:t>
            </a:r>
            <a:r>
              <a:rPr spc="-20" dirty="0">
                <a:solidFill>
                  <a:schemeClr val="tx1"/>
                </a:solidFill>
              </a:rPr>
              <a:t> </a:t>
            </a:r>
            <a:r>
              <a:rPr dirty="0">
                <a:solidFill>
                  <a:schemeClr val="tx1"/>
                </a:solidFill>
              </a:rPr>
              <a:t>Autonomous</a:t>
            </a:r>
            <a:r>
              <a:rPr spc="60" dirty="0">
                <a:solidFill>
                  <a:schemeClr val="tx1"/>
                </a:solidFill>
              </a:rPr>
              <a:t> </a:t>
            </a:r>
            <a:r>
              <a:rPr dirty="0">
                <a:solidFill>
                  <a:schemeClr val="tx1"/>
                </a:solidFill>
              </a:rPr>
              <a:t>Patching</a:t>
            </a:r>
            <a:r>
              <a:rPr spc="55" dirty="0">
                <a:solidFill>
                  <a:schemeClr val="tx1"/>
                </a:solidFill>
              </a:rPr>
              <a:t> </a:t>
            </a:r>
            <a:r>
              <a:rPr spc="-10" dirty="0">
                <a:solidFill>
                  <a:schemeClr val="tx1"/>
                </a:solidFill>
              </a:rPr>
              <a:t>Operations</a:t>
            </a:r>
            <a:endParaRPr lang="en-US" spc="-10" dirty="0">
              <a:solidFill>
                <a:schemeClr val="tx1"/>
              </a:solidFill>
            </a:endParaRPr>
          </a:p>
        </p:txBody>
      </p:sp>
      <p:sp>
        <p:nvSpPr>
          <p:cNvPr id="6" name="object 3">
            <a:extLst>
              <a:ext uri="{FF2B5EF4-FFF2-40B4-BE49-F238E27FC236}">
                <a16:creationId xmlns:a16="http://schemas.microsoft.com/office/drawing/2014/main" id="{C39BF996-1D2E-BA42-F82A-0B90CDDA3175}"/>
              </a:ext>
            </a:extLst>
          </p:cNvPr>
          <p:cNvSpPr txBox="1"/>
          <p:nvPr/>
        </p:nvSpPr>
        <p:spPr>
          <a:xfrm>
            <a:off x="648840" y="1741423"/>
            <a:ext cx="8776335" cy="240450"/>
          </a:xfrm>
          <a:prstGeom prst="rect">
            <a:avLst/>
          </a:prstGeom>
        </p:spPr>
        <p:txBody>
          <a:bodyPr vert="horz" wrap="square" lIns="0" tIns="17145" rIns="0" bIns="0" rtlCol="0" anchor="t">
            <a:spAutoFit/>
          </a:bodyPr>
          <a:lstStyle>
            <a:defPPr>
              <a:defRPr kern="0"/>
            </a:defPPr>
          </a:lstStyle>
          <a:p>
            <a:pPr marL="12700">
              <a:lnSpc>
                <a:spcPct val="100000"/>
              </a:lnSpc>
              <a:spcBef>
                <a:spcPts val="135"/>
              </a:spcBef>
            </a:pPr>
            <a:r>
              <a:rPr sz="1450" b="1" dirty="0">
                <a:latin typeface="Trebuchet MS"/>
                <a:cs typeface="Trebuchet MS"/>
              </a:rPr>
              <a:t>Vision:</a:t>
            </a:r>
            <a:r>
              <a:rPr sz="1450" b="1" spc="120" dirty="0">
                <a:latin typeface="Trebuchet MS"/>
                <a:cs typeface="Trebuchet MS"/>
              </a:rPr>
              <a:t> </a:t>
            </a:r>
            <a:r>
              <a:rPr sz="1450" spc="135" dirty="0">
                <a:latin typeface="Trebuchet MS"/>
                <a:cs typeface="Trebuchet MS"/>
              </a:rPr>
              <a:t>A</a:t>
            </a:r>
            <a:r>
              <a:rPr sz="1450" spc="120" dirty="0">
                <a:latin typeface="Trebuchet MS"/>
                <a:cs typeface="Trebuchet MS"/>
              </a:rPr>
              <a:t> </a:t>
            </a:r>
            <a:r>
              <a:rPr sz="1450" dirty="0">
                <a:latin typeface="Trebuchet MS"/>
                <a:cs typeface="Trebuchet MS"/>
              </a:rPr>
              <a:t>self</a:t>
            </a:r>
            <a:r>
              <a:rPr sz="1450" dirty="0">
                <a:latin typeface="PMingLiU-ExtB"/>
                <a:cs typeface="PMingLiU-ExtB"/>
              </a:rPr>
              <a:t>-</a:t>
            </a:r>
            <a:r>
              <a:rPr sz="1450" spc="-10" dirty="0">
                <a:latin typeface="Trebuchet MS"/>
                <a:cs typeface="Trebuchet MS"/>
              </a:rPr>
              <a:t>healing,</a:t>
            </a:r>
            <a:r>
              <a:rPr sz="1450" spc="120" dirty="0">
                <a:latin typeface="Trebuchet MS"/>
                <a:cs typeface="Trebuchet MS"/>
              </a:rPr>
              <a:t> </a:t>
            </a:r>
            <a:r>
              <a:rPr sz="1450" dirty="0">
                <a:latin typeface="Trebuchet MS"/>
                <a:cs typeface="Trebuchet MS"/>
              </a:rPr>
              <a:t>policy</a:t>
            </a:r>
            <a:r>
              <a:rPr sz="1450" dirty="0">
                <a:latin typeface="PMingLiU-ExtB"/>
                <a:cs typeface="PMingLiU-ExtB"/>
              </a:rPr>
              <a:t>-</a:t>
            </a:r>
            <a:r>
              <a:rPr sz="1450" spc="50" dirty="0">
                <a:latin typeface="Trebuchet MS"/>
                <a:cs typeface="Trebuchet MS"/>
              </a:rPr>
              <a:t>governed</a:t>
            </a:r>
            <a:r>
              <a:rPr sz="1450" spc="125" dirty="0">
                <a:latin typeface="Trebuchet MS"/>
                <a:cs typeface="Trebuchet MS"/>
              </a:rPr>
              <a:t> </a:t>
            </a:r>
            <a:r>
              <a:rPr sz="1450" dirty="0">
                <a:latin typeface="Trebuchet MS"/>
                <a:cs typeface="Trebuchet MS"/>
              </a:rPr>
              <a:t>environment</a:t>
            </a:r>
            <a:r>
              <a:rPr sz="1450" spc="120" dirty="0">
                <a:latin typeface="Trebuchet MS"/>
                <a:cs typeface="Trebuchet MS"/>
              </a:rPr>
              <a:t> </a:t>
            </a:r>
            <a:r>
              <a:rPr sz="1450" dirty="0">
                <a:latin typeface="Trebuchet MS"/>
                <a:cs typeface="Trebuchet MS"/>
              </a:rPr>
              <a:t>where</a:t>
            </a:r>
            <a:r>
              <a:rPr sz="1450" spc="120" dirty="0">
                <a:latin typeface="Trebuchet MS"/>
                <a:cs typeface="Trebuchet MS"/>
              </a:rPr>
              <a:t> </a:t>
            </a:r>
            <a:r>
              <a:rPr sz="1450" spc="55" dirty="0">
                <a:latin typeface="Trebuchet MS"/>
                <a:cs typeface="Trebuchet MS"/>
              </a:rPr>
              <a:t>compliance</a:t>
            </a:r>
            <a:r>
              <a:rPr sz="1450" spc="125" dirty="0">
                <a:latin typeface="Trebuchet MS"/>
                <a:cs typeface="Trebuchet MS"/>
              </a:rPr>
              <a:t> </a:t>
            </a:r>
            <a:r>
              <a:rPr sz="1450" dirty="0">
                <a:latin typeface="Trebuchet MS"/>
                <a:cs typeface="Trebuchet MS"/>
              </a:rPr>
              <a:t>is</a:t>
            </a:r>
            <a:r>
              <a:rPr sz="1450" spc="120" dirty="0">
                <a:latin typeface="Trebuchet MS"/>
                <a:cs typeface="Trebuchet MS"/>
              </a:rPr>
              <a:t> </a:t>
            </a:r>
            <a:r>
              <a:rPr sz="1450" dirty="0">
                <a:latin typeface="Trebuchet MS"/>
                <a:cs typeface="Trebuchet MS"/>
              </a:rPr>
              <a:t>automatic</a:t>
            </a:r>
            <a:r>
              <a:rPr sz="1450" spc="120" dirty="0">
                <a:latin typeface="Trebuchet MS"/>
                <a:cs typeface="Trebuchet MS"/>
              </a:rPr>
              <a:t> </a:t>
            </a:r>
            <a:r>
              <a:rPr sz="1450" spc="70" dirty="0">
                <a:latin typeface="Trebuchet MS"/>
                <a:cs typeface="Trebuchet MS"/>
              </a:rPr>
              <a:t>and</a:t>
            </a:r>
            <a:r>
              <a:rPr sz="1450" spc="125" dirty="0">
                <a:latin typeface="Trebuchet MS"/>
                <a:cs typeface="Trebuchet MS"/>
              </a:rPr>
              <a:t> </a:t>
            </a:r>
            <a:r>
              <a:rPr sz="1450" spc="-10" dirty="0">
                <a:latin typeface="Trebuchet MS"/>
                <a:cs typeface="Trebuchet MS"/>
              </a:rPr>
              <a:t>measurable.</a:t>
            </a:r>
            <a:endParaRPr lang="en-US" sz="1450">
              <a:latin typeface="Trebuchet MS"/>
              <a:cs typeface="Trebuchet MS"/>
            </a:endParaRPr>
          </a:p>
        </p:txBody>
      </p:sp>
      <p:sp>
        <p:nvSpPr>
          <p:cNvPr id="7" name="object 4">
            <a:extLst>
              <a:ext uri="{FF2B5EF4-FFF2-40B4-BE49-F238E27FC236}">
                <a16:creationId xmlns:a16="http://schemas.microsoft.com/office/drawing/2014/main" id="{E04EF8F8-1578-90B7-0412-56EC8E0D4FAB}"/>
              </a:ext>
            </a:extLst>
          </p:cNvPr>
          <p:cNvSpPr/>
          <p:nvPr/>
        </p:nvSpPr>
        <p:spPr>
          <a:xfrm>
            <a:off x="657224" y="2227579"/>
            <a:ext cx="762000" cy="1133475"/>
          </a:xfrm>
          <a:custGeom>
            <a:avLst/>
            <a:gdLst/>
            <a:ahLst/>
            <a:cxnLst/>
            <a:rect l="l" t="t" r="r" b="b"/>
            <a:pathLst>
              <a:path w="762000" h="1133475">
                <a:moveTo>
                  <a:pt x="380999" y="1133474"/>
                </a:moveTo>
                <a:lnTo>
                  <a:pt x="334358" y="1130609"/>
                </a:lnTo>
                <a:lnTo>
                  <a:pt x="288424" y="1122056"/>
                </a:lnTo>
                <a:lnTo>
                  <a:pt x="243882" y="1107945"/>
                </a:lnTo>
                <a:lnTo>
                  <a:pt x="201397" y="1088486"/>
                </a:lnTo>
                <a:lnTo>
                  <a:pt x="161614" y="1063972"/>
                </a:lnTo>
                <a:lnTo>
                  <a:pt x="125135" y="1034777"/>
                </a:lnTo>
                <a:lnTo>
                  <a:pt x="92505" y="1001335"/>
                </a:lnTo>
                <a:lnTo>
                  <a:pt x="64209" y="964146"/>
                </a:lnTo>
                <a:lnTo>
                  <a:pt x="40680" y="923773"/>
                </a:lnTo>
                <a:lnTo>
                  <a:pt x="22271" y="880829"/>
                </a:lnTo>
                <a:lnTo>
                  <a:pt x="9257" y="835955"/>
                </a:lnTo>
                <a:lnTo>
                  <a:pt x="1834" y="789819"/>
                </a:lnTo>
                <a:lnTo>
                  <a:pt x="0" y="752474"/>
                </a:lnTo>
                <a:lnTo>
                  <a:pt x="0" y="380999"/>
                </a:lnTo>
                <a:lnTo>
                  <a:pt x="2865" y="334358"/>
                </a:lnTo>
                <a:lnTo>
                  <a:pt x="11417" y="288424"/>
                </a:lnTo>
                <a:lnTo>
                  <a:pt x="25528" y="243882"/>
                </a:lnTo>
                <a:lnTo>
                  <a:pt x="44987" y="201397"/>
                </a:lnTo>
                <a:lnTo>
                  <a:pt x="69501" y="161614"/>
                </a:lnTo>
                <a:lnTo>
                  <a:pt x="98697" y="125135"/>
                </a:lnTo>
                <a:lnTo>
                  <a:pt x="132138" y="92505"/>
                </a:lnTo>
                <a:lnTo>
                  <a:pt x="169327" y="64209"/>
                </a:lnTo>
                <a:lnTo>
                  <a:pt x="209700" y="40680"/>
                </a:lnTo>
                <a:lnTo>
                  <a:pt x="252644" y="22271"/>
                </a:lnTo>
                <a:lnTo>
                  <a:pt x="297519" y="9257"/>
                </a:lnTo>
                <a:lnTo>
                  <a:pt x="343655" y="1834"/>
                </a:lnTo>
                <a:lnTo>
                  <a:pt x="380999" y="0"/>
                </a:lnTo>
                <a:lnTo>
                  <a:pt x="390353" y="114"/>
                </a:lnTo>
                <a:lnTo>
                  <a:pt x="436904" y="4123"/>
                </a:lnTo>
                <a:lnTo>
                  <a:pt x="482614" y="13800"/>
                </a:lnTo>
                <a:lnTo>
                  <a:pt x="526802" y="29001"/>
                </a:lnTo>
                <a:lnTo>
                  <a:pt x="568796" y="49497"/>
                </a:lnTo>
                <a:lnTo>
                  <a:pt x="607961" y="74977"/>
                </a:lnTo>
                <a:lnTo>
                  <a:pt x="643712" y="105059"/>
                </a:lnTo>
                <a:lnTo>
                  <a:pt x="675516" y="139295"/>
                </a:lnTo>
                <a:lnTo>
                  <a:pt x="702890" y="177167"/>
                </a:lnTo>
                <a:lnTo>
                  <a:pt x="725419" y="218101"/>
                </a:lnTo>
                <a:lnTo>
                  <a:pt x="742769" y="261484"/>
                </a:lnTo>
                <a:lnTo>
                  <a:pt x="754678" y="306670"/>
                </a:lnTo>
                <a:lnTo>
                  <a:pt x="760967" y="352974"/>
                </a:lnTo>
                <a:lnTo>
                  <a:pt x="761999" y="380999"/>
                </a:lnTo>
                <a:lnTo>
                  <a:pt x="761999" y="752474"/>
                </a:lnTo>
                <a:lnTo>
                  <a:pt x="759134" y="799116"/>
                </a:lnTo>
                <a:lnTo>
                  <a:pt x="750581" y="845050"/>
                </a:lnTo>
                <a:lnTo>
                  <a:pt x="736471" y="889591"/>
                </a:lnTo>
                <a:lnTo>
                  <a:pt x="717011" y="932076"/>
                </a:lnTo>
                <a:lnTo>
                  <a:pt x="692498" y="971859"/>
                </a:lnTo>
                <a:lnTo>
                  <a:pt x="663302" y="1008338"/>
                </a:lnTo>
                <a:lnTo>
                  <a:pt x="629861" y="1040969"/>
                </a:lnTo>
                <a:lnTo>
                  <a:pt x="592672" y="1069264"/>
                </a:lnTo>
                <a:lnTo>
                  <a:pt x="552299" y="1092794"/>
                </a:lnTo>
                <a:lnTo>
                  <a:pt x="509355" y="1111203"/>
                </a:lnTo>
                <a:lnTo>
                  <a:pt x="464480" y="1124216"/>
                </a:lnTo>
                <a:lnTo>
                  <a:pt x="418344" y="1131640"/>
                </a:lnTo>
                <a:lnTo>
                  <a:pt x="380999" y="1133474"/>
                </a:lnTo>
                <a:close/>
              </a:path>
            </a:pathLst>
          </a:custGeom>
          <a:solidFill>
            <a:srgbClr val="F1EDED"/>
          </a:solidFill>
        </p:spPr>
        <p:txBody>
          <a:bodyPr wrap="square" lIns="0" tIns="0" rIns="0" bIns="0" rtlCol="0"/>
          <a:lstStyle>
            <a:defPPr>
              <a:defRPr kern="0"/>
            </a:defPPr>
          </a:lstStyle>
          <a:p>
            <a:endParaRPr/>
          </a:p>
        </p:txBody>
      </p:sp>
      <p:sp>
        <p:nvSpPr>
          <p:cNvPr id="8" name="object 5">
            <a:extLst>
              <a:ext uri="{FF2B5EF4-FFF2-40B4-BE49-F238E27FC236}">
                <a16:creationId xmlns:a16="http://schemas.microsoft.com/office/drawing/2014/main" id="{5D24D82A-B9F0-72A9-35DA-5EFD357C0BB4}"/>
              </a:ext>
            </a:extLst>
          </p:cNvPr>
          <p:cNvSpPr txBox="1"/>
          <p:nvPr/>
        </p:nvSpPr>
        <p:spPr>
          <a:xfrm>
            <a:off x="951259" y="2618486"/>
            <a:ext cx="176530" cy="365760"/>
          </a:xfrm>
          <a:prstGeom prst="rect">
            <a:avLst/>
          </a:prstGeom>
        </p:spPr>
        <p:txBody>
          <a:bodyPr vert="horz" wrap="square" lIns="0" tIns="16510" rIns="0" bIns="0" rtlCol="0">
            <a:spAutoFit/>
          </a:bodyPr>
          <a:lstStyle>
            <a:defPPr>
              <a:defRPr kern="0"/>
            </a:defPPr>
          </a:lstStyle>
          <a:p>
            <a:pPr marL="12700">
              <a:lnSpc>
                <a:spcPct val="100000"/>
              </a:lnSpc>
              <a:spcBef>
                <a:spcPts val="130"/>
              </a:spcBef>
            </a:pPr>
            <a:r>
              <a:rPr sz="2200" spc="185" dirty="0">
                <a:solidFill>
                  <a:srgbClr val="373737"/>
                </a:solidFill>
                <a:latin typeface="Georgia"/>
                <a:cs typeface="Georgia"/>
              </a:rPr>
              <a:t>1</a:t>
            </a:r>
            <a:endParaRPr sz="2200">
              <a:latin typeface="Georgia"/>
              <a:cs typeface="Georgia"/>
            </a:endParaRPr>
          </a:p>
        </p:txBody>
      </p:sp>
      <p:sp>
        <p:nvSpPr>
          <p:cNvPr id="9" name="object 6">
            <a:extLst>
              <a:ext uri="{FF2B5EF4-FFF2-40B4-BE49-F238E27FC236}">
                <a16:creationId xmlns:a16="http://schemas.microsoft.com/office/drawing/2014/main" id="{98196E66-180C-3776-2DF0-03D7E6DC4CBC}"/>
              </a:ext>
            </a:extLst>
          </p:cNvPr>
          <p:cNvSpPr txBox="1"/>
          <p:nvPr/>
        </p:nvSpPr>
        <p:spPr>
          <a:xfrm>
            <a:off x="1593899" y="2293239"/>
            <a:ext cx="5169535" cy="692785"/>
          </a:xfrm>
          <a:prstGeom prst="rect">
            <a:avLst/>
          </a:prstGeom>
        </p:spPr>
        <p:txBody>
          <a:bodyPr vert="horz" wrap="square" lIns="0" tIns="12700" rIns="0" bIns="0" rtlCol="0" anchor="t">
            <a:spAutoFit/>
          </a:bodyPr>
          <a:lstStyle>
            <a:defPPr>
              <a:defRPr kern="0"/>
            </a:defPPr>
          </a:lstStyle>
          <a:p>
            <a:pPr marL="12700">
              <a:lnSpc>
                <a:spcPct val="100000"/>
              </a:lnSpc>
              <a:spcBef>
                <a:spcPts val="100"/>
              </a:spcBef>
            </a:pPr>
            <a:r>
              <a:rPr sz="1950" dirty="0">
                <a:latin typeface="Georgia"/>
                <a:cs typeface="Georgia"/>
              </a:rPr>
              <a:t>Audit</a:t>
            </a:r>
            <a:r>
              <a:rPr sz="1950" spc="-5" dirty="0">
                <a:latin typeface="Georgia"/>
                <a:cs typeface="Georgia"/>
              </a:rPr>
              <a:t> </a:t>
            </a:r>
            <a:r>
              <a:rPr sz="1950" spc="-25" dirty="0">
                <a:latin typeface="Georgia"/>
                <a:cs typeface="Georgia"/>
              </a:rPr>
              <a:t>Now</a:t>
            </a:r>
            <a:endParaRPr lang="en-US" sz="1950">
              <a:latin typeface="Georgia"/>
              <a:cs typeface="Georgia"/>
            </a:endParaRPr>
          </a:p>
          <a:p>
            <a:pPr marL="12700">
              <a:lnSpc>
                <a:spcPct val="100000"/>
              </a:lnSpc>
              <a:spcBef>
                <a:spcPts val="1160"/>
              </a:spcBef>
            </a:pPr>
            <a:r>
              <a:rPr sz="1450" spc="10" dirty="0">
                <a:latin typeface="Trebuchet MS"/>
                <a:cs typeface="Trebuchet MS"/>
              </a:rPr>
              <a:t>Review</a:t>
            </a:r>
            <a:r>
              <a:rPr sz="1450" spc="50" dirty="0">
                <a:latin typeface="Trebuchet MS"/>
                <a:cs typeface="Trebuchet MS"/>
              </a:rPr>
              <a:t> </a:t>
            </a:r>
            <a:r>
              <a:rPr sz="1450" spc="10" dirty="0">
                <a:latin typeface="Trebuchet MS"/>
                <a:cs typeface="Trebuchet MS"/>
              </a:rPr>
              <a:t>current</a:t>
            </a:r>
            <a:r>
              <a:rPr sz="1450" spc="55" dirty="0">
                <a:latin typeface="Trebuchet MS"/>
                <a:cs typeface="Trebuchet MS"/>
              </a:rPr>
              <a:t> </a:t>
            </a:r>
            <a:r>
              <a:rPr sz="1450" spc="60" dirty="0">
                <a:latin typeface="Trebuchet MS"/>
                <a:cs typeface="Trebuchet MS"/>
              </a:rPr>
              <a:t>patch</a:t>
            </a:r>
            <a:r>
              <a:rPr sz="1450" spc="50" dirty="0">
                <a:latin typeface="Trebuchet MS"/>
                <a:cs typeface="Trebuchet MS"/>
              </a:rPr>
              <a:t> </a:t>
            </a:r>
            <a:r>
              <a:rPr sz="1450" spc="10" dirty="0">
                <a:latin typeface="Trebuchet MS"/>
                <a:cs typeface="Trebuchet MS"/>
              </a:rPr>
              <a:t>orchestration</a:t>
            </a:r>
            <a:r>
              <a:rPr sz="1450" spc="55" dirty="0">
                <a:latin typeface="Trebuchet MS"/>
                <a:cs typeface="Trebuchet MS"/>
              </a:rPr>
              <a:t> </a:t>
            </a:r>
            <a:r>
              <a:rPr sz="1450" spc="90" dirty="0">
                <a:latin typeface="Trebuchet MS"/>
                <a:cs typeface="Trebuchet MS"/>
              </a:rPr>
              <a:t>mode</a:t>
            </a:r>
            <a:r>
              <a:rPr sz="1450" spc="55" dirty="0">
                <a:latin typeface="Trebuchet MS"/>
                <a:cs typeface="Trebuchet MS"/>
              </a:rPr>
              <a:t> </a:t>
            </a:r>
            <a:r>
              <a:rPr sz="1450" spc="70" dirty="0">
                <a:latin typeface="Trebuchet MS"/>
                <a:cs typeface="Trebuchet MS"/>
              </a:rPr>
              <a:t>and</a:t>
            </a:r>
            <a:r>
              <a:rPr sz="1450" spc="50" dirty="0">
                <a:latin typeface="Trebuchet MS"/>
                <a:cs typeface="Trebuchet MS"/>
              </a:rPr>
              <a:t> </a:t>
            </a:r>
            <a:r>
              <a:rPr sz="1450" spc="10" dirty="0">
                <a:latin typeface="Trebuchet MS"/>
                <a:cs typeface="Trebuchet MS"/>
              </a:rPr>
              <a:t>tag</a:t>
            </a:r>
            <a:r>
              <a:rPr sz="1450" spc="55" dirty="0">
                <a:latin typeface="Trebuchet MS"/>
                <a:cs typeface="Trebuchet MS"/>
              </a:rPr>
              <a:t> </a:t>
            </a:r>
            <a:r>
              <a:rPr sz="1450" spc="-10" dirty="0">
                <a:latin typeface="Trebuchet MS"/>
                <a:cs typeface="Trebuchet MS"/>
              </a:rPr>
              <a:t>strategy.</a:t>
            </a:r>
            <a:endParaRPr sz="1450">
              <a:latin typeface="Trebuchet MS"/>
              <a:cs typeface="Trebuchet MS"/>
            </a:endParaRPr>
          </a:p>
        </p:txBody>
      </p:sp>
      <p:sp>
        <p:nvSpPr>
          <p:cNvPr id="10" name="object 7">
            <a:extLst>
              <a:ext uri="{FF2B5EF4-FFF2-40B4-BE49-F238E27FC236}">
                <a16:creationId xmlns:a16="http://schemas.microsoft.com/office/drawing/2014/main" id="{7FF00F7D-80C4-E804-1142-854D5EFDA54A}"/>
              </a:ext>
            </a:extLst>
          </p:cNvPr>
          <p:cNvSpPr/>
          <p:nvPr/>
        </p:nvSpPr>
        <p:spPr>
          <a:xfrm>
            <a:off x="647064" y="3531234"/>
            <a:ext cx="762000" cy="1133475"/>
          </a:xfrm>
          <a:custGeom>
            <a:avLst/>
            <a:gdLst/>
            <a:ahLst/>
            <a:cxnLst/>
            <a:rect l="l" t="t" r="r" b="b"/>
            <a:pathLst>
              <a:path w="762000" h="1133475">
                <a:moveTo>
                  <a:pt x="380999" y="1133474"/>
                </a:moveTo>
                <a:lnTo>
                  <a:pt x="334358" y="1130609"/>
                </a:lnTo>
                <a:lnTo>
                  <a:pt x="288424" y="1122057"/>
                </a:lnTo>
                <a:lnTo>
                  <a:pt x="243882" y="1107945"/>
                </a:lnTo>
                <a:lnTo>
                  <a:pt x="201397" y="1088486"/>
                </a:lnTo>
                <a:lnTo>
                  <a:pt x="161614" y="1063972"/>
                </a:lnTo>
                <a:lnTo>
                  <a:pt x="125135" y="1034777"/>
                </a:lnTo>
                <a:lnTo>
                  <a:pt x="92505" y="1001335"/>
                </a:lnTo>
                <a:lnTo>
                  <a:pt x="64209" y="964146"/>
                </a:lnTo>
                <a:lnTo>
                  <a:pt x="40680" y="923773"/>
                </a:lnTo>
                <a:lnTo>
                  <a:pt x="22271" y="880829"/>
                </a:lnTo>
                <a:lnTo>
                  <a:pt x="9257" y="835955"/>
                </a:lnTo>
                <a:lnTo>
                  <a:pt x="1834" y="789819"/>
                </a:lnTo>
                <a:lnTo>
                  <a:pt x="0" y="752474"/>
                </a:lnTo>
                <a:lnTo>
                  <a:pt x="0" y="380999"/>
                </a:lnTo>
                <a:lnTo>
                  <a:pt x="2865" y="334358"/>
                </a:lnTo>
                <a:lnTo>
                  <a:pt x="11417" y="288424"/>
                </a:lnTo>
                <a:lnTo>
                  <a:pt x="25528" y="243882"/>
                </a:lnTo>
                <a:lnTo>
                  <a:pt x="44987" y="201397"/>
                </a:lnTo>
                <a:lnTo>
                  <a:pt x="69501" y="161614"/>
                </a:lnTo>
                <a:lnTo>
                  <a:pt x="98697" y="125135"/>
                </a:lnTo>
                <a:lnTo>
                  <a:pt x="132138" y="92505"/>
                </a:lnTo>
                <a:lnTo>
                  <a:pt x="169327" y="64209"/>
                </a:lnTo>
                <a:lnTo>
                  <a:pt x="209700" y="40679"/>
                </a:lnTo>
                <a:lnTo>
                  <a:pt x="252644" y="22271"/>
                </a:lnTo>
                <a:lnTo>
                  <a:pt x="297519" y="9257"/>
                </a:lnTo>
                <a:lnTo>
                  <a:pt x="343655" y="1834"/>
                </a:lnTo>
                <a:lnTo>
                  <a:pt x="380999" y="0"/>
                </a:lnTo>
                <a:lnTo>
                  <a:pt x="390353" y="114"/>
                </a:lnTo>
                <a:lnTo>
                  <a:pt x="436904" y="4123"/>
                </a:lnTo>
                <a:lnTo>
                  <a:pt x="482614" y="13800"/>
                </a:lnTo>
                <a:lnTo>
                  <a:pt x="526802" y="29001"/>
                </a:lnTo>
                <a:lnTo>
                  <a:pt x="568796" y="49498"/>
                </a:lnTo>
                <a:lnTo>
                  <a:pt x="607961" y="74977"/>
                </a:lnTo>
                <a:lnTo>
                  <a:pt x="643712" y="105059"/>
                </a:lnTo>
                <a:lnTo>
                  <a:pt x="675516" y="139296"/>
                </a:lnTo>
                <a:lnTo>
                  <a:pt x="702890" y="177167"/>
                </a:lnTo>
                <a:lnTo>
                  <a:pt x="725419" y="218101"/>
                </a:lnTo>
                <a:lnTo>
                  <a:pt x="742769" y="261484"/>
                </a:lnTo>
                <a:lnTo>
                  <a:pt x="754678" y="306670"/>
                </a:lnTo>
                <a:lnTo>
                  <a:pt x="760967" y="352974"/>
                </a:lnTo>
                <a:lnTo>
                  <a:pt x="761999" y="380999"/>
                </a:lnTo>
                <a:lnTo>
                  <a:pt x="761999" y="752474"/>
                </a:lnTo>
                <a:lnTo>
                  <a:pt x="759134" y="799116"/>
                </a:lnTo>
                <a:lnTo>
                  <a:pt x="750581" y="845050"/>
                </a:lnTo>
                <a:lnTo>
                  <a:pt x="736471" y="889591"/>
                </a:lnTo>
                <a:lnTo>
                  <a:pt x="717011" y="932076"/>
                </a:lnTo>
                <a:lnTo>
                  <a:pt x="692498" y="971859"/>
                </a:lnTo>
                <a:lnTo>
                  <a:pt x="663302" y="1008338"/>
                </a:lnTo>
                <a:lnTo>
                  <a:pt x="629861" y="1040969"/>
                </a:lnTo>
                <a:lnTo>
                  <a:pt x="592672" y="1069264"/>
                </a:lnTo>
                <a:lnTo>
                  <a:pt x="552299" y="1092794"/>
                </a:lnTo>
                <a:lnTo>
                  <a:pt x="509355" y="1111202"/>
                </a:lnTo>
                <a:lnTo>
                  <a:pt x="464480" y="1124216"/>
                </a:lnTo>
                <a:lnTo>
                  <a:pt x="418344" y="1131640"/>
                </a:lnTo>
                <a:lnTo>
                  <a:pt x="380999" y="1133474"/>
                </a:lnTo>
                <a:close/>
              </a:path>
            </a:pathLst>
          </a:custGeom>
          <a:solidFill>
            <a:srgbClr val="F1EDED"/>
          </a:solidFill>
        </p:spPr>
        <p:txBody>
          <a:bodyPr wrap="square" lIns="0" tIns="0" rIns="0" bIns="0" rtlCol="0"/>
          <a:lstStyle>
            <a:defPPr>
              <a:defRPr kern="0"/>
            </a:defPPr>
          </a:lstStyle>
          <a:p>
            <a:endParaRPr/>
          </a:p>
        </p:txBody>
      </p:sp>
      <p:sp>
        <p:nvSpPr>
          <p:cNvPr id="11" name="object 8">
            <a:extLst>
              <a:ext uri="{FF2B5EF4-FFF2-40B4-BE49-F238E27FC236}">
                <a16:creationId xmlns:a16="http://schemas.microsoft.com/office/drawing/2014/main" id="{DBB59A5D-EE48-22B2-01D8-BDCA0DF69F47}"/>
              </a:ext>
            </a:extLst>
          </p:cNvPr>
          <p:cNvSpPr txBox="1"/>
          <p:nvPr/>
        </p:nvSpPr>
        <p:spPr>
          <a:xfrm>
            <a:off x="941099" y="3911980"/>
            <a:ext cx="176530" cy="365760"/>
          </a:xfrm>
          <a:prstGeom prst="rect">
            <a:avLst/>
          </a:prstGeom>
        </p:spPr>
        <p:txBody>
          <a:bodyPr vert="horz" wrap="square" lIns="0" tIns="16510" rIns="0" bIns="0" rtlCol="0">
            <a:spAutoFit/>
          </a:bodyPr>
          <a:lstStyle>
            <a:defPPr>
              <a:defRPr kern="0"/>
            </a:defPPr>
          </a:lstStyle>
          <a:p>
            <a:pPr marL="12700">
              <a:lnSpc>
                <a:spcPct val="100000"/>
              </a:lnSpc>
              <a:spcBef>
                <a:spcPts val="130"/>
              </a:spcBef>
            </a:pPr>
            <a:r>
              <a:rPr sz="2200" spc="-50" dirty="0">
                <a:solidFill>
                  <a:srgbClr val="373737"/>
                </a:solidFill>
                <a:latin typeface="Georgia"/>
                <a:cs typeface="Georgia"/>
              </a:rPr>
              <a:t>2</a:t>
            </a:r>
            <a:endParaRPr sz="2200">
              <a:latin typeface="Georgia"/>
              <a:cs typeface="Georgia"/>
            </a:endParaRPr>
          </a:p>
        </p:txBody>
      </p:sp>
      <p:sp>
        <p:nvSpPr>
          <p:cNvPr id="12" name="object 9">
            <a:extLst>
              <a:ext uri="{FF2B5EF4-FFF2-40B4-BE49-F238E27FC236}">
                <a16:creationId xmlns:a16="http://schemas.microsoft.com/office/drawing/2014/main" id="{DEF79D1A-1DDF-EE88-6A62-2453B43BF10A}"/>
              </a:ext>
            </a:extLst>
          </p:cNvPr>
          <p:cNvSpPr txBox="1"/>
          <p:nvPr/>
        </p:nvSpPr>
        <p:spPr>
          <a:xfrm>
            <a:off x="1593899" y="3749293"/>
            <a:ext cx="5816600" cy="692785"/>
          </a:xfrm>
          <a:prstGeom prst="rect">
            <a:avLst/>
          </a:prstGeom>
        </p:spPr>
        <p:txBody>
          <a:bodyPr vert="horz" wrap="square" lIns="0" tIns="12700" rIns="0" bIns="0" rtlCol="0" anchor="t">
            <a:spAutoFit/>
          </a:bodyPr>
          <a:lstStyle>
            <a:defPPr>
              <a:defRPr kern="0"/>
            </a:defPPr>
          </a:lstStyle>
          <a:p>
            <a:pPr marL="12700">
              <a:lnSpc>
                <a:spcPct val="100000"/>
              </a:lnSpc>
              <a:spcBef>
                <a:spcPts val="100"/>
              </a:spcBef>
            </a:pPr>
            <a:r>
              <a:rPr sz="1950" spc="-10" dirty="0">
                <a:latin typeface="Georgia"/>
                <a:cs typeface="Georgia"/>
              </a:rPr>
              <a:t>Enable</a:t>
            </a:r>
            <a:r>
              <a:rPr sz="1950" spc="-90" dirty="0">
                <a:latin typeface="Georgia"/>
                <a:cs typeface="Georgia"/>
              </a:rPr>
              <a:t> </a:t>
            </a:r>
            <a:r>
              <a:rPr sz="1950" spc="-10" dirty="0">
                <a:latin typeface="Georgia"/>
                <a:cs typeface="Georgia"/>
              </a:rPr>
              <a:t>Policy</a:t>
            </a:r>
            <a:endParaRPr lang="en-US" sz="1950">
              <a:latin typeface="Georgia"/>
              <a:cs typeface="Georgia"/>
            </a:endParaRPr>
          </a:p>
          <a:p>
            <a:pPr marL="12700">
              <a:lnSpc>
                <a:spcPct val="100000"/>
              </a:lnSpc>
              <a:spcBef>
                <a:spcPts val="1160"/>
              </a:spcBef>
            </a:pPr>
            <a:r>
              <a:rPr sz="1450" dirty="0">
                <a:latin typeface="Trebuchet MS"/>
                <a:cs typeface="Trebuchet MS"/>
              </a:rPr>
              <a:t>Turn</a:t>
            </a:r>
            <a:r>
              <a:rPr sz="1450" spc="70" dirty="0">
                <a:latin typeface="Trebuchet MS"/>
                <a:cs typeface="Trebuchet MS"/>
              </a:rPr>
              <a:t> </a:t>
            </a:r>
            <a:r>
              <a:rPr sz="1450" spc="75" dirty="0">
                <a:latin typeface="Trebuchet MS"/>
                <a:cs typeface="Trebuchet MS"/>
              </a:rPr>
              <a:t>on </a:t>
            </a:r>
            <a:r>
              <a:rPr sz="1450" dirty="0">
                <a:latin typeface="Trebuchet MS"/>
                <a:cs typeface="Trebuchet MS"/>
              </a:rPr>
              <a:t>Periodic</a:t>
            </a:r>
            <a:r>
              <a:rPr sz="1450" spc="75" dirty="0">
                <a:latin typeface="Trebuchet MS"/>
                <a:cs typeface="Trebuchet MS"/>
              </a:rPr>
              <a:t> </a:t>
            </a:r>
            <a:r>
              <a:rPr sz="1450" spc="100" dirty="0">
                <a:latin typeface="Trebuchet MS"/>
                <a:cs typeface="Trebuchet MS"/>
              </a:rPr>
              <a:t>Assessment</a:t>
            </a:r>
            <a:r>
              <a:rPr sz="1450" spc="75" dirty="0">
                <a:latin typeface="Trebuchet MS"/>
                <a:cs typeface="Trebuchet MS"/>
              </a:rPr>
              <a:t> </a:t>
            </a:r>
            <a:r>
              <a:rPr sz="1450" dirty="0">
                <a:latin typeface="Trebuchet MS"/>
                <a:cs typeface="Trebuchet MS"/>
              </a:rPr>
              <a:t>via</a:t>
            </a:r>
            <a:r>
              <a:rPr sz="1450" spc="70" dirty="0">
                <a:latin typeface="Trebuchet MS"/>
                <a:cs typeface="Trebuchet MS"/>
              </a:rPr>
              <a:t> </a:t>
            </a:r>
            <a:r>
              <a:rPr sz="1450" dirty="0">
                <a:latin typeface="Trebuchet MS"/>
                <a:cs typeface="Trebuchet MS"/>
              </a:rPr>
              <a:t>Azure</a:t>
            </a:r>
            <a:r>
              <a:rPr sz="1450" spc="75" dirty="0">
                <a:latin typeface="Trebuchet MS"/>
                <a:cs typeface="Trebuchet MS"/>
              </a:rPr>
              <a:t> </a:t>
            </a:r>
            <a:r>
              <a:rPr sz="1450" dirty="0">
                <a:latin typeface="Trebuchet MS"/>
                <a:cs typeface="Trebuchet MS"/>
              </a:rPr>
              <a:t>Policy</a:t>
            </a:r>
            <a:r>
              <a:rPr sz="1450" spc="75" dirty="0">
                <a:latin typeface="Trebuchet MS"/>
                <a:cs typeface="Trebuchet MS"/>
              </a:rPr>
              <a:t> </a:t>
            </a:r>
            <a:r>
              <a:rPr sz="1450" dirty="0">
                <a:latin typeface="Trebuchet MS"/>
                <a:cs typeface="Trebuchet MS"/>
              </a:rPr>
              <a:t>to</a:t>
            </a:r>
            <a:r>
              <a:rPr sz="1450" spc="75" dirty="0">
                <a:latin typeface="Trebuchet MS"/>
                <a:cs typeface="Trebuchet MS"/>
              </a:rPr>
              <a:t> </a:t>
            </a:r>
            <a:r>
              <a:rPr sz="1450" dirty="0">
                <a:latin typeface="Trebuchet MS"/>
                <a:cs typeface="Trebuchet MS"/>
              </a:rPr>
              <a:t>enforce</a:t>
            </a:r>
            <a:r>
              <a:rPr sz="1450" spc="70" dirty="0">
                <a:latin typeface="Trebuchet MS"/>
                <a:cs typeface="Trebuchet MS"/>
              </a:rPr>
              <a:t> </a:t>
            </a:r>
            <a:r>
              <a:rPr sz="1450" spc="-10" dirty="0">
                <a:latin typeface="Trebuchet MS"/>
                <a:cs typeface="Trebuchet MS"/>
              </a:rPr>
              <a:t>reporting</a:t>
            </a:r>
            <a:r>
              <a:rPr sz="1450" spc="-10" dirty="0">
                <a:solidFill>
                  <a:srgbClr val="373737"/>
                </a:solidFill>
                <a:latin typeface="Trebuchet MS"/>
                <a:cs typeface="Trebuchet MS"/>
              </a:rPr>
              <a:t>.</a:t>
            </a:r>
            <a:endParaRPr sz="1450">
              <a:latin typeface="Trebuchet MS"/>
              <a:cs typeface="Trebuchet MS"/>
            </a:endParaRPr>
          </a:p>
        </p:txBody>
      </p:sp>
      <p:sp>
        <p:nvSpPr>
          <p:cNvPr id="13" name="object 10">
            <a:extLst>
              <a:ext uri="{FF2B5EF4-FFF2-40B4-BE49-F238E27FC236}">
                <a16:creationId xmlns:a16="http://schemas.microsoft.com/office/drawing/2014/main" id="{EA14518D-43E3-DBAB-BBAF-B41A6C39DAFA}"/>
              </a:ext>
            </a:extLst>
          </p:cNvPr>
          <p:cNvSpPr/>
          <p:nvPr/>
        </p:nvSpPr>
        <p:spPr>
          <a:xfrm>
            <a:off x="657224" y="4895849"/>
            <a:ext cx="762000" cy="1133475"/>
          </a:xfrm>
          <a:custGeom>
            <a:avLst/>
            <a:gdLst/>
            <a:ahLst/>
            <a:cxnLst/>
            <a:rect l="l" t="t" r="r" b="b"/>
            <a:pathLst>
              <a:path w="762000" h="1133475">
                <a:moveTo>
                  <a:pt x="380999" y="1133474"/>
                </a:moveTo>
                <a:lnTo>
                  <a:pt x="334358" y="1130608"/>
                </a:lnTo>
                <a:lnTo>
                  <a:pt x="288424" y="1122056"/>
                </a:lnTo>
                <a:lnTo>
                  <a:pt x="243882" y="1107945"/>
                </a:lnTo>
                <a:lnTo>
                  <a:pt x="201397" y="1088487"/>
                </a:lnTo>
                <a:lnTo>
                  <a:pt x="161614" y="1063972"/>
                </a:lnTo>
                <a:lnTo>
                  <a:pt x="125135" y="1034777"/>
                </a:lnTo>
                <a:lnTo>
                  <a:pt x="92505" y="1001335"/>
                </a:lnTo>
                <a:lnTo>
                  <a:pt x="64209" y="964146"/>
                </a:lnTo>
                <a:lnTo>
                  <a:pt x="40680" y="923774"/>
                </a:lnTo>
                <a:lnTo>
                  <a:pt x="22271" y="880830"/>
                </a:lnTo>
                <a:lnTo>
                  <a:pt x="9257" y="835955"/>
                </a:lnTo>
                <a:lnTo>
                  <a:pt x="1834" y="789819"/>
                </a:lnTo>
                <a:lnTo>
                  <a:pt x="0" y="752474"/>
                </a:lnTo>
                <a:lnTo>
                  <a:pt x="0" y="380999"/>
                </a:lnTo>
                <a:lnTo>
                  <a:pt x="2865" y="334358"/>
                </a:lnTo>
                <a:lnTo>
                  <a:pt x="11417" y="288423"/>
                </a:lnTo>
                <a:lnTo>
                  <a:pt x="25528" y="243881"/>
                </a:lnTo>
                <a:lnTo>
                  <a:pt x="44987" y="201396"/>
                </a:lnTo>
                <a:lnTo>
                  <a:pt x="69501" y="161613"/>
                </a:lnTo>
                <a:lnTo>
                  <a:pt x="98697" y="125135"/>
                </a:lnTo>
                <a:lnTo>
                  <a:pt x="132138" y="92505"/>
                </a:lnTo>
                <a:lnTo>
                  <a:pt x="169327" y="64209"/>
                </a:lnTo>
                <a:lnTo>
                  <a:pt x="209700" y="40679"/>
                </a:lnTo>
                <a:lnTo>
                  <a:pt x="252644" y="22271"/>
                </a:lnTo>
                <a:lnTo>
                  <a:pt x="297519" y="9257"/>
                </a:lnTo>
                <a:lnTo>
                  <a:pt x="343655" y="1834"/>
                </a:lnTo>
                <a:lnTo>
                  <a:pt x="380999" y="0"/>
                </a:lnTo>
                <a:lnTo>
                  <a:pt x="390353" y="114"/>
                </a:lnTo>
                <a:lnTo>
                  <a:pt x="436904" y="4123"/>
                </a:lnTo>
                <a:lnTo>
                  <a:pt x="482614" y="13800"/>
                </a:lnTo>
                <a:lnTo>
                  <a:pt x="526802" y="29001"/>
                </a:lnTo>
                <a:lnTo>
                  <a:pt x="568796" y="49498"/>
                </a:lnTo>
                <a:lnTo>
                  <a:pt x="607961" y="74977"/>
                </a:lnTo>
                <a:lnTo>
                  <a:pt x="643712" y="105059"/>
                </a:lnTo>
                <a:lnTo>
                  <a:pt x="675516" y="139296"/>
                </a:lnTo>
                <a:lnTo>
                  <a:pt x="702890" y="177167"/>
                </a:lnTo>
                <a:lnTo>
                  <a:pt x="725419" y="218100"/>
                </a:lnTo>
                <a:lnTo>
                  <a:pt x="742769" y="261484"/>
                </a:lnTo>
                <a:lnTo>
                  <a:pt x="754678" y="306670"/>
                </a:lnTo>
                <a:lnTo>
                  <a:pt x="760967" y="352974"/>
                </a:lnTo>
                <a:lnTo>
                  <a:pt x="761999" y="380999"/>
                </a:lnTo>
                <a:lnTo>
                  <a:pt x="761999" y="752474"/>
                </a:lnTo>
                <a:lnTo>
                  <a:pt x="759134" y="799116"/>
                </a:lnTo>
                <a:lnTo>
                  <a:pt x="750581" y="845050"/>
                </a:lnTo>
                <a:lnTo>
                  <a:pt x="736471" y="889592"/>
                </a:lnTo>
                <a:lnTo>
                  <a:pt x="717011" y="932076"/>
                </a:lnTo>
                <a:lnTo>
                  <a:pt x="692498" y="971860"/>
                </a:lnTo>
                <a:lnTo>
                  <a:pt x="663302" y="1008339"/>
                </a:lnTo>
                <a:lnTo>
                  <a:pt x="629861" y="1040969"/>
                </a:lnTo>
                <a:lnTo>
                  <a:pt x="592672" y="1069263"/>
                </a:lnTo>
                <a:lnTo>
                  <a:pt x="552299" y="1092794"/>
                </a:lnTo>
                <a:lnTo>
                  <a:pt x="509355" y="1111203"/>
                </a:lnTo>
                <a:lnTo>
                  <a:pt x="464480" y="1124216"/>
                </a:lnTo>
                <a:lnTo>
                  <a:pt x="418344" y="1131640"/>
                </a:lnTo>
                <a:lnTo>
                  <a:pt x="380999" y="1133474"/>
                </a:lnTo>
                <a:close/>
              </a:path>
            </a:pathLst>
          </a:custGeom>
          <a:solidFill>
            <a:srgbClr val="F1EDED"/>
          </a:solidFill>
        </p:spPr>
        <p:txBody>
          <a:bodyPr wrap="square" lIns="0" tIns="0" rIns="0" bIns="0" rtlCol="0"/>
          <a:lstStyle>
            <a:defPPr>
              <a:defRPr kern="0"/>
            </a:defPPr>
          </a:lstStyle>
          <a:p>
            <a:endParaRPr/>
          </a:p>
        </p:txBody>
      </p:sp>
      <p:sp>
        <p:nvSpPr>
          <p:cNvPr id="14" name="object 11">
            <a:extLst>
              <a:ext uri="{FF2B5EF4-FFF2-40B4-BE49-F238E27FC236}">
                <a16:creationId xmlns:a16="http://schemas.microsoft.com/office/drawing/2014/main" id="{08F297EE-7587-4508-F826-0CE672656050}"/>
              </a:ext>
            </a:extLst>
          </p:cNvPr>
          <p:cNvSpPr txBox="1"/>
          <p:nvPr/>
        </p:nvSpPr>
        <p:spPr>
          <a:xfrm>
            <a:off x="951259" y="5256910"/>
            <a:ext cx="176530" cy="365760"/>
          </a:xfrm>
          <a:prstGeom prst="rect">
            <a:avLst/>
          </a:prstGeom>
        </p:spPr>
        <p:txBody>
          <a:bodyPr vert="horz" wrap="square" lIns="0" tIns="16510" rIns="0" bIns="0" rtlCol="0">
            <a:spAutoFit/>
          </a:bodyPr>
          <a:lstStyle>
            <a:defPPr>
              <a:defRPr kern="0"/>
            </a:defPPr>
          </a:lstStyle>
          <a:p>
            <a:pPr marL="12700">
              <a:lnSpc>
                <a:spcPct val="100000"/>
              </a:lnSpc>
              <a:spcBef>
                <a:spcPts val="130"/>
              </a:spcBef>
            </a:pPr>
            <a:r>
              <a:rPr sz="2200" spc="-50" dirty="0">
                <a:solidFill>
                  <a:srgbClr val="373737"/>
                </a:solidFill>
                <a:latin typeface="Georgia"/>
                <a:cs typeface="Georgia"/>
              </a:rPr>
              <a:t>3</a:t>
            </a:r>
            <a:endParaRPr sz="2200">
              <a:latin typeface="Georgia"/>
              <a:cs typeface="Georgia"/>
            </a:endParaRPr>
          </a:p>
        </p:txBody>
      </p:sp>
      <p:sp>
        <p:nvSpPr>
          <p:cNvPr id="15" name="object 12">
            <a:extLst>
              <a:ext uri="{FF2B5EF4-FFF2-40B4-BE49-F238E27FC236}">
                <a16:creationId xmlns:a16="http://schemas.microsoft.com/office/drawing/2014/main" id="{C915F490-213F-7A4F-DB5F-47C30F231E82}"/>
              </a:ext>
            </a:extLst>
          </p:cNvPr>
          <p:cNvSpPr txBox="1"/>
          <p:nvPr/>
        </p:nvSpPr>
        <p:spPr>
          <a:xfrm>
            <a:off x="1593899" y="5073268"/>
            <a:ext cx="7099934" cy="692785"/>
          </a:xfrm>
          <a:prstGeom prst="rect">
            <a:avLst/>
          </a:prstGeom>
        </p:spPr>
        <p:txBody>
          <a:bodyPr vert="horz" wrap="square" lIns="0" tIns="12700" rIns="0" bIns="0" rtlCol="0" anchor="t">
            <a:spAutoFit/>
          </a:bodyPr>
          <a:lstStyle>
            <a:defPPr>
              <a:defRPr kern="0"/>
            </a:defPPr>
          </a:lstStyle>
          <a:p>
            <a:pPr marL="12700">
              <a:lnSpc>
                <a:spcPct val="100000"/>
              </a:lnSpc>
              <a:spcBef>
                <a:spcPts val="100"/>
              </a:spcBef>
            </a:pPr>
            <a:r>
              <a:rPr sz="1950" spc="-10" dirty="0">
                <a:latin typeface="Georgia"/>
                <a:cs typeface="Georgia"/>
              </a:rPr>
              <a:t>Measure</a:t>
            </a:r>
            <a:r>
              <a:rPr sz="1950" spc="-45" dirty="0">
                <a:latin typeface="Georgia"/>
                <a:cs typeface="Georgia"/>
              </a:rPr>
              <a:t> </a:t>
            </a:r>
            <a:r>
              <a:rPr sz="1950" spc="305" dirty="0">
                <a:latin typeface="Georgia"/>
                <a:cs typeface="Georgia"/>
              </a:rPr>
              <a:t>&amp;</a:t>
            </a:r>
            <a:r>
              <a:rPr sz="1950" spc="-45" dirty="0">
                <a:latin typeface="Georgia"/>
                <a:cs typeface="Georgia"/>
              </a:rPr>
              <a:t> </a:t>
            </a:r>
            <a:r>
              <a:rPr sz="1950" spc="-10" dirty="0">
                <a:latin typeface="Georgia"/>
                <a:cs typeface="Georgia"/>
              </a:rPr>
              <a:t>Iterate</a:t>
            </a:r>
            <a:endParaRPr lang="en-US" sz="1950">
              <a:latin typeface="Georgia"/>
              <a:cs typeface="Georgia"/>
            </a:endParaRPr>
          </a:p>
          <a:p>
            <a:pPr marL="12700">
              <a:lnSpc>
                <a:spcPct val="100000"/>
              </a:lnSpc>
              <a:spcBef>
                <a:spcPts val="1160"/>
              </a:spcBef>
            </a:pPr>
            <a:r>
              <a:rPr sz="1450" spc="50" dirty="0">
                <a:latin typeface="Trebuchet MS"/>
                <a:cs typeface="Trebuchet MS"/>
              </a:rPr>
              <a:t>Feed</a:t>
            </a:r>
            <a:r>
              <a:rPr sz="1450" spc="5" dirty="0">
                <a:latin typeface="Trebuchet MS"/>
                <a:cs typeface="Trebuchet MS"/>
              </a:rPr>
              <a:t> </a:t>
            </a:r>
            <a:r>
              <a:rPr sz="1450" spc="114" dirty="0">
                <a:latin typeface="Trebuchet MS"/>
                <a:cs typeface="Trebuchet MS"/>
              </a:rPr>
              <a:t>JSON</a:t>
            </a:r>
            <a:r>
              <a:rPr sz="1450" spc="5" dirty="0">
                <a:latin typeface="Trebuchet MS"/>
                <a:cs typeface="Trebuchet MS"/>
              </a:rPr>
              <a:t> </a:t>
            </a:r>
            <a:r>
              <a:rPr sz="1450" dirty="0">
                <a:latin typeface="Trebuchet MS"/>
                <a:cs typeface="Trebuchet MS"/>
              </a:rPr>
              <a:t>artifacts</a:t>
            </a:r>
            <a:r>
              <a:rPr sz="1450" spc="10" dirty="0">
                <a:latin typeface="Trebuchet MS"/>
                <a:cs typeface="Trebuchet MS"/>
              </a:rPr>
              <a:t> </a:t>
            </a:r>
            <a:r>
              <a:rPr sz="1450" dirty="0">
                <a:latin typeface="Trebuchet MS"/>
                <a:cs typeface="Trebuchet MS"/>
              </a:rPr>
              <a:t>into</a:t>
            </a:r>
            <a:r>
              <a:rPr sz="1450" spc="5" dirty="0">
                <a:latin typeface="Trebuchet MS"/>
                <a:cs typeface="Trebuchet MS"/>
              </a:rPr>
              <a:t> </a:t>
            </a:r>
            <a:r>
              <a:rPr sz="1450" spc="80" dirty="0">
                <a:latin typeface="Trebuchet MS"/>
                <a:cs typeface="Trebuchet MS"/>
              </a:rPr>
              <a:t>SIEM/CMDB</a:t>
            </a:r>
            <a:r>
              <a:rPr sz="1450" spc="10" dirty="0">
                <a:latin typeface="Trebuchet MS"/>
                <a:cs typeface="Trebuchet MS"/>
              </a:rPr>
              <a:t> </a:t>
            </a:r>
            <a:r>
              <a:rPr sz="1450" spc="70" dirty="0">
                <a:latin typeface="Trebuchet MS"/>
                <a:cs typeface="Trebuchet MS"/>
              </a:rPr>
              <a:t>and</a:t>
            </a:r>
            <a:r>
              <a:rPr sz="1450" spc="5" dirty="0">
                <a:latin typeface="Trebuchet MS"/>
                <a:cs typeface="Trebuchet MS"/>
              </a:rPr>
              <a:t> </a:t>
            </a:r>
            <a:r>
              <a:rPr sz="1450" dirty="0">
                <a:latin typeface="Trebuchet MS"/>
                <a:cs typeface="Trebuchet MS"/>
              </a:rPr>
              <a:t>refine</a:t>
            </a:r>
            <a:r>
              <a:rPr sz="1450" spc="5" dirty="0">
                <a:latin typeface="Trebuchet MS"/>
                <a:cs typeface="Trebuchet MS"/>
              </a:rPr>
              <a:t> </a:t>
            </a:r>
            <a:r>
              <a:rPr sz="1450" spc="70" dirty="0">
                <a:latin typeface="Trebuchet MS"/>
                <a:cs typeface="Trebuchet MS"/>
              </a:rPr>
              <a:t>schedules</a:t>
            </a:r>
            <a:r>
              <a:rPr sz="1450" spc="10" dirty="0">
                <a:latin typeface="Trebuchet MS"/>
                <a:cs typeface="Trebuchet MS"/>
              </a:rPr>
              <a:t> </a:t>
            </a:r>
            <a:r>
              <a:rPr sz="1450" dirty="0">
                <a:latin typeface="Trebuchet MS"/>
                <a:cs typeface="Trebuchet MS"/>
              </a:rPr>
              <a:t>for</a:t>
            </a:r>
            <a:r>
              <a:rPr sz="1450" spc="5" dirty="0">
                <a:latin typeface="Trebuchet MS"/>
                <a:cs typeface="Trebuchet MS"/>
              </a:rPr>
              <a:t> </a:t>
            </a:r>
            <a:r>
              <a:rPr sz="1450" dirty="0">
                <a:latin typeface="Trebuchet MS"/>
                <a:cs typeface="Trebuchet MS"/>
              </a:rPr>
              <a:t>minimal</a:t>
            </a:r>
            <a:r>
              <a:rPr sz="1450" spc="10" dirty="0">
                <a:latin typeface="Trebuchet MS"/>
                <a:cs typeface="Trebuchet MS"/>
              </a:rPr>
              <a:t> </a:t>
            </a:r>
            <a:r>
              <a:rPr sz="1450" spc="-10" dirty="0">
                <a:latin typeface="Trebuchet MS"/>
                <a:cs typeface="Trebuchet MS"/>
              </a:rPr>
              <a:t>disruption.</a:t>
            </a:r>
            <a:endParaRPr sz="1450">
              <a:latin typeface="Trebuchet MS"/>
              <a:cs typeface="Trebuchet MS"/>
            </a:endParaRPr>
          </a:p>
        </p:txBody>
      </p:sp>
    </p:spTree>
    <p:extLst>
      <p:ext uri="{BB962C8B-B14F-4D97-AF65-F5344CB8AC3E}">
        <p14:creationId xmlns:p14="http://schemas.microsoft.com/office/powerpoint/2010/main" val="805969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F81F67F-7B53-7244-B41A-A9D81925BC01}"/>
              </a:ext>
            </a:extLst>
          </p:cNvPr>
          <p:cNvSpPr/>
          <p:nvPr/>
        </p:nvSpPr>
        <p:spPr>
          <a:xfrm>
            <a:off x="575181" y="1473782"/>
            <a:ext cx="10867418" cy="459128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B18C824D-6D52-CFD7-0989-7532BBC398BE}"/>
              </a:ext>
            </a:extLst>
          </p:cNvPr>
          <p:cNvSpPr>
            <a:spLocks noGrp="1"/>
          </p:cNvSpPr>
          <p:nvPr>
            <p:ph type="dt" sz="half" idx="10"/>
          </p:nvPr>
        </p:nvSpPr>
        <p:spPr/>
        <p:txBody>
          <a:bodyPr/>
          <a:lstStyle/>
          <a:p>
            <a:fld id="{9ED6146F-36EF-4D3B-9809-B4A2C6220956}" type="datetime1">
              <a:t>9/23/2026</a:t>
            </a:fld>
            <a:endParaRPr lang="en-US" dirty="0"/>
          </a:p>
        </p:txBody>
      </p:sp>
      <p:sp>
        <p:nvSpPr>
          <p:cNvPr id="3" name="Footer Placeholder 2">
            <a:extLst>
              <a:ext uri="{FF2B5EF4-FFF2-40B4-BE49-F238E27FC236}">
                <a16:creationId xmlns:a16="http://schemas.microsoft.com/office/drawing/2014/main" id="{83654B99-F8A1-8085-8C02-8862AEB7C84F}"/>
              </a:ext>
            </a:extLst>
          </p:cNvPr>
          <p:cNvSpPr>
            <a:spLocks noGrp="1"/>
          </p:cNvSpPr>
          <p:nvPr>
            <p:ph type="ftr" sz="quarter" idx="11"/>
          </p:nvPr>
        </p:nvSpPr>
        <p:spPr/>
        <p:txBody>
          <a:bodyPr/>
          <a:lstStyle/>
          <a:p>
            <a:r>
              <a:rPr lang="en-US" dirty="0"/>
              <a:t>
              </a:t>
            </a:r>
          </a:p>
        </p:txBody>
      </p:sp>
      <p:sp>
        <p:nvSpPr>
          <p:cNvPr id="5" name="object 2" descr="$PPTXTitle">
            <a:extLst>
              <a:ext uri="{FF2B5EF4-FFF2-40B4-BE49-F238E27FC236}">
                <a16:creationId xmlns:a16="http://schemas.microsoft.com/office/drawing/2014/main" id="{C3E3F09A-412A-617B-4F1D-CA57DB114925}"/>
              </a:ext>
            </a:extLst>
          </p:cNvPr>
          <p:cNvSpPr txBox="1">
            <a:spLocks noGrp="1"/>
          </p:cNvSpPr>
          <p:nvPr/>
        </p:nvSpPr>
        <p:spPr>
          <a:xfrm>
            <a:off x="648840" y="632428"/>
            <a:ext cx="10031730" cy="611505"/>
          </a:xfrm>
          <a:prstGeom prst="rect">
            <a:avLst/>
          </a:prstGeom>
        </p:spPr>
        <p:txBody>
          <a:bodyPr vert="horz" wrap="square" lIns="0" tIns="12065" rIns="0" bIns="0" rtlCol="0" anchor="t">
            <a:spAutoFit/>
          </a:bodyPr>
          <a:lstStyle>
            <a:lvl1pPr>
              <a:defRPr sz="3900" b="0" i="0">
                <a:solidFill>
                  <a:srgbClr val="010101"/>
                </a:solidFill>
                <a:latin typeface="Georgia"/>
                <a:ea typeface="+mj-ea"/>
                <a:cs typeface="Georgia"/>
              </a:defRPr>
            </a:lvl1pPr>
          </a:lstStyle>
          <a:p>
            <a:pPr marL="12700">
              <a:lnSpc>
                <a:spcPct val="100000"/>
              </a:lnSpc>
              <a:spcBef>
                <a:spcPts val="95"/>
              </a:spcBef>
            </a:pPr>
            <a:r>
              <a:rPr sz="3850" spc="-20" dirty="0">
                <a:solidFill>
                  <a:schemeClr val="tx1"/>
                </a:solidFill>
              </a:rPr>
              <a:t>Rollback</a:t>
            </a:r>
            <a:r>
              <a:rPr sz="3850" spc="-135" dirty="0">
                <a:solidFill>
                  <a:schemeClr val="tx1"/>
                </a:solidFill>
              </a:rPr>
              <a:t> </a:t>
            </a:r>
            <a:r>
              <a:rPr sz="3850" spc="600" dirty="0">
                <a:solidFill>
                  <a:schemeClr val="tx1"/>
                </a:solidFill>
              </a:rPr>
              <a:t>&amp;</a:t>
            </a:r>
            <a:r>
              <a:rPr sz="3850" spc="-135" dirty="0">
                <a:solidFill>
                  <a:schemeClr val="tx1"/>
                </a:solidFill>
              </a:rPr>
              <a:t> </a:t>
            </a:r>
            <a:r>
              <a:rPr sz="3850" spc="-20" dirty="0">
                <a:solidFill>
                  <a:schemeClr val="tx1"/>
                </a:solidFill>
              </a:rPr>
              <a:t>Recovery:</a:t>
            </a:r>
            <a:r>
              <a:rPr sz="3850" spc="-135" dirty="0">
                <a:solidFill>
                  <a:schemeClr val="tx1"/>
                </a:solidFill>
              </a:rPr>
              <a:t> </a:t>
            </a:r>
            <a:r>
              <a:rPr sz="3850" spc="-20" dirty="0">
                <a:solidFill>
                  <a:schemeClr val="tx1"/>
                </a:solidFill>
              </a:rPr>
              <a:t>Handling</a:t>
            </a:r>
            <a:r>
              <a:rPr sz="3850" spc="-135" dirty="0">
                <a:solidFill>
                  <a:schemeClr val="tx1"/>
                </a:solidFill>
              </a:rPr>
              <a:t> </a:t>
            </a:r>
            <a:r>
              <a:rPr sz="3850" dirty="0">
                <a:solidFill>
                  <a:schemeClr val="tx1"/>
                </a:solidFill>
              </a:rPr>
              <a:t>Failed</a:t>
            </a:r>
            <a:r>
              <a:rPr sz="3850" spc="-135" dirty="0">
                <a:solidFill>
                  <a:schemeClr val="tx1"/>
                </a:solidFill>
              </a:rPr>
              <a:t> </a:t>
            </a:r>
            <a:r>
              <a:rPr sz="3850" spc="-10" dirty="0">
                <a:solidFill>
                  <a:schemeClr val="tx1"/>
                </a:solidFill>
              </a:rPr>
              <a:t>Patches</a:t>
            </a:r>
            <a:endParaRPr lang="en-US" sz="3850" dirty="0">
              <a:solidFill>
                <a:schemeClr val="tx1"/>
              </a:solidFill>
            </a:endParaRPr>
          </a:p>
        </p:txBody>
      </p:sp>
      <p:sp>
        <p:nvSpPr>
          <p:cNvPr id="6" name="object 3">
            <a:extLst>
              <a:ext uri="{FF2B5EF4-FFF2-40B4-BE49-F238E27FC236}">
                <a16:creationId xmlns:a16="http://schemas.microsoft.com/office/drawing/2014/main" id="{76A50A0F-CAEF-599E-F165-44D1C002C44D}"/>
              </a:ext>
            </a:extLst>
          </p:cNvPr>
          <p:cNvSpPr txBox="1"/>
          <p:nvPr/>
        </p:nvSpPr>
        <p:spPr>
          <a:xfrm>
            <a:off x="648840" y="1472304"/>
            <a:ext cx="10707370" cy="578172"/>
          </a:xfrm>
          <a:prstGeom prst="rect">
            <a:avLst/>
          </a:prstGeom>
        </p:spPr>
        <p:txBody>
          <a:bodyPr vert="horz" wrap="square" lIns="0" tIns="12065" rIns="0" bIns="0" rtlCol="0" anchor="t">
            <a:spAutoFit/>
          </a:bodyPr>
          <a:lstStyle>
            <a:defPPr>
              <a:defRPr kern="0"/>
            </a:defPPr>
          </a:lstStyle>
          <a:p>
            <a:pPr marL="12700" marR="5080">
              <a:lnSpc>
                <a:spcPct val="133600"/>
              </a:lnSpc>
              <a:spcBef>
                <a:spcPts val="95"/>
              </a:spcBef>
            </a:pPr>
            <a:r>
              <a:rPr sz="1450" dirty="0">
                <a:latin typeface="Trebuchet MS"/>
                <a:cs typeface="Trebuchet MS"/>
              </a:rPr>
              <a:t>Even</a:t>
            </a:r>
            <a:r>
              <a:rPr sz="1450" spc="10" dirty="0">
                <a:latin typeface="Trebuchet MS"/>
                <a:cs typeface="Trebuchet MS"/>
              </a:rPr>
              <a:t> </a:t>
            </a:r>
            <a:r>
              <a:rPr sz="1450" dirty="0">
                <a:latin typeface="Trebuchet MS"/>
                <a:cs typeface="Trebuchet MS"/>
              </a:rPr>
              <a:t>with</a:t>
            </a:r>
            <a:r>
              <a:rPr sz="1450" spc="15" dirty="0">
                <a:latin typeface="Trebuchet MS"/>
                <a:cs typeface="Trebuchet MS"/>
              </a:rPr>
              <a:t> </a:t>
            </a:r>
            <a:r>
              <a:rPr sz="1450" dirty="0">
                <a:latin typeface="Trebuchet MS"/>
                <a:cs typeface="Trebuchet MS"/>
              </a:rPr>
              <a:t>the</a:t>
            </a:r>
            <a:r>
              <a:rPr sz="1450" spc="15" dirty="0">
                <a:latin typeface="Trebuchet MS"/>
                <a:cs typeface="Trebuchet MS"/>
              </a:rPr>
              <a:t> </a:t>
            </a:r>
            <a:r>
              <a:rPr sz="1450" spc="55" dirty="0">
                <a:latin typeface="Trebuchet MS"/>
                <a:cs typeface="Trebuchet MS"/>
              </a:rPr>
              <a:t>best</a:t>
            </a:r>
            <a:r>
              <a:rPr sz="1450" spc="15" dirty="0">
                <a:latin typeface="Trebuchet MS"/>
                <a:cs typeface="Trebuchet MS"/>
              </a:rPr>
              <a:t> </a:t>
            </a:r>
            <a:r>
              <a:rPr sz="1450" spc="-10" dirty="0">
                <a:latin typeface="Trebuchet MS"/>
                <a:cs typeface="Trebuchet MS"/>
              </a:rPr>
              <a:t>planning,</a:t>
            </a:r>
            <a:r>
              <a:rPr sz="1450" spc="15" dirty="0">
                <a:latin typeface="Trebuchet MS"/>
                <a:cs typeface="Trebuchet MS"/>
              </a:rPr>
              <a:t> </a:t>
            </a:r>
            <a:r>
              <a:rPr sz="1450" dirty="0">
                <a:latin typeface="Trebuchet MS"/>
                <a:cs typeface="Trebuchet MS"/>
              </a:rPr>
              <a:t>patch</a:t>
            </a:r>
            <a:r>
              <a:rPr sz="1450" spc="15" dirty="0">
                <a:latin typeface="Trebuchet MS"/>
                <a:cs typeface="Trebuchet MS"/>
              </a:rPr>
              <a:t> </a:t>
            </a:r>
            <a:r>
              <a:rPr sz="1450" dirty="0">
                <a:latin typeface="Trebuchet MS"/>
                <a:cs typeface="Trebuchet MS"/>
              </a:rPr>
              <a:t>failures</a:t>
            </a:r>
            <a:r>
              <a:rPr sz="1450" spc="15" dirty="0">
                <a:latin typeface="Trebuchet MS"/>
                <a:cs typeface="Trebuchet MS"/>
              </a:rPr>
              <a:t> </a:t>
            </a:r>
            <a:r>
              <a:rPr sz="1450" spc="60" dirty="0">
                <a:latin typeface="Trebuchet MS"/>
                <a:cs typeface="Trebuchet MS"/>
              </a:rPr>
              <a:t>can</a:t>
            </a:r>
            <a:r>
              <a:rPr sz="1450" spc="15" dirty="0">
                <a:latin typeface="Trebuchet MS"/>
                <a:cs typeface="Trebuchet MS"/>
              </a:rPr>
              <a:t> </a:t>
            </a:r>
            <a:r>
              <a:rPr sz="1450" dirty="0">
                <a:latin typeface="Trebuchet MS"/>
                <a:cs typeface="Trebuchet MS"/>
              </a:rPr>
              <a:t>occur.</a:t>
            </a:r>
            <a:r>
              <a:rPr sz="1450" spc="15" dirty="0">
                <a:latin typeface="Trebuchet MS"/>
                <a:cs typeface="Trebuchet MS"/>
              </a:rPr>
              <a:t> </a:t>
            </a:r>
            <a:r>
              <a:rPr sz="1450" dirty="0">
                <a:latin typeface="Trebuchet MS"/>
                <a:cs typeface="Trebuchet MS"/>
              </a:rPr>
              <a:t>Azure</a:t>
            </a:r>
            <a:r>
              <a:rPr sz="1450" spc="15" dirty="0">
                <a:latin typeface="Trebuchet MS"/>
                <a:cs typeface="Trebuchet MS"/>
              </a:rPr>
              <a:t> </a:t>
            </a:r>
            <a:r>
              <a:rPr sz="1450" dirty="0">
                <a:latin typeface="Trebuchet MS"/>
                <a:cs typeface="Trebuchet MS"/>
              </a:rPr>
              <a:t>Update</a:t>
            </a:r>
            <a:r>
              <a:rPr sz="1450" spc="15" dirty="0">
                <a:latin typeface="Trebuchet MS"/>
                <a:cs typeface="Trebuchet MS"/>
              </a:rPr>
              <a:t> </a:t>
            </a:r>
            <a:r>
              <a:rPr sz="1450" spc="50" dirty="0">
                <a:latin typeface="Trebuchet MS"/>
                <a:cs typeface="Trebuchet MS"/>
              </a:rPr>
              <a:t>Manager</a:t>
            </a:r>
            <a:r>
              <a:rPr sz="1450" spc="10" dirty="0">
                <a:latin typeface="Trebuchet MS"/>
                <a:cs typeface="Trebuchet MS"/>
              </a:rPr>
              <a:t> </a:t>
            </a:r>
            <a:r>
              <a:rPr sz="1450" spc="45" dirty="0">
                <a:latin typeface="Trebuchet MS"/>
                <a:cs typeface="Trebuchet MS"/>
              </a:rPr>
              <a:t>provides</a:t>
            </a:r>
            <a:r>
              <a:rPr sz="1450" spc="15" dirty="0">
                <a:latin typeface="Trebuchet MS"/>
                <a:cs typeface="Trebuchet MS"/>
              </a:rPr>
              <a:t> </a:t>
            </a:r>
            <a:r>
              <a:rPr sz="1450" spc="65" dirty="0">
                <a:latin typeface="Trebuchet MS"/>
                <a:cs typeface="Trebuchet MS"/>
              </a:rPr>
              <a:t>mechanisms</a:t>
            </a:r>
            <a:r>
              <a:rPr sz="1450" spc="15" dirty="0">
                <a:latin typeface="Trebuchet MS"/>
                <a:cs typeface="Trebuchet MS"/>
              </a:rPr>
              <a:t> </a:t>
            </a:r>
            <a:r>
              <a:rPr sz="1450" dirty="0">
                <a:latin typeface="Trebuchet MS"/>
                <a:cs typeface="Trebuchet MS"/>
              </a:rPr>
              <a:t>to</a:t>
            </a:r>
            <a:r>
              <a:rPr sz="1450" spc="15" dirty="0">
                <a:latin typeface="Trebuchet MS"/>
                <a:cs typeface="Trebuchet MS"/>
              </a:rPr>
              <a:t> </a:t>
            </a:r>
            <a:r>
              <a:rPr sz="1450" dirty="0">
                <a:latin typeface="Trebuchet MS"/>
                <a:cs typeface="Trebuchet MS"/>
              </a:rPr>
              <a:t>quickly</a:t>
            </a:r>
            <a:r>
              <a:rPr sz="1450" spc="15" dirty="0">
                <a:latin typeface="Trebuchet MS"/>
                <a:cs typeface="Trebuchet MS"/>
              </a:rPr>
              <a:t> </a:t>
            </a:r>
            <a:r>
              <a:rPr sz="1450" dirty="0">
                <a:latin typeface="Trebuchet MS"/>
                <a:cs typeface="Trebuchet MS"/>
              </a:rPr>
              <a:t>identify</a:t>
            </a:r>
            <a:r>
              <a:rPr sz="1450" spc="15" dirty="0">
                <a:latin typeface="Trebuchet MS"/>
                <a:cs typeface="Trebuchet MS"/>
              </a:rPr>
              <a:t> </a:t>
            </a:r>
            <a:r>
              <a:rPr sz="1450" spc="60" dirty="0">
                <a:latin typeface="Trebuchet MS"/>
                <a:cs typeface="Trebuchet MS"/>
              </a:rPr>
              <a:t>issues </a:t>
            </a:r>
            <a:r>
              <a:rPr sz="1450" spc="55" dirty="0">
                <a:latin typeface="Trebuchet MS"/>
                <a:cs typeface="Trebuchet MS"/>
              </a:rPr>
              <a:t>and</a:t>
            </a:r>
            <a:r>
              <a:rPr sz="1450" spc="50" dirty="0">
                <a:latin typeface="Trebuchet MS"/>
                <a:cs typeface="Trebuchet MS"/>
              </a:rPr>
              <a:t> </a:t>
            </a:r>
            <a:r>
              <a:rPr sz="1450" dirty="0">
                <a:latin typeface="Trebuchet MS"/>
                <a:cs typeface="Trebuchet MS"/>
              </a:rPr>
              <a:t>revert</a:t>
            </a:r>
            <a:r>
              <a:rPr sz="1450" spc="55" dirty="0">
                <a:latin typeface="Trebuchet MS"/>
                <a:cs typeface="Trebuchet MS"/>
              </a:rPr>
              <a:t> </a:t>
            </a:r>
            <a:r>
              <a:rPr sz="1450" dirty="0">
                <a:latin typeface="Trebuchet MS"/>
                <a:cs typeface="Trebuchet MS"/>
              </a:rPr>
              <a:t>changes,</a:t>
            </a:r>
            <a:r>
              <a:rPr sz="1450" spc="55" dirty="0">
                <a:latin typeface="Trebuchet MS"/>
                <a:cs typeface="Trebuchet MS"/>
              </a:rPr>
              <a:t> </a:t>
            </a:r>
            <a:r>
              <a:rPr sz="1450" dirty="0">
                <a:latin typeface="Trebuchet MS"/>
                <a:cs typeface="Trebuchet MS"/>
              </a:rPr>
              <a:t>minimizing</a:t>
            </a:r>
            <a:r>
              <a:rPr sz="1450" spc="55" dirty="0">
                <a:latin typeface="Trebuchet MS"/>
                <a:cs typeface="Trebuchet MS"/>
              </a:rPr>
              <a:t> </a:t>
            </a:r>
            <a:r>
              <a:rPr sz="1450" dirty="0">
                <a:latin typeface="Trebuchet MS"/>
                <a:cs typeface="Trebuchet MS"/>
              </a:rPr>
              <a:t>downtime</a:t>
            </a:r>
            <a:r>
              <a:rPr sz="1450" spc="55" dirty="0">
                <a:latin typeface="Trebuchet MS"/>
                <a:cs typeface="Trebuchet MS"/>
              </a:rPr>
              <a:t> and </a:t>
            </a:r>
            <a:r>
              <a:rPr sz="1450" dirty="0">
                <a:latin typeface="Trebuchet MS"/>
                <a:cs typeface="Trebuchet MS"/>
              </a:rPr>
              <a:t>ensuring</a:t>
            </a:r>
            <a:r>
              <a:rPr sz="1450" spc="55" dirty="0">
                <a:latin typeface="Trebuchet MS"/>
                <a:cs typeface="Trebuchet MS"/>
              </a:rPr>
              <a:t> </a:t>
            </a:r>
            <a:r>
              <a:rPr sz="1450" spc="60" dirty="0">
                <a:latin typeface="Trebuchet MS"/>
                <a:cs typeface="Trebuchet MS"/>
              </a:rPr>
              <a:t>system</a:t>
            </a:r>
            <a:r>
              <a:rPr sz="1450" spc="55" dirty="0">
                <a:latin typeface="Trebuchet MS"/>
                <a:cs typeface="Trebuchet MS"/>
              </a:rPr>
              <a:t> </a:t>
            </a:r>
            <a:r>
              <a:rPr sz="1450" spc="-10" dirty="0">
                <a:latin typeface="Trebuchet MS"/>
                <a:cs typeface="Trebuchet MS"/>
              </a:rPr>
              <a:t>stability.</a:t>
            </a:r>
            <a:endParaRPr lang="en-US" sz="1450">
              <a:latin typeface="Trebuchet MS"/>
              <a:cs typeface="Trebuchet MS"/>
            </a:endParaRPr>
          </a:p>
        </p:txBody>
      </p:sp>
      <p:sp>
        <p:nvSpPr>
          <p:cNvPr id="7" name="object 4">
            <a:extLst>
              <a:ext uri="{FF2B5EF4-FFF2-40B4-BE49-F238E27FC236}">
                <a16:creationId xmlns:a16="http://schemas.microsoft.com/office/drawing/2014/main" id="{EA733E45-2252-7F53-861A-BC3CA102A23C}"/>
              </a:ext>
            </a:extLst>
          </p:cNvPr>
          <p:cNvSpPr/>
          <p:nvPr/>
        </p:nvSpPr>
        <p:spPr>
          <a:xfrm>
            <a:off x="667384" y="2140584"/>
            <a:ext cx="930910" cy="1116965"/>
          </a:xfrm>
          <a:custGeom>
            <a:avLst/>
            <a:gdLst/>
            <a:ahLst/>
            <a:cxnLst/>
            <a:rect l="l" t="t" r="r" b="b"/>
            <a:pathLst>
              <a:path w="930910" h="1116964">
                <a:moveTo>
                  <a:pt x="465174" y="1116359"/>
                </a:moveTo>
                <a:lnTo>
                  <a:pt x="0" y="930289"/>
                </a:lnTo>
                <a:lnTo>
                  <a:pt x="0" y="0"/>
                </a:lnTo>
                <a:lnTo>
                  <a:pt x="465174" y="186069"/>
                </a:lnTo>
                <a:lnTo>
                  <a:pt x="930349" y="0"/>
                </a:lnTo>
                <a:lnTo>
                  <a:pt x="930349" y="930289"/>
                </a:lnTo>
                <a:lnTo>
                  <a:pt x="465174" y="1116359"/>
                </a:lnTo>
                <a:close/>
              </a:path>
            </a:pathLst>
          </a:custGeom>
          <a:solidFill>
            <a:srgbClr val="F1EDED"/>
          </a:solidFill>
        </p:spPr>
        <p:txBody>
          <a:bodyPr wrap="square" lIns="0" tIns="0" rIns="0" bIns="0" rtlCol="0"/>
          <a:lstStyle>
            <a:defPPr>
              <a:defRPr kern="0"/>
            </a:defPPr>
          </a:lstStyle>
          <a:p>
            <a:endParaRPr/>
          </a:p>
        </p:txBody>
      </p:sp>
      <p:sp>
        <p:nvSpPr>
          <p:cNvPr id="8" name="object 5">
            <a:extLst>
              <a:ext uri="{FF2B5EF4-FFF2-40B4-BE49-F238E27FC236}">
                <a16:creationId xmlns:a16="http://schemas.microsoft.com/office/drawing/2014/main" id="{14FB2886-2B3A-2266-EB61-19A6B089B193}"/>
              </a:ext>
            </a:extLst>
          </p:cNvPr>
          <p:cNvSpPr txBox="1"/>
          <p:nvPr/>
        </p:nvSpPr>
        <p:spPr>
          <a:xfrm>
            <a:off x="1029206" y="2526347"/>
            <a:ext cx="174625" cy="360680"/>
          </a:xfrm>
          <a:prstGeom prst="rect">
            <a:avLst/>
          </a:prstGeom>
        </p:spPr>
        <p:txBody>
          <a:bodyPr vert="horz" wrap="square" lIns="0" tIns="12065" rIns="0" bIns="0" rtlCol="0">
            <a:spAutoFit/>
          </a:bodyPr>
          <a:lstStyle>
            <a:defPPr>
              <a:defRPr kern="0"/>
            </a:defPPr>
          </a:lstStyle>
          <a:p>
            <a:pPr marL="12700">
              <a:lnSpc>
                <a:spcPct val="100000"/>
              </a:lnSpc>
              <a:spcBef>
                <a:spcPts val="95"/>
              </a:spcBef>
            </a:pPr>
            <a:r>
              <a:rPr sz="2200" spc="165" dirty="0">
                <a:solidFill>
                  <a:srgbClr val="373737"/>
                </a:solidFill>
                <a:latin typeface="Georgia"/>
                <a:cs typeface="Georgia"/>
              </a:rPr>
              <a:t>1</a:t>
            </a:r>
            <a:endParaRPr sz="2200">
              <a:latin typeface="Georgia"/>
              <a:cs typeface="Georgia"/>
            </a:endParaRPr>
          </a:p>
        </p:txBody>
      </p:sp>
      <p:sp>
        <p:nvSpPr>
          <p:cNvPr id="9" name="object 6">
            <a:extLst>
              <a:ext uri="{FF2B5EF4-FFF2-40B4-BE49-F238E27FC236}">
                <a16:creationId xmlns:a16="http://schemas.microsoft.com/office/drawing/2014/main" id="{ECF2DBC8-839E-556A-CC17-EBA395CB6FE2}"/>
              </a:ext>
            </a:extLst>
          </p:cNvPr>
          <p:cNvSpPr txBox="1"/>
          <p:nvPr/>
        </p:nvSpPr>
        <p:spPr>
          <a:xfrm>
            <a:off x="1711424" y="2291429"/>
            <a:ext cx="9636125" cy="678815"/>
          </a:xfrm>
          <a:prstGeom prst="rect">
            <a:avLst/>
          </a:prstGeom>
        </p:spPr>
        <p:txBody>
          <a:bodyPr vert="horz" wrap="square" lIns="0" tIns="15240" rIns="0" bIns="0" rtlCol="0" anchor="t">
            <a:spAutoFit/>
          </a:bodyPr>
          <a:lstStyle>
            <a:defPPr>
              <a:defRPr kern="0"/>
            </a:defPPr>
          </a:lstStyle>
          <a:p>
            <a:pPr marL="12700">
              <a:lnSpc>
                <a:spcPct val="100000"/>
              </a:lnSpc>
              <a:spcBef>
                <a:spcPts val="120"/>
              </a:spcBef>
            </a:pPr>
            <a:r>
              <a:rPr sz="1900" dirty="0">
                <a:latin typeface="Georgia"/>
                <a:cs typeface="Georgia"/>
              </a:rPr>
              <a:t>Proactive</a:t>
            </a:r>
            <a:r>
              <a:rPr sz="1900" spc="35" dirty="0">
                <a:latin typeface="Georgia"/>
                <a:cs typeface="Georgia"/>
              </a:rPr>
              <a:t> </a:t>
            </a:r>
            <a:r>
              <a:rPr sz="1900" dirty="0">
                <a:latin typeface="Georgia"/>
                <a:cs typeface="Georgia"/>
              </a:rPr>
              <a:t>Monitoring</a:t>
            </a:r>
            <a:r>
              <a:rPr sz="1900" spc="35" dirty="0">
                <a:latin typeface="Georgia"/>
                <a:cs typeface="Georgia"/>
              </a:rPr>
              <a:t> </a:t>
            </a:r>
            <a:r>
              <a:rPr sz="1900" spc="310" dirty="0">
                <a:latin typeface="Georgia"/>
                <a:cs typeface="Georgia"/>
              </a:rPr>
              <a:t>&amp;</a:t>
            </a:r>
            <a:r>
              <a:rPr sz="1900" dirty="0">
                <a:latin typeface="Georgia"/>
                <a:cs typeface="Georgia"/>
              </a:rPr>
              <a:t> </a:t>
            </a:r>
            <a:r>
              <a:rPr sz="1900" spc="-10" dirty="0">
                <a:latin typeface="Georgia"/>
                <a:cs typeface="Georgia"/>
              </a:rPr>
              <a:t>Alerting</a:t>
            </a:r>
            <a:endParaRPr lang="en-US" sz="1900">
              <a:latin typeface="Georgia"/>
              <a:cs typeface="Georgia"/>
            </a:endParaRPr>
          </a:p>
          <a:p>
            <a:pPr marL="12700">
              <a:lnSpc>
                <a:spcPct val="100000"/>
              </a:lnSpc>
              <a:spcBef>
                <a:spcPts val="1095"/>
              </a:spcBef>
            </a:pPr>
            <a:r>
              <a:rPr sz="1450" dirty="0">
                <a:latin typeface="Trebuchet MS"/>
                <a:cs typeface="Trebuchet MS"/>
              </a:rPr>
              <a:t>Integrate</a:t>
            </a:r>
            <a:r>
              <a:rPr sz="1450" spc="20" dirty="0">
                <a:latin typeface="Trebuchet MS"/>
                <a:cs typeface="Trebuchet MS"/>
              </a:rPr>
              <a:t> </a:t>
            </a:r>
            <a:r>
              <a:rPr sz="1450" dirty="0">
                <a:latin typeface="Trebuchet MS"/>
                <a:cs typeface="Trebuchet MS"/>
              </a:rPr>
              <a:t>with</a:t>
            </a:r>
            <a:r>
              <a:rPr sz="1450" spc="20" dirty="0">
                <a:latin typeface="Trebuchet MS"/>
                <a:cs typeface="Trebuchet MS"/>
              </a:rPr>
              <a:t> </a:t>
            </a:r>
            <a:r>
              <a:rPr sz="1450" dirty="0">
                <a:latin typeface="Trebuchet MS"/>
                <a:cs typeface="Trebuchet MS"/>
              </a:rPr>
              <a:t>Azure</a:t>
            </a:r>
            <a:r>
              <a:rPr sz="1450" spc="25" dirty="0">
                <a:latin typeface="Trebuchet MS"/>
                <a:cs typeface="Trebuchet MS"/>
              </a:rPr>
              <a:t> </a:t>
            </a:r>
            <a:r>
              <a:rPr sz="1450" dirty="0">
                <a:latin typeface="Trebuchet MS"/>
                <a:cs typeface="Trebuchet MS"/>
              </a:rPr>
              <a:t>Monitor</a:t>
            </a:r>
            <a:r>
              <a:rPr sz="1450" spc="20" dirty="0">
                <a:latin typeface="Trebuchet MS"/>
                <a:cs typeface="Trebuchet MS"/>
              </a:rPr>
              <a:t> </a:t>
            </a:r>
            <a:r>
              <a:rPr sz="1450" dirty="0">
                <a:latin typeface="Trebuchet MS"/>
                <a:cs typeface="Trebuchet MS"/>
              </a:rPr>
              <a:t>to</a:t>
            </a:r>
            <a:r>
              <a:rPr sz="1450" spc="25" dirty="0">
                <a:latin typeface="Trebuchet MS"/>
                <a:cs typeface="Trebuchet MS"/>
              </a:rPr>
              <a:t> </a:t>
            </a:r>
            <a:r>
              <a:rPr sz="1450" dirty="0">
                <a:latin typeface="Trebuchet MS"/>
                <a:cs typeface="Trebuchet MS"/>
              </a:rPr>
              <a:t>trigger</a:t>
            </a:r>
            <a:r>
              <a:rPr sz="1450" spc="20" dirty="0">
                <a:latin typeface="Trebuchet MS"/>
                <a:cs typeface="Trebuchet MS"/>
              </a:rPr>
              <a:t> </a:t>
            </a:r>
            <a:r>
              <a:rPr sz="1450" dirty="0">
                <a:latin typeface="Trebuchet MS"/>
                <a:cs typeface="Trebuchet MS"/>
              </a:rPr>
              <a:t>alerts</a:t>
            </a:r>
            <a:r>
              <a:rPr sz="1450" spc="20" dirty="0">
                <a:latin typeface="Trebuchet MS"/>
                <a:cs typeface="Trebuchet MS"/>
              </a:rPr>
              <a:t> </a:t>
            </a:r>
            <a:r>
              <a:rPr sz="1450" spc="65" dirty="0">
                <a:latin typeface="Trebuchet MS"/>
                <a:cs typeface="Trebuchet MS"/>
              </a:rPr>
              <a:t>on</a:t>
            </a:r>
            <a:r>
              <a:rPr sz="1450" spc="25" dirty="0">
                <a:latin typeface="Trebuchet MS"/>
                <a:cs typeface="Trebuchet MS"/>
              </a:rPr>
              <a:t> </a:t>
            </a:r>
            <a:r>
              <a:rPr sz="1450" spc="-10" dirty="0">
                <a:latin typeface="Trebuchet MS"/>
                <a:cs typeface="Trebuchet MS"/>
              </a:rPr>
              <a:t>failed</a:t>
            </a:r>
            <a:r>
              <a:rPr sz="1450" spc="20" dirty="0">
                <a:latin typeface="Trebuchet MS"/>
                <a:cs typeface="Trebuchet MS"/>
              </a:rPr>
              <a:t> </a:t>
            </a:r>
            <a:r>
              <a:rPr sz="1450" dirty="0">
                <a:latin typeface="Trebuchet MS"/>
                <a:cs typeface="Trebuchet MS"/>
              </a:rPr>
              <a:t>patch</a:t>
            </a:r>
            <a:r>
              <a:rPr sz="1450" spc="25" dirty="0">
                <a:latin typeface="Trebuchet MS"/>
                <a:cs typeface="Trebuchet MS"/>
              </a:rPr>
              <a:t> </a:t>
            </a:r>
            <a:r>
              <a:rPr sz="1450" spc="50" dirty="0">
                <a:latin typeface="Trebuchet MS"/>
                <a:cs typeface="Trebuchet MS"/>
              </a:rPr>
              <a:t>deployments</a:t>
            </a:r>
            <a:r>
              <a:rPr sz="1450" spc="20" dirty="0">
                <a:latin typeface="Trebuchet MS"/>
                <a:cs typeface="Trebuchet MS"/>
              </a:rPr>
              <a:t> </a:t>
            </a:r>
            <a:r>
              <a:rPr sz="1450" dirty="0">
                <a:latin typeface="Trebuchet MS"/>
                <a:cs typeface="Trebuchet MS"/>
              </a:rPr>
              <a:t>or</a:t>
            </a:r>
            <a:r>
              <a:rPr sz="1450" spc="25" dirty="0">
                <a:latin typeface="Trebuchet MS"/>
                <a:cs typeface="Trebuchet MS"/>
              </a:rPr>
              <a:t> </a:t>
            </a:r>
            <a:r>
              <a:rPr sz="1450" dirty="0">
                <a:latin typeface="Trebuchet MS"/>
                <a:cs typeface="Trebuchet MS"/>
              </a:rPr>
              <a:t>critical</a:t>
            </a:r>
            <a:r>
              <a:rPr sz="1450" spc="20" dirty="0">
                <a:latin typeface="Trebuchet MS"/>
                <a:cs typeface="Trebuchet MS"/>
              </a:rPr>
              <a:t> </a:t>
            </a:r>
            <a:r>
              <a:rPr sz="1450" spc="60" dirty="0">
                <a:latin typeface="Trebuchet MS"/>
                <a:cs typeface="Trebuchet MS"/>
              </a:rPr>
              <a:t>system</a:t>
            </a:r>
            <a:r>
              <a:rPr sz="1450" spc="20" dirty="0">
                <a:latin typeface="Trebuchet MS"/>
                <a:cs typeface="Trebuchet MS"/>
              </a:rPr>
              <a:t> </a:t>
            </a:r>
            <a:r>
              <a:rPr sz="1450" dirty="0">
                <a:latin typeface="Trebuchet MS"/>
                <a:cs typeface="Trebuchet MS"/>
              </a:rPr>
              <a:t>errors</a:t>
            </a:r>
            <a:r>
              <a:rPr sz="1450" spc="25" dirty="0">
                <a:latin typeface="Trebuchet MS"/>
                <a:cs typeface="Trebuchet MS"/>
              </a:rPr>
              <a:t> </a:t>
            </a:r>
            <a:r>
              <a:rPr sz="1450" spc="105" dirty="0">
                <a:latin typeface="Trebuchet MS"/>
                <a:cs typeface="Trebuchet MS"/>
              </a:rPr>
              <a:t>post-</a:t>
            </a:r>
            <a:r>
              <a:rPr sz="1450" spc="-10" dirty="0">
                <a:latin typeface="Trebuchet MS"/>
                <a:cs typeface="Trebuchet MS"/>
              </a:rPr>
              <a:t>update</a:t>
            </a:r>
            <a:r>
              <a:rPr sz="1450" spc="-10" dirty="0">
                <a:solidFill>
                  <a:srgbClr val="373737"/>
                </a:solidFill>
                <a:latin typeface="Trebuchet MS"/>
                <a:cs typeface="Trebuchet MS"/>
              </a:rPr>
              <a:t>.</a:t>
            </a:r>
            <a:endParaRPr sz="1450">
              <a:latin typeface="Trebuchet MS"/>
              <a:cs typeface="Trebuchet MS"/>
            </a:endParaRPr>
          </a:p>
        </p:txBody>
      </p:sp>
      <p:sp>
        <p:nvSpPr>
          <p:cNvPr id="10" name="object 7">
            <a:extLst>
              <a:ext uri="{FF2B5EF4-FFF2-40B4-BE49-F238E27FC236}">
                <a16:creationId xmlns:a16="http://schemas.microsoft.com/office/drawing/2014/main" id="{AADA991D-8D73-16D3-44D0-0B40FB7E62E4}"/>
              </a:ext>
            </a:extLst>
          </p:cNvPr>
          <p:cNvSpPr/>
          <p:nvPr/>
        </p:nvSpPr>
        <p:spPr>
          <a:xfrm>
            <a:off x="657224" y="3468370"/>
            <a:ext cx="930910" cy="1113790"/>
          </a:xfrm>
          <a:custGeom>
            <a:avLst/>
            <a:gdLst/>
            <a:ahLst/>
            <a:cxnLst/>
            <a:rect l="l" t="t" r="r" b="b"/>
            <a:pathLst>
              <a:path w="930910" h="1377950">
                <a:moveTo>
                  <a:pt x="465174" y="1377701"/>
                </a:moveTo>
                <a:lnTo>
                  <a:pt x="0" y="1191631"/>
                </a:lnTo>
                <a:lnTo>
                  <a:pt x="0" y="0"/>
                </a:lnTo>
                <a:lnTo>
                  <a:pt x="465174" y="186069"/>
                </a:lnTo>
                <a:lnTo>
                  <a:pt x="930349" y="0"/>
                </a:lnTo>
                <a:lnTo>
                  <a:pt x="930349" y="1191631"/>
                </a:lnTo>
                <a:lnTo>
                  <a:pt x="465174" y="1377701"/>
                </a:lnTo>
                <a:close/>
              </a:path>
            </a:pathLst>
          </a:custGeom>
          <a:solidFill>
            <a:srgbClr val="F1EDED"/>
          </a:solidFill>
        </p:spPr>
        <p:txBody>
          <a:bodyPr wrap="square" lIns="0" tIns="0" rIns="0" bIns="0" rtlCol="0"/>
          <a:lstStyle>
            <a:defPPr>
              <a:defRPr kern="0"/>
            </a:defPPr>
          </a:lstStyle>
          <a:p>
            <a:endParaRPr/>
          </a:p>
        </p:txBody>
      </p:sp>
      <p:sp>
        <p:nvSpPr>
          <p:cNvPr id="11" name="object 8">
            <a:extLst>
              <a:ext uri="{FF2B5EF4-FFF2-40B4-BE49-F238E27FC236}">
                <a16:creationId xmlns:a16="http://schemas.microsoft.com/office/drawing/2014/main" id="{B6D1DF5C-BF02-F135-0B27-C14B93E3C23B}"/>
              </a:ext>
            </a:extLst>
          </p:cNvPr>
          <p:cNvSpPr txBox="1"/>
          <p:nvPr/>
        </p:nvSpPr>
        <p:spPr>
          <a:xfrm>
            <a:off x="1039366" y="3845242"/>
            <a:ext cx="174625" cy="360680"/>
          </a:xfrm>
          <a:prstGeom prst="rect">
            <a:avLst/>
          </a:prstGeom>
        </p:spPr>
        <p:txBody>
          <a:bodyPr vert="horz" wrap="square" lIns="0" tIns="12065" rIns="0" bIns="0" rtlCol="0">
            <a:spAutoFit/>
          </a:bodyPr>
          <a:lstStyle>
            <a:defPPr>
              <a:defRPr kern="0"/>
            </a:defPPr>
          </a:lstStyle>
          <a:p>
            <a:pPr marL="12700">
              <a:lnSpc>
                <a:spcPct val="100000"/>
              </a:lnSpc>
              <a:spcBef>
                <a:spcPts val="95"/>
              </a:spcBef>
            </a:pPr>
            <a:r>
              <a:rPr sz="2200" spc="-50" dirty="0">
                <a:solidFill>
                  <a:srgbClr val="373737"/>
                </a:solidFill>
                <a:latin typeface="Georgia"/>
                <a:cs typeface="Georgia"/>
              </a:rPr>
              <a:t>2</a:t>
            </a:r>
            <a:endParaRPr sz="2200">
              <a:latin typeface="Georgia"/>
              <a:cs typeface="Georgia"/>
            </a:endParaRPr>
          </a:p>
        </p:txBody>
      </p:sp>
      <p:sp>
        <p:nvSpPr>
          <p:cNvPr id="12" name="object 9">
            <a:extLst>
              <a:ext uri="{FF2B5EF4-FFF2-40B4-BE49-F238E27FC236}">
                <a16:creationId xmlns:a16="http://schemas.microsoft.com/office/drawing/2014/main" id="{78C95986-5185-6FDC-8A6F-5DF20DD1E827}"/>
              </a:ext>
            </a:extLst>
          </p:cNvPr>
          <p:cNvSpPr txBox="1"/>
          <p:nvPr/>
        </p:nvSpPr>
        <p:spPr>
          <a:xfrm>
            <a:off x="1711424" y="3456654"/>
            <a:ext cx="9007475" cy="974090"/>
          </a:xfrm>
          <a:prstGeom prst="rect">
            <a:avLst/>
          </a:prstGeom>
        </p:spPr>
        <p:txBody>
          <a:bodyPr vert="horz" wrap="square" lIns="0" tIns="15240" rIns="0" bIns="0" rtlCol="0" anchor="t">
            <a:spAutoFit/>
          </a:bodyPr>
          <a:lstStyle>
            <a:defPPr>
              <a:defRPr kern="0"/>
            </a:defPPr>
          </a:lstStyle>
          <a:p>
            <a:pPr marL="12700">
              <a:lnSpc>
                <a:spcPct val="100000"/>
              </a:lnSpc>
              <a:spcBef>
                <a:spcPts val="120"/>
              </a:spcBef>
            </a:pPr>
            <a:r>
              <a:rPr sz="1900" dirty="0">
                <a:latin typeface="Georgia"/>
                <a:cs typeface="Georgia"/>
              </a:rPr>
              <a:t>Pre-Patch</a:t>
            </a:r>
            <a:r>
              <a:rPr sz="1900" spc="50" dirty="0">
                <a:latin typeface="Georgia"/>
                <a:cs typeface="Georgia"/>
              </a:rPr>
              <a:t> </a:t>
            </a:r>
            <a:r>
              <a:rPr sz="1900" dirty="0">
                <a:latin typeface="Georgia"/>
                <a:cs typeface="Georgia"/>
              </a:rPr>
              <a:t>Snapshots</a:t>
            </a:r>
            <a:r>
              <a:rPr sz="1900" spc="55" dirty="0">
                <a:latin typeface="Georgia"/>
                <a:cs typeface="Georgia"/>
              </a:rPr>
              <a:t> </a:t>
            </a:r>
            <a:r>
              <a:rPr sz="1900" spc="310" dirty="0">
                <a:latin typeface="Georgia"/>
                <a:cs typeface="Georgia"/>
              </a:rPr>
              <a:t>&amp;</a:t>
            </a:r>
            <a:r>
              <a:rPr sz="1900" spc="55" dirty="0">
                <a:latin typeface="Georgia"/>
                <a:cs typeface="Georgia"/>
              </a:rPr>
              <a:t> </a:t>
            </a:r>
            <a:r>
              <a:rPr sz="1900" spc="-10" dirty="0">
                <a:latin typeface="Georgia"/>
                <a:cs typeface="Georgia"/>
              </a:rPr>
              <a:t>Backups</a:t>
            </a:r>
            <a:endParaRPr lang="en-US" sz="1900">
              <a:latin typeface="Georgia"/>
              <a:cs typeface="Georgia"/>
            </a:endParaRPr>
          </a:p>
          <a:p>
            <a:pPr marL="12700" marR="5080">
              <a:lnSpc>
                <a:spcPct val="133600"/>
              </a:lnSpc>
              <a:spcBef>
                <a:spcPts val="509"/>
              </a:spcBef>
            </a:pPr>
            <a:r>
              <a:rPr sz="1450" dirty="0">
                <a:latin typeface="Trebuchet MS"/>
                <a:cs typeface="Trebuchet MS"/>
              </a:rPr>
              <a:t>Leverage</a:t>
            </a:r>
            <a:r>
              <a:rPr sz="1450" spc="70" dirty="0">
                <a:latin typeface="Trebuchet MS"/>
                <a:cs typeface="Trebuchet MS"/>
              </a:rPr>
              <a:t> </a:t>
            </a:r>
            <a:r>
              <a:rPr sz="1450" dirty="0">
                <a:latin typeface="Trebuchet MS"/>
                <a:cs typeface="Trebuchet MS"/>
              </a:rPr>
              <a:t>automated</a:t>
            </a:r>
            <a:r>
              <a:rPr sz="1450" spc="75" dirty="0">
                <a:latin typeface="Trebuchet MS"/>
                <a:cs typeface="Trebuchet MS"/>
              </a:rPr>
              <a:t> </a:t>
            </a:r>
            <a:r>
              <a:rPr sz="1450" spc="160" dirty="0">
                <a:latin typeface="Trebuchet MS"/>
                <a:cs typeface="Trebuchet MS"/>
              </a:rPr>
              <a:t>VM</a:t>
            </a:r>
            <a:r>
              <a:rPr sz="1450" spc="75" dirty="0">
                <a:latin typeface="Trebuchet MS"/>
                <a:cs typeface="Trebuchet MS"/>
              </a:rPr>
              <a:t> snapshots</a:t>
            </a:r>
            <a:r>
              <a:rPr sz="1450" spc="70" dirty="0">
                <a:latin typeface="Trebuchet MS"/>
                <a:cs typeface="Trebuchet MS"/>
              </a:rPr>
              <a:t> </a:t>
            </a:r>
            <a:r>
              <a:rPr sz="1450" dirty="0">
                <a:latin typeface="Trebuchet MS"/>
                <a:cs typeface="Trebuchet MS"/>
              </a:rPr>
              <a:t>or</a:t>
            </a:r>
            <a:r>
              <a:rPr sz="1450" spc="75" dirty="0">
                <a:latin typeface="Trebuchet MS"/>
                <a:cs typeface="Trebuchet MS"/>
              </a:rPr>
              <a:t> </a:t>
            </a:r>
            <a:r>
              <a:rPr sz="1450" dirty="0">
                <a:latin typeface="Trebuchet MS"/>
                <a:cs typeface="Trebuchet MS"/>
              </a:rPr>
              <a:t>restore</a:t>
            </a:r>
            <a:r>
              <a:rPr sz="1450" spc="75" dirty="0">
                <a:latin typeface="Trebuchet MS"/>
                <a:cs typeface="Trebuchet MS"/>
              </a:rPr>
              <a:t> </a:t>
            </a:r>
            <a:r>
              <a:rPr sz="1450" dirty="0">
                <a:latin typeface="Trebuchet MS"/>
                <a:cs typeface="Trebuchet MS"/>
              </a:rPr>
              <a:t>points</a:t>
            </a:r>
            <a:r>
              <a:rPr sz="1450" spc="70" dirty="0">
                <a:latin typeface="Trebuchet MS"/>
                <a:cs typeface="Trebuchet MS"/>
              </a:rPr>
              <a:t> </a:t>
            </a:r>
            <a:r>
              <a:rPr sz="1450" dirty="0">
                <a:latin typeface="Trebuchet MS"/>
                <a:cs typeface="Trebuchet MS"/>
              </a:rPr>
              <a:t>before</a:t>
            </a:r>
            <a:r>
              <a:rPr sz="1450" spc="75" dirty="0">
                <a:latin typeface="Trebuchet MS"/>
                <a:cs typeface="Trebuchet MS"/>
              </a:rPr>
              <a:t> </a:t>
            </a:r>
            <a:r>
              <a:rPr sz="1450" dirty="0">
                <a:latin typeface="Trebuchet MS"/>
                <a:cs typeface="Trebuchet MS"/>
              </a:rPr>
              <a:t>applying</a:t>
            </a:r>
            <a:r>
              <a:rPr sz="1450" spc="75" dirty="0">
                <a:latin typeface="Trebuchet MS"/>
                <a:cs typeface="Trebuchet MS"/>
              </a:rPr>
              <a:t> </a:t>
            </a:r>
            <a:r>
              <a:rPr sz="1450" spc="55" dirty="0">
                <a:latin typeface="Trebuchet MS"/>
                <a:cs typeface="Trebuchet MS"/>
              </a:rPr>
              <a:t>patches</a:t>
            </a:r>
            <a:r>
              <a:rPr sz="1450" spc="70" dirty="0">
                <a:latin typeface="Trebuchet MS"/>
                <a:cs typeface="Trebuchet MS"/>
              </a:rPr>
              <a:t> </a:t>
            </a:r>
            <a:r>
              <a:rPr sz="1450" dirty="0">
                <a:latin typeface="Trebuchet MS"/>
                <a:cs typeface="Trebuchet MS"/>
              </a:rPr>
              <a:t>to</a:t>
            </a:r>
            <a:r>
              <a:rPr sz="1450" spc="75" dirty="0">
                <a:latin typeface="Trebuchet MS"/>
                <a:cs typeface="Trebuchet MS"/>
              </a:rPr>
              <a:t> </a:t>
            </a:r>
            <a:r>
              <a:rPr sz="1450" dirty="0">
                <a:latin typeface="Trebuchet MS"/>
                <a:cs typeface="Trebuchet MS"/>
              </a:rPr>
              <a:t>enable</a:t>
            </a:r>
            <a:r>
              <a:rPr sz="1450" spc="75" dirty="0">
                <a:latin typeface="Trebuchet MS"/>
                <a:cs typeface="Trebuchet MS"/>
              </a:rPr>
              <a:t> </a:t>
            </a:r>
            <a:r>
              <a:rPr sz="1450" dirty="0">
                <a:latin typeface="Trebuchet MS"/>
                <a:cs typeface="Trebuchet MS"/>
              </a:rPr>
              <a:t>rapid</a:t>
            </a:r>
            <a:r>
              <a:rPr sz="1450" spc="75" dirty="0">
                <a:latin typeface="Trebuchet MS"/>
                <a:cs typeface="Trebuchet MS"/>
              </a:rPr>
              <a:t> </a:t>
            </a:r>
            <a:r>
              <a:rPr sz="1450" spc="-55" dirty="0">
                <a:latin typeface="Trebuchet MS"/>
                <a:cs typeface="Trebuchet MS"/>
              </a:rPr>
              <a:t>full</a:t>
            </a:r>
            <a:r>
              <a:rPr sz="1450" spc="70" dirty="0">
                <a:latin typeface="Trebuchet MS"/>
                <a:cs typeface="Trebuchet MS"/>
              </a:rPr>
              <a:t> </a:t>
            </a:r>
            <a:r>
              <a:rPr sz="1450" spc="50" dirty="0">
                <a:latin typeface="Trebuchet MS"/>
                <a:cs typeface="Trebuchet MS"/>
              </a:rPr>
              <a:t>system </a:t>
            </a:r>
            <a:r>
              <a:rPr sz="1450" spc="-10" dirty="0">
                <a:latin typeface="Trebuchet MS"/>
                <a:cs typeface="Trebuchet MS"/>
              </a:rPr>
              <a:t>rollbacks.</a:t>
            </a:r>
            <a:endParaRPr sz="1450">
              <a:latin typeface="Trebuchet MS"/>
              <a:cs typeface="Trebuchet MS"/>
            </a:endParaRPr>
          </a:p>
        </p:txBody>
      </p:sp>
      <p:sp>
        <p:nvSpPr>
          <p:cNvPr id="13" name="object 10">
            <a:extLst>
              <a:ext uri="{FF2B5EF4-FFF2-40B4-BE49-F238E27FC236}">
                <a16:creationId xmlns:a16="http://schemas.microsoft.com/office/drawing/2014/main" id="{B4E828AD-1F1C-B69C-EB87-31DA17DA89FC}"/>
              </a:ext>
            </a:extLst>
          </p:cNvPr>
          <p:cNvSpPr/>
          <p:nvPr/>
        </p:nvSpPr>
        <p:spPr>
          <a:xfrm>
            <a:off x="657224" y="4839334"/>
            <a:ext cx="930910" cy="1225550"/>
          </a:xfrm>
          <a:custGeom>
            <a:avLst/>
            <a:gdLst/>
            <a:ahLst/>
            <a:cxnLst/>
            <a:rect l="l" t="t" r="r" b="b"/>
            <a:pathLst>
              <a:path w="930910" h="1377950">
                <a:moveTo>
                  <a:pt x="465174" y="1377701"/>
                </a:moveTo>
                <a:lnTo>
                  <a:pt x="0" y="1191631"/>
                </a:lnTo>
                <a:lnTo>
                  <a:pt x="0" y="0"/>
                </a:lnTo>
                <a:lnTo>
                  <a:pt x="465174" y="186069"/>
                </a:lnTo>
                <a:lnTo>
                  <a:pt x="930349" y="0"/>
                </a:lnTo>
                <a:lnTo>
                  <a:pt x="930349" y="1191631"/>
                </a:lnTo>
                <a:lnTo>
                  <a:pt x="465174" y="1377701"/>
                </a:lnTo>
                <a:close/>
              </a:path>
            </a:pathLst>
          </a:custGeom>
          <a:solidFill>
            <a:srgbClr val="F1EDED"/>
          </a:solidFill>
        </p:spPr>
        <p:txBody>
          <a:bodyPr wrap="square" lIns="0" tIns="0" rIns="0" bIns="0" rtlCol="0"/>
          <a:lstStyle>
            <a:defPPr>
              <a:defRPr kern="0"/>
            </a:defPPr>
          </a:lstStyle>
          <a:p>
            <a:endParaRPr/>
          </a:p>
        </p:txBody>
      </p:sp>
      <p:sp>
        <p:nvSpPr>
          <p:cNvPr id="14" name="object 11">
            <a:extLst>
              <a:ext uri="{FF2B5EF4-FFF2-40B4-BE49-F238E27FC236}">
                <a16:creationId xmlns:a16="http://schemas.microsoft.com/office/drawing/2014/main" id="{39E4A684-4475-0504-3C80-F76853D81EC7}"/>
              </a:ext>
            </a:extLst>
          </p:cNvPr>
          <p:cNvSpPr txBox="1"/>
          <p:nvPr/>
        </p:nvSpPr>
        <p:spPr>
          <a:xfrm>
            <a:off x="1039366" y="5327967"/>
            <a:ext cx="174625" cy="360680"/>
          </a:xfrm>
          <a:prstGeom prst="rect">
            <a:avLst/>
          </a:prstGeom>
        </p:spPr>
        <p:txBody>
          <a:bodyPr vert="horz" wrap="square" lIns="0" tIns="12065" rIns="0" bIns="0" rtlCol="0">
            <a:spAutoFit/>
          </a:bodyPr>
          <a:lstStyle>
            <a:defPPr>
              <a:defRPr kern="0"/>
            </a:defPPr>
          </a:lstStyle>
          <a:p>
            <a:pPr marL="12700">
              <a:lnSpc>
                <a:spcPct val="100000"/>
              </a:lnSpc>
              <a:spcBef>
                <a:spcPts val="95"/>
              </a:spcBef>
            </a:pPr>
            <a:r>
              <a:rPr sz="2200" spc="-50" dirty="0">
                <a:solidFill>
                  <a:srgbClr val="373737"/>
                </a:solidFill>
                <a:latin typeface="Georgia"/>
                <a:cs typeface="Georgia"/>
              </a:rPr>
              <a:t>3</a:t>
            </a:r>
            <a:endParaRPr sz="2200">
              <a:latin typeface="Georgia"/>
              <a:cs typeface="Georgia"/>
            </a:endParaRPr>
          </a:p>
        </p:txBody>
      </p:sp>
      <p:sp>
        <p:nvSpPr>
          <p:cNvPr id="15" name="object 12">
            <a:extLst>
              <a:ext uri="{FF2B5EF4-FFF2-40B4-BE49-F238E27FC236}">
                <a16:creationId xmlns:a16="http://schemas.microsoft.com/office/drawing/2014/main" id="{0C6B096F-E30A-1820-C8A2-9EDD9D483E76}"/>
              </a:ext>
            </a:extLst>
          </p:cNvPr>
          <p:cNvSpPr txBox="1"/>
          <p:nvPr/>
        </p:nvSpPr>
        <p:spPr>
          <a:xfrm>
            <a:off x="1711424" y="4929854"/>
            <a:ext cx="9504680" cy="983615"/>
          </a:xfrm>
          <a:prstGeom prst="rect">
            <a:avLst/>
          </a:prstGeom>
        </p:spPr>
        <p:txBody>
          <a:bodyPr vert="horz" wrap="square" lIns="0" tIns="15240" rIns="0" bIns="0" rtlCol="0" anchor="t">
            <a:spAutoFit/>
          </a:bodyPr>
          <a:lstStyle>
            <a:defPPr>
              <a:defRPr kern="0"/>
            </a:defPPr>
          </a:lstStyle>
          <a:p>
            <a:pPr marL="12700">
              <a:lnSpc>
                <a:spcPct val="100000"/>
              </a:lnSpc>
              <a:spcBef>
                <a:spcPts val="120"/>
              </a:spcBef>
            </a:pPr>
            <a:r>
              <a:rPr sz="1900" dirty="0">
                <a:latin typeface="Georgia"/>
                <a:cs typeface="Georgia"/>
              </a:rPr>
              <a:t>Granular</a:t>
            </a:r>
            <a:r>
              <a:rPr sz="1900" spc="-70" dirty="0">
                <a:latin typeface="Georgia"/>
                <a:cs typeface="Georgia"/>
              </a:rPr>
              <a:t> </a:t>
            </a:r>
            <a:r>
              <a:rPr sz="1900" dirty="0">
                <a:latin typeface="Georgia"/>
                <a:cs typeface="Georgia"/>
              </a:rPr>
              <a:t>Rollback</a:t>
            </a:r>
            <a:r>
              <a:rPr sz="1900" spc="-65" dirty="0">
                <a:latin typeface="Georgia"/>
                <a:cs typeface="Georgia"/>
              </a:rPr>
              <a:t> </a:t>
            </a:r>
            <a:r>
              <a:rPr sz="1900" spc="310" dirty="0">
                <a:latin typeface="Georgia"/>
                <a:cs typeface="Georgia"/>
              </a:rPr>
              <a:t>&amp;</a:t>
            </a:r>
            <a:r>
              <a:rPr sz="1900" spc="-70" dirty="0">
                <a:latin typeface="Georgia"/>
                <a:cs typeface="Georgia"/>
              </a:rPr>
              <a:t> </a:t>
            </a:r>
            <a:r>
              <a:rPr sz="1900" spc="-10" dirty="0">
                <a:latin typeface="Georgia"/>
                <a:cs typeface="Georgia"/>
              </a:rPr>
              <a:t>Exclusion</a:t>
            </a:r>
            <a:endParaRPr lang="en-US" sz="1900">
              <a:latin typeface="Georgia"/>
              <a:cs typeface="Georgia"/>
            </a:endParaRPr>
          </a:p>
          <a:p>
            <a:pPr marL="12700" marR="5080">
              <a:lnSpc>
                <a:spcPct val="133600"/>
              </a:lnSpc>
              <a:spcBef>
                <a:spcPts val="585"/>
              </a:spcBef>
            </a:pPr>
            <a:r>
              <a:rPr sz="1450" spc="-30" dirty="0">
                <a:latin typeface="Trebuchet MS"/>
                <a:cs typeface="Trebuchet MS"/>
              </a:rPr>
              <a:t>Utilize</a:t>
            </a:r>
            <a:r>
              <a:rPr sz="1450" spc="55" dirty="0">
                <a:latin typeface="Trebuchet MS"/>
                <a:cs typeface="Trebuchet MS"/>
              </a:rPr>
              <a:t> </a:t>
            </a:r>
            <a:r>
              <a:rPr sz="1450" dirty="0">
                <a:latin typeface="Trebuchet MS"/>
                <a:cs typeface="Trebuchet MS"/>
              </a:rPr>
              <a:t>the</a:t>
            </a:r>
            <a:r>
              <a:rPr sz="1450" spc="55" dirty="0">
                <a:latin typeface="Trebuchet MS"/>
                <a:cs typeface="Trebuchet MS"/>
              </a:rPr>
              <a:t> </a:t>
            </a:r>
            <a:r>
              <a:rPr sz="1450" dirty="0">
                <a:latin typeface="Trebuchet MS"/>
                <a:cs typeface="Trebuchet MS"/>
              </a:rPr>
              <a:t>ability</a:t>
            </a:r>
            <a:r>
              <a:rPr sz="1450" spc="55" dirty="0">
                <a:latin typeface="Trebuchet MS"/>
                <a:cs typeface="Trebuchet MS"/>
              </a:rPr>
              <a:t> </a:t>
            </a:r>
            <a:r>
              <a:rPr sz="1450" dirty="0">
                <a:latin typeface="Trebuchet MS"/>
                <a:cs typeface="Trebuchet MS"/>
              </a:rPr>
              <a:t>to</a:t>
            </a:r>
            <a:r>
              <a:rPr sz="1450" spc="55" dirty="0">
                <a:latin typeface="Trebuchet MS"/>
                <a:cs typeface="Trebuchet MS"/>
              </a:rPr>
              <a:t> </a:t>
            </a:r>
            <a:r>
              <a:rPr sz="1450" dirty="0">
                <a:latin typeface="Trebuchet MS"/>
                <a:cs typeface="Trebuchet MS"/>
              </a:rPr>
              <a:t>selectively</a:t>
            </a:r>
            <a:r>
              <a:rPr sz="1450" spc="55" dirty="0">
                <a:latin typeface="Trebuchet MS"/>
                <a:cs typeface="Trebuchet MS"/>
              </a:rPr>
              <a:t> </a:t>
            </a:r>
            <a:r>
              <a:rPr sz="1450" dirty="0">
                <a:latin typeface="Trebuchet MS"/>
                <a:cs typeface="Trebuchet MS"/>
              </a:rPr>
              <a:t>uninstall</a:t>
            </a:r>
            <a:r>
              <a:rPr sz="1450" spc="55" dirty="0">
                <a:latin typeface="Trebuchet MS"/>
                <a:cs typeface="Trebuchet MS"/>
              </a:rPr>
              <a:t> </a:t>
            </a:r>
            <a:r>
              <a:rPr sz="1450" dirty="0">
                <a:latin typeface="Trebuchet MS"/>
                <a:cs typeface="Trebuchet MS"/>
              </a:rPr>
              <a:t>problematic</a:t>
            </a:r>
            <a:r>
              <a:rPr sz="1450" spc="55" dirty="0">
                <a:latin typeface="Trebuchet MS"/>
                <a:cs typeface="Trebuchet MS"/>
              </a:rPr>
              <a:t> updates </a:t>
            </a:r>
            <a:r>
              <a:rPr sz="1450" dirty="0">
                <a:latin typeface="Trebuchet MS"/>
                <a:cs typeface="Trebuchet MS"/>
              </a:rPr>
              <a:t>or</a:t>
            </a:r>
            <a:r>
              <a:rPr sz="1450" spc="55" dirty="0">
                <a:latin typeface="Trebuchet MS"/>
                <a:cs typeface="Trebuchet MS"/>
              </a:rPr>
              <a:t> </a:t>
            </a:r>
            <a:r>
              <a:rPr sz="1450" dirty="0">
                <a:latin typeface="Trebuchet MS"/>
                <a:cs typeface="Trebuchet MS"/>
              </a:rPr>
              <a:t>exclude</a:t>
            </a:r>
            <a:r>
              <a:rPr sz="1450" spc="55" dirty="0">
                <a:latin typeface="Trebuchet MS"/>
                <a:cs typeface="Trebuchet MS"/>
              </a:rPr>
              <a:t> </a:t>
            </a:r>
            <a:r>
              <a:rPr sz="1450" dirty="0">
                <a:latin typeface="Trebuchet MS"/>
                <a:cs typeface="Trebuchet MS"/>
              </a:rPr>
              <a:t>specific</a:t>
            </a:r>
            <a:r>
              <a:rPr sz="1450" spc="55" dirty="0">
                <a:latin typeface="Trebuchet MS"/>
                <a:cs typeface="Trebuchet MS"/>
              </a:rPr>
              <a:t> </a:t>
            </a:r>
            <a:r>
              <a:rPr sz="1450" dirty="0">
                <a:latin typeface="Trebuchet MS"/>
                <a:cs typeface="Trebuchet MS"/>
              </a:rPr>
              <a:t>Knowledge</a:t>
            </a:r>
            <a:r>
              <a:rPr sz="1450" spc="55" dirty="0">
                <a:latin typeface="Trebuchet MS"/>
                <a:cs typeface="Trebuchet MS"/>
              </a:rPr>
              <a:t> </a:t>
            </a:r>
            <a:r>
              <a:rPr sz="1450" spc="60" dirty="0">
                <a:latin typeface="Trebuchet MS"/>
                <a:cs typeface="Trebuchet MS"/>
              </a:rPr>
              <a:t>Base</a:t>
            </a:r>
            <a:r>
              <a:rPr sz="1450" spc="55" dirty="0">
                <a:latin typeface="Trebuchet MS"/>
                <a:cs typeface="Trebuchet MS"/>
              </a:rPr>
              <a:t> </a:t>
            </a:r>
            <a:r>
              <a:rPr sz="1450" dirty="0">
                <a:latin typeface="Trebuchet MS"/>
                <a:cs typeface="Trebuchet MS"/>
              </a:rPr>
              <a:t>articles</a:t>
            </a:r>
            <a:r>
              <a:rPr sz="1450" spc="55" dirty="0">
                <a:latin typeface="Trebuchet MS"/>
                <a:cs typeface="Trebuchet MS"/>
              </a:rPr>
              <a:t> </a:t>
            </a:r>
            <a:r>
              <a:rPr sz="1450" spc="-20" dirty="0">
                <a:latin typeface="Trebuchet MS"/>
                <a:cs typeface="Trebuchet MS"/>
              </a:rPr>
              <a:t>from </a:t>
            </a:r>
            <a:r>
              <a:rPr sz="1450" dirty="0">
                <a:latin typeface="Trebuchet MS"/>
                <a:cs typeface="Trebuchet MS"/>
              </a:rPr>
              <a:t>future</a:t>
            </a:r>
            <a:r>
              <a:rPr sz="1450" spc="-40" dirty="0">
                <a:latin typeface="Trebuchet MS"/>
                <a:cs typeface="Trebuchet MS"/>
              </a:rPr>
              <a:t> </a:t>
            </a:r>
            <a:r>
              <a:rPr sz="1450" spc="-10" dirty="0">
                <a:latin typeface="Trebuchet MS"/>
                <a:cs typeface="Trebuchet MS"/>
              </a:rPr>
              <a:t>deployments.</a:t>
            </a:r>
            <a:endParaRPr sz="1450">
              <a:latin typeface="Trebuchet MS"/>
              <a:cs typeface="Trebuchet MS"/>
            </a:endParaRPr>
          </a:p>
        </p:txBody>
      </p:sp>
    </p:spTree>
    <p:extLst>
      <p:ext uri="{BB962C8B-B14F-4D97-AF65-F5344CB8AC3E}">
        <p14:creationId xmlns:p14="http://schemas.microsoft.com/office/powerpoint/2010/main" val="3839815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AEC0ED0-0AC8-C248-ED1B-57499FBB78C1}"/>
              </a:ext>
            </a:extLst>
          </p:cNvPr>
          <p:cNvSpPr/>
          <p:nvPr/>
        </p:nvSpPr>
        <p:spPr>
          <a:xfrm>
            <a:off x="544701" y="2052902"/>
            <a:ext cx="11101098" cy="390040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522BF51-4CA7-7521-BD51-999C89820A17}"/>
              </a:ext>
            </a:extLst>
          </p:cNvPr>
          <p:cNvSpPr>
            <a:spLocks noGrp="1"/>
          </p:cNvSpPr>
          <p:nvPr>
            <p:ph type="dt" sz="half" idx="10"/>
          </p:nvPr>
        </p:nvSpPr>
        <p:spPr/>
        <p:txBody>
          <a:bodyPr/>
          <a:lstStyle/>
          <a:p>
            <a:fld id="{0E4FFF37-8200-4C98-8C54-1EEF3683044C}" type="datetime1">
              <a:t>9/23/2026</a:t>
            </a:fld>
            <a:endParaRPr lang="en-US" dirty="0"/>
          </a:p>
        </p:txBody>
      </p:sp>
      <p:sp>
        <p:nvSpPr>
          <p:cNvPr id="3" name="Footer Placeholder 2">
            <a:extLst>
              <a:ext uri="{FF2B5EF4-FFF2-40B4-BE49-F238E27FC236}">
                <a16:creationId xmlns:a16="http://schemas.microsoft.com/office/drawing/2014/main" id="{015D222E-841A-70D0-4612-C19364004445}"/>
              </a:ext>
            </a:extLst>
          </p:cNvPr>
          <p:cNvSpPr>
            <a:spLocks noGrp="1"/>
          </p:cNvSpPr>
          <p:nvPr>
            <p:ph type="ftr" sz="quarter" idx="11"/>
          </p:nvPr>
        </p:nvSpPr>
        <p:spPr/>
        <p:txBody>
          <a:bodyPr/>
          <a:lstStyle/>
          <a:p>
            <a:r>
              <a:rPr lang="en-US" dirty="0"/>
              <a:t>
              </a:t>
            </a:r>
          </a:p>
        </p:txBody>
      </p:sp>
      <p:sp>
        <p:nvSpPr>
          <p:cNvPr id="5" name="object 2" descr="$PPTXTitle">
            <a:extLst>
              <a:ext uri="{FF2B5EF4-FFF2-40B4-BE49-F238E27FC236}">
                <a16:creationId xmlns:a16="http://schemas.microsoft.com/office/drawing/2014/main" id="{FF0DEF6F-4189-F9CF-F614-7B8C7FE1E279}"/>
              </a:ext>
            </a:extLst>
          </p:cNvPr>
          <p:cNvSpPr txBox="1">
            <a:spLocks noGrp="1"/>
          </p:cNvSpPr>
          <p:nvPr/>
        </p:nvSpPr>
        <p:spPr>
          <a:xfrm>
            <a:off x="648840" y="1205642"/>
            <a:ext cx="9671050" cy="621030"/>
          </a:xfrm>
          <a:prstGeom prst="rect">
            <a:avLst/>
          </a:prstGeom>
        </p:spPr>
        <p:txBody>
          <a:bodyPr vert="horz" wrap="square" lIns="0" tIns="13335" rIns="0" bIns="0" rtlCol="0" anchor="t">
            <a:spAutoFit/>
          </a:bodyPr>
          <a:lstStyle>
            <a:lvl1pPr>
              <a:defRPr sz="3900" b="0" i="0">
                <a:solidFill>
                  <a:srgbClr val="010101"/>
                </a:solidFill>
                <a:latin typeface="Georgia"/>
                <a:ea typeface="+mj-ea"/>
                <a:cs typeface="Georgia"/>
              </a:defRPr>
            </a:lvl1pPr>
          </a:lstStyle>
          <a:p>
            <a:pPr marL="12700">
              <a:lnSpc>
                <a:spcPct val="100000"/>
              </a:lnSpc>
              <a:spcBef>
                <a:spcPts val="105"/>
              </a:spcBef>
            </a:pPr>
            <a:r>
              <a:rPr dirty="0">
                <a:solidFill>
                  <a:schemeClr val="tx1"/>
                </a:solidFill>
              </a:rPr>
              <a:t>Monitoring</a:t>
            </a:r>
            <a:r>
              <a:rPr spc="60" dirty="0">
                <a:solidFill>
                  <a:schemeClr val="tx1"/>
                </a:solidFill>
              </a:rPr>
              <a:t> </a:t>
            </a:r>
            <a:r>
              <a:rPr spc="610" dirty="0">
                <a:solidFill>
                  <a:schemeClr val="tx1"/>
                </a:solidFill>
              </a:rPr>
              <a:t>&amp;</a:t>
            </a:r>
            <a:r>
              <a:rPr spc="-15" dirty="0">
                <a:solidFill>
                  <a:schemeClr val="tx1"/>
                </a:solidFill>
              </a:rPr>
              <a:t> </a:t>
            </a:r>
            <a:r>
              <a:rPr dirty="0">
                <a:solidFill>
                  <a:schemeClr val="tx1"/>
                </a:solidFill>
              </a:rPr>
              <a:t>Alerting:</a:t>
            </a:r>
            <a:r>
              <a:rPr spc="65" dirty="0">
                <a:solidFill>
                  <a:schemeClr val="tx1"/>
                </a:solidFill>
              </a:rPr>
              <a:t> </a:t>
            </a:r>
            <a:r>
              <a:rPr spc="-65" dirty="0">
                <a:solidFill>
                  <a:schemeClr val="tx1"/>
                </a:solidFill>
              </a:rPr>
              <a:t>Real-</a:t>
            </a:r>
            <a:r>
              <a:rPr dirty="0">
                <a:solidFill>
                  <a:schemeClr val="tx1"/>
                </a:solidFill>
              </a:rPr>
              <a:t>Time</a:t>
            </a:r>
            <a:r>
              <a:rPr spc="-60" dirty="0">
                <a:solidFill>
                  <a:schemeClr val="tx1"/>
                </a:solidFill>
              </a:rPr>
              <a:t> </a:t>
            </a:r>
            <a:r>
              <a:rPr spc="-10" dirty="0">
                <a:solidFill>
                  <a:schemeClr val="tx1"/>
                </a:solidFill>
              </a:rPr>
              <a:t>Visibility</a:t>
            </a:r>
            <a:endParaRPr lang="en-US" spc="-10" dirty="0">
              <a:solidFill>
                <a:schemeClr val="tx1"/>
              </a:solidFill>
            </a:endParaRPr>
          </a:p>
        </p:txBody>
      </p:sp>
      <p:sp>
        <p:nvSpPr>
          <p:cNvPr id="6" name="object 3">
            <a:extLst>
              <a:ext uri="{FF2B5EF4-FFF2-40B4-BE49-F238E27FC236}">
                <a16:creationId xmlns:a16="http://schemas.microsoft.com/office/drawing/2014/main" id="{DAC2710A-D72D-ECD0-85AA-D180BA1BF4BC}"/>
              </a:ext>
            </a:extLst>
          </p:cNvPr>
          <p:cNvSpPr txBox="1"/>
          <p:nvPr/>
        </p:nvSpPr>
        <p:spPr>
          <a:xfrm>
            <a:off x="648840" y="2053920"/>
            <a:ext cx="10756265" cy="593111"/>
          </a:xfrm>
          <a:prstGeom prst="rect">
            <a:avLst/>
          </a:prstGeom>
        </p:spPr>
        <p:txBody>
          <a:bodyPr vert="horz" wrap="square" lIns="0" tIns="11430" rIns="0" bIns="0" rtlCol="0" anchor="t">
            <a:spAutoFit/>
          </a:bodyPr>
          <a:lstStyle>
            <a:defPPr>
              <a:defRPr kern="0"/>
            </a:defPPr>
          </a:lstStyle>
          <a:p>
            <a:pPr marL="12700" marR="5080">
              <a:lnSpc>
                <a:spcPct val="137900"/>
              </a:lnSpc>
              <a:spcBef>
                <a:spcPts val="90"/>
              </a:spcBef>
            </a:pPr>
            <a:r>
              <a:rPr sz="1450" dirty="0">
                <a:latin typeface="Trebuchet MS"/>
                <a:cs typeface="Trebuchet MS"/>
              </a:rPr>
              <a:t>Gain</a:t>
            </a:r>
            <a:r>
              <a:rPr sz="1450" spc="100" dirty="0">
                <a:latin typeface="Trebuchet MS"/>
                <a:cs typeface="Trebuchet MS"/>
              </a:rPr>
              <a:t> </a:t>
            </a:r>
            <a:r>
              <a:rPr sz="1450" dirty="0">
                <a:latin typeface="Trebuchet MS"/>
                <a:cs typeface="Trebuchet MS"/>
              </a:rPr>
              <a:t>instant,</a:t>
            </a:r>
            <a:r>
              <a:rPr sz="1450" spc="100" dirty="0">
                <a:latin typeface="Trebuchet MS"/>
                <a:cs typeface="Trebuchet MS"/>
              </a:rPr>
              <a:t> </a:t>
            </a:r>
            <a:r>
              <a:rPr sz="1450" dirty="0">
                <a:latin typeface="Trebuchet MS"/>
                <a:cs typeface="Trebuchet MS"/>
              </a:rPr>
              <a:t>actionable</a:t>
            </a:r>
            <a:r>
              <a:rPr sz="1450" spc="100" dirty="0">
                <a:latin typeface="Trebuchet MS"/>
                <a:cs typeface="Trebuchet MS"/>
              </a:rPr>
              <a:t> </a:t>
            </a:r>
            <a:r>
              <a:rPr sz="1450" dirty="0">
                <a:latin typeface="Trebuchet MS"/>
                <a:cs typeface="Trebuchet MS"/>
              </a:rPr>
              <a:t>insight</a:t>
            </a:r>
            <a:r>
              <a:rPr sz="1450" spc="105" dirty="0">
                <a:latin typeface="Trebuchet MS"/>
                <a:cs typeface="Trebuchet MS"/>
              </a:rPr>
              <a:t> </a:t>
            </a:r>
            <a:r>
              <a:rPr sz="1450" dirty="0">
                <a:latin typeface="Trebuchet MS"/>
                <a:cs typeface="Trebuchet MS"/>
              </a:rPr>
              <a:t>into</a:t>
            </a:r>
            <a:r>
              <a:rPr sz="1450" spc="100" dirty="0">
                <a:latin typeface="Trebuchet MS"/>
                <a:cs typeface="Trebuchet MS"/>
              </a:rPr>
              <a:t> </a:t>
            </a:r>
            <a:r>
              <a:rPr sz="1450" dirty="0">
                <a:latin typeface="Trebuchet MS"/>
                <a:cs typeface="Trebuchet MS"/>
              </a:rPr>
              <a:t>your</a:t>
            </a:r>
            <a:r>
              <a:rPr sz="1450" spc="100" dirty="0">
                <a:latin typeface="Trebuchet MS"/>
                <a:cs typeface="Trebuchet MS"/>
              </a:rPr>
              <a:t> </a:t>
            </a:r>
            <a:r>
              <a:rPr sz="1450" spc="45" dirty="0">
                <a:latin typeface="Trebuchet MS"/>
                <a:cs typeface="Trebuchet MS"/>
              </a:rPr>
              <a:t>patching</a:t>
            </a:r>
            <a:r>
              <a:rPr sz="1450" spc="105" dirty="0">
                <a:latin typeface="Trebuchet MS"/>
                <a:cs typeface="Trebuchet MS"/>
              </a:rPr>
              <a:t> </a:t>
            </a:r>
            <a:r>
              <a:rPr sz="1450" spc="50" dirty="0">
                <a:latin typeface="Trebuchet MS"/>
                <a:cs typeface="Trebuchet MS"/>
              </a:rPr>
              <a:t>operations</a:t>
            </a:r>
            <a:r>
              <a:rPr sz="1450" spc="100" dirty="0">
                <a:latin typeface="Trebuchet MS"/>
                <a:cs typeface="Trebuchet MS"/>
              </a:rPr>
              <a:t> </a:t>
            </a:r>
            <a:r>
              <a:rPr sz="1450" dirty="0">
                <a:latin typeface="Trebuchet MS"/>
                <a:cs typeface="Trebuchet MS"/>
              </a:rPr>
              <a:t>with</a:t>
            </a:r>
            <a:r>
              <a:rPr sz="1450" spc="100" dirty="0">
                <a:latin typeface="Trebuchet MS"/>
                <a:cs typeface="Trebuchet MS"/>
              </a:rPr>
              <a:t> </a:t>
            </a:r>
            <a:r>
              <a:rPr sz="1450" dirty="0">
                <a:latin typeface="Trebuchet MS"/>
                <a:cs typeface="Trebuchet MS"/>
              </a:rPr>
              <a:t>integrated</a:t>
            </a:r>
            <a:r>
              <a:rPr sz="1450" spc="105" dirty="0">
                <a:latin typeface="Trebuchet MS"/>
                <a:cs typeface="Trebuchet MS"/>
              </a:rPr>
              <a:t> </a:t>
            </a:r>
            <a:r>
              <a:rPr sz="1450" dirty="0">
                <a:latin typeface="Trebuchet MS"/>
                <a:cs typeface="Trebuchet MS"/>
              </a:rPr>
              <a:t>monitoring</a:t>
            </a:r>
            <a:r>
              <a:rPr sz="1450" spc="100" dirty="0">
                <a:latin typeface="Trebuchet MS"/>
                <a:cs typeface="Trebuchet MS"/>
              </a:rPr>
              <a:t> </a:t>
            </a:r>
            <a:r>
              <a:rPr sz="1450" spc="70" dirty="0">
                <a:latin typeface="Trebuchet MS"/>
                <a:cs typeface="Trebuchet MS"/>
              </a:rPr>
              <a:t>and</a:t>
            </a:r>
            <a:r>
              <a:rPr sz="1450" spc="100" dirty="0">
                <a:latin typeface="Trebuchet MS"/>
                <a:cs typeface="Trebuchet MS"/>
              </a:rPr>
              <a:t> </a:t>
            </a:r>
            <a:r>
              <a:rPr sz="1450" dirty="0">
                <a:latin typeface="Trebuchet MS"/>
                <a:cs typeface="Trebuchet MS"/>
              </a:rPr>
              <a:t>proactive</a:t>
            </a:r>
            <a:r>
              <a:rPr sz="1450" spc="105" dirty="0">
                <a:latin typeface="Trebuchet MS"/>
                <a:cs typeface="Trebuchet MS"/>
              </a:rPr>
              <a:t> </a:t>
            </a:r>
            <a:r>
              <a:rPr sz="1450" dirty="0">
                <a:latin typeface="Trebuchet MS"/>
                <a:cs typeface="Trebuchet MS"/>
              </a:rPr>
              <a:t>alerting</a:t>
            </a:r>
            <a:r>
              <a:rPr sz="1450" spc="100" dirty="0">
                <a:latin typeface="Trebuchet MS"/>
                <a:cs typeface="Trebuchet MS"/>
              </a:rPr>
              <a:t> </a:t>
            </a:r>
            <a:r>
              <a:rPr sz="1450" spc="85" dirty="0">
                <a:latin typeface="Trebuchet MS"/>
                <a:cs typeface="Trebuchet MS"/>
              </a:rPr>
              <a:t>across</a:t>
            </a:r>
            <a:r>
              <a:rPr sz="1450" spc="100" dirty="0">
                <a:latin typeface="Trebuchet MS"/>
                <a:cs typeface="Trebuchet MS"/>
              </a:rPr>
              <a:t> </a:t>
            </a:r>
            <a:r>
              <a:rPr sz="1450" spc="-20" dirty="0">
                <a:latin typeface="Trebuchet MS"/>
                <a:cs typeface="Trebuchet MS"/>
              </a:rPr>
              <a:t>your </a:t>
            </a:r>
            <a:r>
              <a:rPr sz="1450" dirty="0">
                <a:latin typeface="Trebuchet MS"/>
                <a:cs typeface="Trebuchet MS"/>
              </a:rPr>
              <a:t>entire</a:t>
            </a:r>
            <a:r>
              <a:rPr sz="1450" spc="5" dirty="0">
                <a:latin typeface="Trebuchet MS"/>
                <a:cs typeface="Trebuchet MS"/>
              </a:rPr>
              <a:t> </a:t>
            </a:r>
            <a:r>
              <a:rPr sz="1450" spc="-10" dirty="0">
                <a:latin typeface="Trebuchet MS"/>
                <a:cs typeface="Trebuchet MS"/>
              </a:rPr>
              <a:t>fleet.</a:t>
            </a:r>
            <a:endParaRPr lang="en-US" sz="1450">
              <a:latin typeface="Trebuchet MS"/>
              <a:cs typeface="Trebuchet MS"/>
            </a:endParaRPr>
          </a:p>
        </p:txBody>
      </p:sp>
      <p:sp>
        <p:nvSpPr>
          <p:cNvPr id="7" name="object 7">
            <a:extLst>
              <a:ext uri="{FF2B5EF4-FFF2-40B4-BE49-F238E27FC236}">
                <a16:creationId xmlns:a16="http://schemas.microsoft.com/office/drawing/2014/main" id="{F53C223F-7F4C-5EE8-3B4A-05205791AACB}"/>
              </a:ext>
            </a:extLst>
          </p:cNvPr>
          <p:cNvSpPr txBox="1">
            <a:spLocks noGrp="1"/>
          </p:cNvSpPr>
          <p:nvPr/>
        </p:nvSpPr>
        <p:spPr>
          <a:xfrm>
            <a:off x="648840" y="3111119"/>
            <a:ext cx="5076825" cy="2416810"/>
          </a:xfrm>
          <a:prstGeom prst="rect">
            <a:avLst/>
          </a:prstGeom>
        </p:spPr>
        <p:txBody>
          <a:bodyPr vert="horz" wrap="square" lIns="0" tIns="12700" rIns="0" bIns="0" rtlCol="0" anchor="t">
            <a:spAutoFit/>
          </a:bodyPr>
          <a:lstStyle>
            <a:lvl1pPr marL="0">
              <a:defRPr sz="1950" b="0" i="0">
                <a:solidFill>
                  <a:srgbClr val="010101"/>
                </a:solidFill>
                <a:latin typeface="Georgia"/>
                <a:ea typeface="+mn-ea"/>
                <a:cs typeface="Georgi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lnSpc>
                <a:spcPct val="100000"/>
              </a:lnSpc>
              <a:spcBef>
                <a:spcPts val="100"/>
              </a:spcBef>
            </a:pPr>
            <a:r>
              <a:rPr spc="-40" dirty="0">
                <a:solidFill>
                  <a:schemeClr val="tx1"/>
                </a:solidFill>
              </a:rPr>
              <a:t>Real-</a:t>
            </a:r>
            <a:r>
              <a:rPr dirty="0">
                <a:solidFill>
                  <a:schemeClr val="tx1"/>
                </a:solidFill>
              </a:rPr>
              <a:t>Time</a:t>
            </a:r>
            <a:r>
              <a:rPr spc="-20" dirty="0">
                <a:solidFill>
                  <a:schemeClr val="tx1"/>
                </a:solidFill>
              </a:rPr>
              <a:t> </a:t>
            </a:r>
            <a:r>
              <a:rPr dirty="0">
                <a:solidFill>
                  <a:schemeClr val="tx1"/>
                </a:solidFill>
              </a:rPr>
              <a:t>Compliance</a:t>
            </a:r>
            <a:r>
              <a:rPr spc="-15" dirty="0">
                <a:solidFill>
                  <a:schemeClr val="tx1"/>
                </a:solidFill>
              </a:rPr>
              <a:t> </a:t>
            </a:r>
            <a:r>
              <a:rPr spc="-10" dirty="0">
                <a:solidFill>
                  <a:schemeClr val="tx1"/>
                </a:solidFill>
              </a:rPr>
              <a:t>Dashboards</a:t>
            </a:r>
            <a:endParaRPr lang="en-US" spc="-10" dirty="0">
              <a:solidFill>
                <a:schemeClr val="tx1"/>
              </a:solidFill>
            </a:endParaRPr>
          </a:p>
          <a:p>
            <a:pPr marL="600710" marR="386080" indent="-285750">
              <a:lnSpc>
                <a:spcPct val="137900"/>
              </a:lnSpc>
              <a:spcBef>
                <a:spcPts val="1175"/>
              </a:spcBef>
              <a:buFont typeface="Arial"/>
              <a:buChar char="•"/>
            </a:pPr>
            <a:r>
              <a:rPr sz="1450" dirty="0">
                <a:solidFill>
                  <a:schemeClr val="tx1"/>
                </a:solidFill>
                <a:latin typeface="Trebuchet MS"/>
                <a:cs typeface="Trebuchet MS"/>
              </a:rPr>
              <a:t>Centralized</a:t>
            </a:r>
            <a:r>
              <a:rPr sz="1450" spc="50" dirty="0">
                <a:solidFill>
                  <a:schemeClr val="tx1"/>
                </a:solidFill>
                <a:latin typeface="Trebuchet MS"/>
                <a:cs typeface="Trebuchet MS"/>
              </a:rPr>
              <a:t> </a:t>
            </a:r>
            <a:r>
              <a:rPr sz="1450" dirty="0">
                <a:solidFill>
                  <a:schemeClr val="tx1"/>
                </a:solidFill>
                <a:latin typeface="Trebuchet MS"/>
                <a:cs typeface="Trebuchet MS"/>
              </a:rPr>
              <a:t>view</a:t>
            </a:r>
            <a:r>
              <a:rPr sz="1450" spc="50" dirty="0">
                <a:solidFill>
                  <a:schemeClr val="tx1"/>
                </a:solidFill>
                <a:latin typeface="Trebuchet MS"/>
                <a:cs typeface="Trebuchet MS"/>
              </a:rPr>
              <a:t> </a:t>
            </a:r>
            <a:r>
              <a:rPr sz="1450" dirty="0">
                <a:solidFill>
                  <a:schemeClr val="tx1"/>
                </a:solidFill>
                <a:latin typeface="Trebuchet MS"/>
                <a:cs typeface="Trebuchet MS"/>
              </a:rPr>
              <a:t>of</a:t>
            </a:r>
            <a:r>
              <a:rPr sz="1450" spc="50" dirty="0">
                <a:solidFill>
                  <a:schemeClr val="tx1"/>
                </a:solidFill>
                <a:latin typeface="Trebuchet MS"/>
                <a:cs typeface="Trebuchet MS"/>
              </a:rPr>
              <a:t> </a:t>
            </a:r>
            <a:r>
              <a:rPr sz="1450" spc="60" dirty="0">
                <a:solidFill>
                  <a:schemeClr val="tx1"/>
                </a:solidFill>
                <a:latin typeface="Trebuchet MS"/>
                <a:cs typeface="Trebuchet MS"/>
              </a:rPr>
              <a:t>patch</a:t>
            </a:r>
            <a:r>
              <a:rPr sz="1450" spc="50" dirty="0">
                <a:solidFill>
                  <a:schemeClr val="tx1"/>
                </a:solidFill>
                <a:latin typeface="Trebuchet MS"/>
                <a:cs typeface="Trebuchet MS"/>
              </a:rPr>
              <a:t> </a:t>
            </a:r>
            <a:r>
              <a:rPr sz="1450" spc="60" dirty="0">
                <a:solidFill>
                  <a:schemeClr val="tx1"/>
                </a:solidFill>
                <a:latin typeface="Trebuchet MS"/>
                <a:cs typeface="Trebuchet MS"/>
              </a:rPr>
              <a:t>status</a:t>
            </a:r>
            <a:r>
              <a:rPr sz="1450" spc="50" dirty="0">
                <a:solidFill>
                  <a:schemeClr val="tx1"/>
                </a:solidFill>
                <a:latin typeface="Trebuchet MS"/>
                <a:cs typeface="Trebuchet MS"/>
              </a:rPr>
              <a:t> </a:t>
            </a:r>
            <a:r>
              <a:rPr sz="1450" spc="85" dirty="0">
                <a:solidFill>
                  <a:schemeClr val="tx1"/>
                </a:solidFill>
                <a:latin typeface="Trebuchet MS"/>
                <a:cs typeface="Trebuchet MS"/>
              </a:rPr>
              <a:t>across</a:t>
            </a:r>
            <a:r>
              <a:rPr sz="1450" spc="50" dirty="0">
                <a:solidFill>
                  <a:schemeClr val="tx1"/>
                </a:solidFill>
                <a:latin typeface="Trebuchet MS"/>
                <a:cs typeface="Trebuchet MS"/>
              </a:rPr>
              <a:t> </a:t>
            </a:r>
            <a:r>
              <a:rPr sz="1450" dirty="0">
                <a:solidFill>
                  <a:schemeClr val="tx1"/>
                </a:solidFill>
                <a:latin typeface="Trebuchet MS"/>
                <a:cs typeface="Trebuchet MS"/>
              </a:rPr>
              <a:t>Azure</a:t>
            </a:r>
            <a:r>
              <a:rPr sz="1450" spc="50" dirty="0">
                <a:solidFill>
                  <a:schemeClr val="tx1"/>
                </a:solidFill>
                <a:latin typeface="Trebuchet MS"/>
                <a:cs typeface="Trebuchet MS"/>
              </a:rPr>
              <a:t> </a:t>
            </a:r>
            <a:r>
              <a:rPr sz="1450" spc="45" dirty="0">
                <a:solidFill>
                  <a:schemeClr val="tx1"/>
                </a:solidFill>
                <a:latin typeface="Trebuchet MS"/>
                <a:cs typeface="Trebuchet MS"/>
              </a:rPr>
              <a:t>and </a:t>
            </a:r>
            <a:r>
              <a:rPr sz="1450" dirty="0">
                <a:solidFill>
                  <a:schemeClr val="tx1"/>
                </a:solidFill>
                <a:latin typeface="Trebuchet MS"/>
                <a:cs typeface="Trebuchet MS"/>
              </a:rPr>
              <a:t>hybrid</a:t>
            </a:r>
            <a:r>
              <a:rPr sz="1450" spc="235" dirty="0">
                <a:solidFill>
                  <a:schemeClr val="tx1"/>
                </a:solidFill>
                <a:latin typeface="Trebuchet MS"/>
                <a:cs typeface="Trebuchet MS"/>
              </a:rPr>
              <a:t> </a:t>
            </a:r>
            <a:r>
              <a:rPr sz="1450" spc="-10" dirty="0">
                <a:solidFill>
                  <a:schemeClr val="tx1"/>
                </a:solidFill>
                <a:latin typeface="Trebuchet MS"/>
                <a:cs typeface="Trebuchet MS"/>
              </a:rPr>
              <a:t>machines.</a:t>
            </a:r>
            <a:endParaRPr sz="1450">
              <a:solidFill>
                <a:schemeClr val="tx1"/>
              </a:solidFill>
              <a:latin typeface="Trebuchet MS"/>
              <a:cs typeface="Trebuchet MS"/>
            </a:endParaRPr>
          </a:p>
          <a:p>
            <a:pPr marL="600710" marR="5080" indent="-285750">
              <a:lnSpc>
                <a:spcPct val="137900"/>
              </a:lnSpc>
              <a:spcBef>
                <a:spcPts val="455"/>
              </a:spcBef>
              <a:buFont typeface="Arial"/>
              <a:buChar char="•"/>
            </a:pPr>
            <a:r>
              <a:rPr sz="1450" dirty="0">
                <a:solidFill>
                  <a:schemeClr val="tx1"/>
                </a:solidFill>
                <a:latin typeface="Trebuchet MS"/>
                <a:cs typeface="Trebuchet MS"/>
              </a:rPr>
              <a:t>Detailed</a:t>
            </a:r>
            <a:r>
              <a:rPr sz="1450" spc="10" dirty="0">
                <a:solidFill>
                  <a:schemeClr val="tx1"/>
                </a:solidFill>
                <a:latin typeface="Trebuchet MS"/>
                <a:cs typeface="Trebuchet MS"/>
              </a:rPr>
              <a:t> </a:t>
            </a:r>
            <a:r>
              <a:rPr sz="1450" spc="50" dirty="0">
                <a:solidFill>
                  <a:schemeClr val="tx1"/>
                </a:solidFill>
                <a:latin typeface="Trebuchet MS"/>
                <a:cs typeface="Trebuchet MS"/>
              </a:rPr>
              <a:t>insights</a:t>
            </a:r>
            <a:r>
              <a:rPr sz="1450" spc="10" dirty="0">
                <a:solidFill>
                  <a:schemeClr val="tx1"/>
                </a:solidFill>
                <a:latin typeface="Trebuchet MS"/>
                <a:cs typeface="Trebuchet MS"/>
              </a:rPr>
              <a:t> </a:t>
            </a:r>
            <a:r>
              <a:rPr sz="1450" dirty="0">
                <a:solidFill>
                  <a:schemeClr val="tx1"/>
                </a:solidFill>
                <a:latin typeface="Trebuchet MS"/>
                <a:cs typeface="Trebuchet MS"/>
              </a:rPr>
              <a:t>per</a:t>
            </a:r>
            <a:r>
              <a:rPr sz="1450" spc="10" dirty="0">
                <a:solidFill>
                  <a:schemeClr val="tx1"/>
                </a:solidFill>
                <a:latin typeface="Trebuchet MS"/>
                <a:cs typeface="Trebuchet MS"/>
              </a:rPr>
              <a:t> </a:t>
            </a:r>
            <a:r>
              <a:rPr sz="1450" spc="55" dirty="0">
                <a:solidFill>
                  <a:schemeClr val="tx1"/>
                </a:solidFill>
                <a:latin typeface="Trebuchet MS"/>
                <a:cs typeface="Trebuchet MS"/>
              </a:rPr>
              <a:t>machine</a:t>
            </a:r>
            <a:r>
              <a:rPr sz="1450" spc="10" dirty="0">
                <a:solidFill>
                  <a:schemeClr val="tx1"/>
                </a:solidFill>
                <a:latin typeface="Trebuchet MS"/>
                <a:cs typeface="Trebuchet MS"/>
              </a:rPr>
              <a:t> </a:t>
            </a:r>
            <a:r>
              <a:rPr sz="1450" dirty="0">
                <a:solidFill>
                  <a:schemeClr val="tx1"/>
                </a:solidFill>
                <a:latin typeface="Trebuchet MS"/>
                <a:cs typeface="Trebuchet MS"/>
              </a:rPr>
              <a:t>for</a:t>
            </a:r>
            <a:r>
              <a:rPr sz="1450" spc="15" dirty="0">
                <a:solidFill>
                  <a:schemeClr val="tx1"/>
                </a:solidFill>
                <a:latin typeface="Trebuchet MS"/>
                <a:cs typeface="Trebuchet MS"/>
              </a:rPr>
              <a:t> </a:t>
            </a:r>
            <a:r>
              <a:rPr sz="1450" spc="65" dirty="0">
                <a:solidFill>
                  <a:schemeClr val="tx1"/>
                </a:solidFill>
                <a:latin typeface="Trebuchet MS"/>
                <a:cs typeface="Trebuchet MS"/>
              </a:rPr>
              <a:t>missing</a:t>
            </a:r>
            <a:r>
              <a:rPr sz="1450" spc="10" dirty="0">
                <a:solidFill>
                  <a:schemeClr val="tx1"/>
                </a:solidFill>
                <a:latin typeface="Trebuchet MS"/>
                <a:cs typeface="Trebuchet MS"/>
              </a:rPr>
              <a:t> </a:t>
            </a:r>
            <a:r>
              <a:rPr sz="1450" spc="65" dirty="0">
                <a:solidFill>
                  <a:schemeClr val="tx1"/>
                </a:solidFill>
                <a:latin typeface="Trebuchet MS"/>
                <a:cs typeface="Trebuchet MS"/>
              </a:rPr>
              <a:t>updates</a:t>
            </a:r>
            <a:r>
              <a:rPr sz="1450" spc="10" dirty="0">
                <a:solidFill>
                  <a:schemeClr val="tx1"/>
                </a:solidFill>
                <a:latin typeface="Trebuchet MS"/>
                <a:cs typeface="Trebuchet MS"/>
              </a:rPr>
              <a:t> </a:t>
            </a:r>
            <a:r>
              <a:rPr sz="1450" spc="45" dirty="0">
                <a:solidFill>
                  <a:schemeClr val="tx1"/>
                </a:solidFill>
                <a:latin typeface="Trebuchet MS"/>
                <a:cs typeface="Trebuchet MS"/>
              </a:rPr>
              <a:t>and </a:t>
            </a:r>
            <a:r>
              <a:rPr sz="1450" dirty="0">
                <a:solidFill>
                  <a:schemeClr val="tx1"/>
                </a:solidFill>
                <a:latin typeface="Trebuchet MS"/>
                <a:cs typeface="Trebuchet MS"/>
              </a:rPr>
              <a:t>reboot</a:t>
            </a:r>
            <a:r>
              <a:rPr sz="1450" spc="229" dirty="0">
                <a:solidFill>
                  <a:schemeClr val="tx1"/>
                </a:solidFill>
                <a:latin typeface="Trebuchet MS"/>
                <a:cs typeface="Trebuchet MS"/>
              </a:rPr>
              <a:t> </a:t>
            </a:r>
            <a:r>
              <a:rPr sz="1450" spc="-10" dirty="0">
                <a:solidFill>
                  <a:schemeClr val="tx1"/>
                </a:solidFill>
                <a:latin typeface="Trebuchet MS"/>
                <a:cs typeface="Trebuchet MS"/>
              </a:rPr>
              <a:t>status.</a:t>
            </a:r>
            <a:endParaRPr sz="1450">
              <a:solidFill>
                <a:schemeClr val="tx1"/>
              </a:solidFill>
              <a:latin typeface="Trebuchet MS"/>
              <a:cs typeface="Trebuchet MS"/>
            </a:endParaRPr>
          </a:p>
          <a:p>
            <a:pPr marL="600710" marR="332105" indent="-285750">
              <a:lnSpc>
                <a:spcPct val="133600"/>
              </a:lnSpc>
              <a:spcBef>
                <a:spcPts val="600"/>
              </a:spcBef>
              <a:buFont typeface="Arial"/>
              <a:buChar char="•"/>
            </a:pPr>
            <a:r>
              <a:rPr sz="1450" spc="70" dirty="0">
                <a:solidFill>
                  <a:schemeClr val="tx1"/>
                </a:solidFill>
                <a:latin typeface="Trebuchet MS"/>
                <a:cs typeface="Trebuchet MS"/>
              </a:rPr>
              <a:t>Dynamic</a:t>
            </a:r>
            <a:r>
              <a:rPr sz="1450" spc="5" dirty="0">
                <a:solidFill>
                  <a:schemeClr val="tx1"/>
                </a:solidFill>
                <a:latin typeface="Trebuchet MS"/>
                <a:cs typeface="Trebuchet MS"/>
              </a:rPr>
              <a:t> </a:t>
            </a:r>
            <a:r>
              <a:rPr sz="1450" dirty="0">
                <a:solidFill>
                  <a:schemeClr val="tx1"/>
                </a:solidFill>
                <a:latin typeface="Trebuchet MS"/>
                <a:cs typeface="Trebuchet MS"/>
              </a:rPr>
              <a:t>fleet</a:t>
            </a:r>
            <a:r>
              <a:rPr sz="1450" spc="5" dirty="0">
                <a:solidFill>
                  <a:schemeClr val="tx1"/>
                </a:solidFill>
                <a:latin typeface="Trebuchet MS"/>
                <a:cs typeface="Trebuchet MS"/>
              </a:rPr>
              <a:t> </a:t>
            </a:r>
            <a:r>
              <a:rPr sz="1450" dirty="0">
                <a:solidFill>
                  <a:schemeClr val="tx1"/>
                </a:solidFill>
                <a:latin typeface="Trebuchet MS"/>
                <a:cs typeface="Trebuchet MS"/>
              </a:rPr>
              <a:t>health</a:t>
            </a:r>
            <a:r>
              <a:rPr sz="1450" spc="10" dirty="0">
                <a:solidFill>
                  <a:schemeClr val="tx1"/>
                </a:solidFill>
                <a:latin typeface="Trebuchet MS"/>
                <a:cs typeface="Trebuchet MS"/>
              </a:rPr>
              <a:t> </a:t>
            </a:r>
            <a:r>
              <a:rPr sz="1450" spc="45" dirty="0">
                <a:solidFill>
                  <a:schemeClr val="tx1"/>
                </a:solidFill>
                <a:latin typeface="Trebuchet MS"/>
                <a:cs typeface="Trebuchet MS"/>
              </a:rPr>
              <a:t>queries</a:t>
            </a:r>
            <a:r>
              <a:rPr sz="1450" spc="5" dirty="0">
                <a:solidFill>
                  <a:schemeClr val="tx1"/>
                </a:solidFill>
                <a:latin typeface="Trebuchet MS"/>
                <a:cs typeface="Trebuchet MS"/>
              </a:rPr>
              <a:t> </a:t>
            </a:r>
            <a:r>
              <a:rPr sz="1450" spc="60" dirty="0">
                <a:solidFill>
                  <a:schemeClr val="tx1"/>
                </a:solidFill>
                <a:latin typeface="Trebuchet MS"/>
                <a:cs typeface="Trebuchet MS"/>
              </a:rPr>
              <a:t>using</a:t>
            </a:r>
            <a:r>
              <a:rPr sz="1450" spc="10" dirty="0">
                <a:solidFill>
                  <a:schemeClr val="tx1"/>
                </a:solidFill>
                <a:latin typeface="Trebuchet MS"/>
                <a:cs typeface="Trebuchet MS"/>
              </a:rPr>
              <a:t> </a:t>
            </a:r>
            <a:r>
              <a:rPr sz="1450" dirty="0">
                <a:solidFill>
                  <a:schemeClr val="tx1"/>
                </a:solidFill>
                <a:latin typeface="Trebuchet MS"/>
                <a:cs typeface="Trebuchet MS"/>
              </a:rPr>
              <a:t>Azure</a:t>
            </a:r>
            <a:r>
              <a:rPr sz="1450" spc="5" dirty="0">
                <a:solidFill>
                  <a:schemeClr val="tx1"/>
                </a:solidFill>
                <a:latin typeface="Trebuchet MS"/>
                <a:cs typeface="Trebuchet MS"/>
              </a:rPr>
              <a:t> </a:t>
            </a:r>
            <a:r>
              <a:rPr sz="1450" spc="45" dirty="0">
                <a:solidFill>
                  <a:schemeClr val="tx1"/>
                </a:solidFill>
                <a:latin typeface="Trebuchet MS"/>
                <a:cs typeface="Trebuchet MS"/>
              </a:rPr>
              <a:t>Resource </a:t>
            </a:r>
            <a:r>
              <a:rPr sz="1450" spc="-10" dirty="0">
                <a:solidFill>
                  <a:schemeClr val="tx1"/>
                </a:solidFill>
                <a:latin typeface="Trebuchet MS"/>
                <a:cs typeface="Trebuchet MS"/>
              </a:rPr>
              <a:t>Graph.</a:t>
            </a:r>
            <a:endParaRPr sz="1450">
              <a:solidFill>
                <a:schemeClr val="tx1"/>
              </a:solidFill>
              <a:latin typeface="Trebuchet MS"/>
              <a:cs typeface="Trebuchet MS"/>
            </a:endParaRPr>
          </a:p>
        </p:txBody>
      </p:sp>
      <p:pic>
        <p:nvPicPr>
          <p:cNvPr id="8" name="object 8">
            <a:extLst>
              <a:ext uri="{FF2B5EF4-FFF2-40B4-BE49-F238E27FC236}">
                <a16:creationId xmlns:a16="http://schemas.microsoft.com/office/drawing/2014/main" id="{BD3A96EB-6EE7-186B-0921-FCD388DE5A8C}"/>
              </a:ext>
            </a:extLst>
          </p:cNvPr>
          <p:cNvPicPr/>
          <p:nvPr/>
        </p:nvPicPr>
        <p:blipFill>
          <a:blip r:embed="rId2" cstate="print"/>
          <a:stretch>
            <a:fillRect/>
          </a:stretch>
        </p:blipFill>
        <p:spPr>
          <a:xfrm>
            <a:off x="6372223" y="3743324"/>
            <a:ext cx="66675" cy="66674"/>
          </a:xfrm>
          <a:prstGeom prst="rect">
            <a:avLst/>
          </a:prstGeom>
        </p:spPr>
      </p:pic>
      <p:pic>
        <p:nvPicPr>
          <p:cNvPr id="9" name="object 9">
            <a:extLst>
              <a:ext uri="{FF2B5EF4-FFF2-40B4-BE49-F238E27FC236}">
                <a16:creationId xmlns:a16="http://schemas.microsoft.com/office/drawing/2014/main" id="{251D1AE2-B685-1848-BA03-1D48110263E5}"/>
              </a:ext>
            </a:extLst>
          </p:cNvPr>
          <p:cNvPicPr/>
          <p:nvPr/>
        </p:nvPicPr>
        <p:blipFill>
          <a:blip r:embed="rId2" cstate="print"/>
          <a:stretch>
            <a:fillRect/>
          </a:stretch>
        </p:blipFill>
        <p:spPr>
          <a:xfrm>
            <a:off x="6372223" y="4410074"/>
            <a:ext cx="66675" cy="66674"/>
          </a:xfrm>
          <a:prstGeom prst="rect">
            <a:avLst/>
          </a:prstGeom>
        </p:spPr>
      </p:pic>
      <p:pic>
        <p:nvPicPr>
          <p:cNvPr id="10" name="object 10">
            <a:extLst>
              <a:ext uri="{FF2B5EF4-FFF2-40B4-BE49-F238E27FC236}">
                <a16:creationId xmlns:a16="http://schemas.microsoft.com/office/drawing/2014/main" id="{E635B56A-EDB2-C75E-D66A-7E4806BBF3D9}"/>
              </a:ext>
            </a:extLst>
          </p:cNvPr>
          <p:cNvPicPr/>
          <p:nvPr/>
        </p:nvPicPr>
        <p:blipFill>
          <a:blip r:embed="rId2" cstate="print"/>
          <a:stretch>
            <a:fillRect/>
          </a:stretch>
        </p:blipFill>
        <p:spPr>
          <a:xfrm>
            <a:off x="6372223" y="5086349"/>
            <a:ext cx="66675" cy="66674"/>
          </a:xfrm>
          <a:prstGeom prst="rect">
            <a:avLst/>
          </a:prstGeom>
        </p:spPr>
      </p:pic>
      <p:sp>
        <p:nvSpPr>
          <p:cNvPr id="11" name="object 11">
            <a:extLst>
              <a:ext uri="{FF2B5EF4-FFF2-40B4-BE49-F238E27FC236}">
                <a16:creationId xmlns:a16="http://schemas.microsoft.com/office/drawing/2014/main" id="{F34AE678-DC75-078E-7149-3931741F7A78}"/>
              </a:ext>
            </a:extLst>
          </p:cNvPr>
          <p:cNvSpPr txBox="1"/>
          <p:nvPr/>
        </p:nvSpPr>
        <p:spPr>
          <a:xfrm>
            <a:off x="6404639" y="3111119"/>
            <a:ext cx="4958715" cy="2416810"/>
          </a:xfrm>
          <a:prstGeom prst="rect">
            <a:avLst/>
          </a:prstGeom>
        </p:spPr>
        <p:txBody>
          <a:bodyPr vert="horz" wrap="square" lIns="0" tIns="12700" rIns="0" bIns="0" rtlCol="0" anchor="t">
            <a:spAutoFit/>
          </a:bodyPr>
          <a:lstStyle>
            <a:defPPr>
              <a:defRPr kern="0"/>
            </a:defPPr>
          </a:lstStyle>
          <a:p>
            <a:pPr marL="12700">
              <a:lnSpc>
                <a:spcPct val="100000"/>
              </a:lnSpc>
              <a:spcBef>
                <a:spcPts val="100"/>
              </a:spcBef>
            </a:pPr>
            <a:r>
              <a:rPr sz="1950" dirty="0">
                <a:latin typeface="Georgia"/>
                <a:cs typeface="Georgia"/>
              </a:rPr>
              <a:t>Proactive</a:t>
            </a:r>
            <a:r>
              <a:rPr sz="1950" spc="-40" dirty="0">
                <a:latin typeface="Georgia"/>
                <a:cs typeface="Georgia"/>
              </a:rPr>
              <a:t> </a:t>
            </a:r>
            <a:r>
              <a:rPr sz="1950" dirty="0">
                <a:latin typeface="Georgia"/>
                <a:cs typeface="Georgia"/>
              </a:rPr>
              <a:t>Anomaly</a:t>
            </a:r>
            <a:r>
              <a:rPr sz="1950" spc="-5" dirty="0">
                <a:latin typeface="Georgia"/>
                <a:cs typeface="Georgia"/>
              </a:rPr>
              <a:t> </a:t>
            </a:r>
            <a:r>
              <a:rPr sz="1950" spc="-10" dirty="0">
                <a:latin typeface="Georgia"/>
                <a:cs typeface="Georgia"/>
              </a:rPr>
              <a:t>Detection</a:t>
            </a:r>
            <a:endParaRPr lang="en-US" sz="1950">
              <a:latin typeface="Georgia"/>
              <a:cs typeface="Georgia"/>
            </a:endParaRPr>
          </a:p>
          <a:p>
            <a:pPr marL="600710" marR="673735" indent="-285750">
              <a:lnSpc>
                <a:spcPct val="137900"/>
              </a:lnSpc>
              <a:spcBef>
                <a:spcPts val="1175"/>
              </a:spcBef>
              <a:buFont typeface="Arial"/>
              <a:buChar char="•"/>
            </a:pPr>
            <a:r>
              <a:rPr sz="1450" dirty="0">
                <a:latin typeface="Trebuchet MS"/>
                <a:cs typeface="Trebuchet MS"/>
              </a:rPr>
              <a:t>Configurable alerts for </a:t>
            </a:r>
            <a:r>
              <a:rPr sz="1450" spc="45" dirty="0">
                <a:latin typeface="Trebuchet MS"/>
                <a:cs typeface="Trebuchet MS"/>
              </a:rPr>
              <a:t>patching </a:t>
            </a:r>
            <a:r>
              <a:rPr sz="1450" spc="-25" dirty="0">
                <a:latin typeface="Trebuchet MS"/>
                <a:cs typeface="Trebuchet MS"/>
              </a:rPr>
              <a:t>failures, </a:t>
            </a:r>
            <a:r>
              <a:rPr sz="1450" spc="95" dirty="0">
                <a:latin typeface="Trebuchet MS"/>
                <a:cs typeface="Trebuchet MS"/>
              </a:rPr>
              <a:t>non-</a:t>
            </a:r>
            <a:r>
              <a:rPr sz="1450" dirty="0">
                <a:latin typeface="Trebuchet MS"/>
                <a:cs typeface="Trebuchet MS"/>
              </a:rPr>
              <a:t>compliance,</a:t>
            </a:r>
            <a:r>
              <a:rPr sz="1450" spc="60" dirty="0">
                <a:latin typeface="Trebuchet MS"/>
                <a:cs typeface="Trebuchet MS"/>
              </a:rPr>
              <a:t> </a:t>
            </a:r>
            <a:r>
              <a:rPr sz="1450" spc="70" dirty="0">
                <a:latin typeface="Trebuchet MS"/>
                <a:cs typeface="Trebuchet MS"/>
              </a:rPr>
              <a:t>and</a:t>
            </a:r>
            <a:r>
              <a:rPr sz="1450" spc="60" dirty="0">
                <a:latin typeface="Trebuchet MS"/>
                <a:cs typeface="Trebuchet MS"/>
              </a:rPr>
              <a:t> </a:t>
            </a:r>
            <a:r>
              <a:rPr sz="1450" spc="85" dirty="0">
                <a:latin typeface="Trebuchet MS"/>
                <a:cs typeface="Trebuchet MS"/>
              </a:rPr>
              <a:t>missed</a:t>
            </a:r>
            <a:r>
              <a:rPr sz="1450" spc="60" dirty="0">
                <a:latin typeface="Trebuchet MS"/>
                <a:cs typeface="Trebuchet MS"/>
              </a:rPr>
              <a:t> </a:t>
            </a:r>
            <a:r>
              <a:rPr sz="1450" spc="-10" dirty="0">
                <a:latin typeface="Trebuchet MS"/>
                <a:cs typeface="Trebuchet MS"/>
              </a:rPr>
              <a:t>schedules.</a:t>
            </a:r>
            <a:endParaRPr sz="1450">
              <a:latin typeface="Trebuchet MS"/>
              <a:cs typeface="Trebuchet MS"/>
            </a:endParaRPr>
          </a:p>
          <a:p>
            <a:pPr marL="600710" marR="5080" indent="-285750">
              <a:lnSpc>
                <a:spcPct val="137900"/>
              </a:lnSpc>
              <a:spcBef>
                <a:spcPts val="455"/>
              </a:spcBef>
              <a:buFont typeface="Arial"/>
              <a:buChar char="•"/>
            </a:pPr>
            <a:r>
              <a:rPr sz="1450" spc="10" dirty="0">
                <a:latin typeface="Trebuchet MS"/>
                <a:cs typeface="Trebuchet MS"/>
              </a:rPr>
              <a:t>Notifications</a:t>
            </a:r>
            <a:r>
              <a:rPr sz="1450" spc="60" dirty="0">
                <a:latin typeface="Trebuchet MS"/>
                <a:cs typeface="Trebuchet MS"/>
              </a:rPr>
              <a:t> </a:t>
            </a:r>
            <a:r>
              <a:rPr sz="1450" spc="10" dirty="0">
                <a:latin typeface="Trebuchet MS"/>
                <a:cs typeface="Trebuchet MS"/>
              </a:rPr>
              <a:t>via</a:t>
            </a:r>
            <a:r>
              <a:rPr sz="1450" spc="60" dirty="0">
                <a:latin typeface="Trebuchet MS"/>
                <a:cs typeface="Trebuchet MS"/>
              </a:rPr>
              <a:t> </a:t>
            </a:r>
            <a:r>
              <a:rPr sz="1450" spc="10" dirty="0">
                <a:latin typeface="Trebuchet MS"/>
                <a:cs typeface="Trebuchet MS"/>
              </a:rPr>
              <a:t>Azure</a:t>
            </a:r>
            <a:r>
              <a:rPr sz="1450" spc="65" dirty="0">
                <a:latin typeface="Trebuchet MS"/>
                <a:cs typeface="Trebuchet MS"/>
              </a:rPr>
              <a:t> </a:t>
            </a:r>
            <a:r>
              <a:rPr sz="1450" spc="10" dirty="0">
                <a:latin typeface="Trebuchet MS"/>
                <a:cs typeface="Trebuchet MS"/>
              </a:rPr>
              <a:t>Monitor,</a:t>
            </a:r>
            <a:r>
              <a:rPr sz="1450" spc="60" dirty="0">
                <a:latin typeface="Trebuchet MS"/>
                <a:cs typeface="Trebuchet MS"/>
              </a:rPr>
              <a:t> </a:t>
            </a:r>
            <a:r>
              <a:rPr sz="1450" spc="10" dirty="0">
                <a:latin typeface="Trebuchet MS"/>
                <a:cs typeface="Trebuchet MS"/>
              </a:rPr>
              <a:t>Action</a:t>
            </a:r>
            <a:r>
              <a:rPr sz="1450" spc="65" dirty="0">
                <a:latin typeface="Trebuchet MS"/>
                <a:cs typeface="Trebuchet MS"/>
              </a:rPr>
              <a:t> </a:t>
            </a:r>
            <a:r>
              <a:rPr sz="1450" spc="85" dirty="0">
                <a:latin typeface="Trebuchet MS"/>
                <a:cs typeface="Trebuchet MS"/>
              </a:rPr>
              <a:t>Groups</a:t>
            </a:r>
            <a:r>
              <a:rPr sz="1450" spc="60" dirty="0">
                <a:latin typeface="Trebuchet MS"/>
                <a:cs typeface="Trebuchet MS"/>
              </a:rPr>
              <a:t> </a:t>
            </a:r>
            <a:r>
              <a:rPr sz="1450" spc="-10" dirty="0">
                <a:latin typeface="Trebuchet MS"/>
                <a:cs typeface="Trebuchet MS"/>
              </a:rPr>
              <a:t>(email, </a:t>
            </a:r>
            <a:r>
              <a:rPr sz="1450" spc="65" dirty="0">
                <a:latin typeface="Trebuchet MS"/>
                <a:cs typeface="Trebuchet MS"/>
              </a:rPr>
              <a:t>SMS,</a:t>
            </a:r>
            <a:r>
              <a:rPr sz="1450" spc="-45" dirty="0">
                <a:latin typeface="Trebuchet MS"/>
                <a:cs typeface="Trebuchet MS"/>
              </a:rPr>
              <a:t> </a:t>
            </a:r>
            <a:r>
              <a:rPr sz="1450" spc="-10" dirty="0">
                <a:latin typeface="Trebuchet MS"/>
                <a:cs typeface="Trebuchet MS"/>
              </a:rPr>
              <a:t>webhooks).</a:t>
            </a:r>
            <a:endParaRPr sz="1450">
              <a:latin typeface="Trebuchet MS"/>
              <a:cs typeface="Trebuchet MS"/>
            </a:endParaRPr>
          </a:p>
          <a:p>
            <a:pPr marL="600710" marR="135890" indent="-285750">
              <a:lnSpc>
                <a:spcPct val="133600"/>
              </a:lnSpc>
              <a:spcBef>
                <a:spcPts val="600"/>
              </a:spcBef>
              <a:buFont typeface="Arial"/>
              <a:buChar char="•"/>
            </a:pPr>
            <a:r>
              <a:rPr sz="1450" dirty="0">
                <a:latin typeface="Trebuchet MS"/>
                <a:cs typeface="Trebuchet MS"/>
              </a:rPr>
              <a:t>Early</a:t>
            </a:r>
            <a:r>
              <a:rPr sz="1450" spc="45" dirty="0">
                <a:latin typeface="Trebuchet MS"/>
                <a:cs typeface="Trebuchet MS"/>
              </a:rPr>
              <a:t> </a:t>
            </a:r>
            <a:r>
              <a:rPr sz="1450" dirty="0">
                <a:latin typeface="Trebuchet MS"/>
                <a:cs typeface="Trebuchet MS"/>
              </a:rPr>
              <a:t>warning</a:t>
            </a:r>
            <a:r>
              <a:rPr sz="1450" spc="50" dirty="0">
                <a:latin typeface="Trebuchet MS"/>
                <a:cs typeface="Trebuchet MS"/>
              </a:rPr>
              <a:t> </a:t>
            </a:r>
            <a:r>
              <a:rPr sz="1450" dirty="0">
                <a:latin typeface="Trebuchet MS"/>
                <a:cs typeface="Trebuchet MS"/>
              </a:rPr>
              <a:t>for</a:t>
            </a:r>
            <a:r>
              <a:rPr sz="1450" spc="50" dirty="0">
                <a:latin typeface="Trebuchet MS"/>
                <a:cs typeface="Trebuchet MS"/>
              </a:rPr>
              <a:t> </a:t>
            </a:r>
            <a:r>
              <a:rPr sz="1450" dirty="0">
                <a:latin typeface="Trebuchet MS"/>
                <a:cs typeface="Trebuchet MS"/>
              </a:rPr>
              <a:t>critical</a:t>
            </a:r>
            <a:r>
              <a:rPr sz="1450" spc="50" dirty="0">
                <a:latin typeface="Trebuchet MS"/>
                <a:cs typeface="Trebuchet MS"/>
              </a:rPr>
              <a:t> security </a:t>
            </a:r>
            <a:r>
              <a:rPr sz="1450" dirty="0">
                <a:latin typeface="Trebuchet MS"/>
                <a:cs typeface="Trebuchet MS"/>
              </a:rPr>
              <a:t>vulnerabilities</a:t>
            </a:r>
            <a:r>
              <a:rPr sz="1450" spc="50" dirty="0">
                <a:latin typeface="Trebuchet MS"/>
                <a:cs typeface="Trebuchet MS"/>
              </a:rPr>
              <a:t> </a:t>
            </a:r>
            <a:r>
              <a:rPr sz="1450" spc="45" dirty="0">
                <a:latin typeface="Trebuchet MS"/>
                <a:cs typeface="Trebuchet MS"/>
              </a:rPr>
              <a:t>and </a:t>
            </a:r>
            <a:r>
              <a:rPr sz="1450" spc="75" dirty="0">
                <a:latin typeface="Trebuchet MS"/>
                <a:cs typeface="Trebuchet MS"/>
              </a:rPr>
              <a:t>system</a:t>
            </a:r>
            <a:r>
              <a:rPr sz="1450" spc="20" dirty="0">
                <a:latin typeface="Trebuchet MS"/>
                <a:cs typeface="Trebuchet MS"/>
              </a:rPr>
              <a:t> </a:t>
            </a:r>
            <a:r>
              <a:rPr sz="1450" dirty="0">
                <a:latin typeface="Trebuchet MS"/>
                <a:cs typeface="Trebuchet MS"/>
              </a:rPr>
              <a:t>health</a:t>
            </a:r>
            <a:r>
              <a:rPr sz="1450" spc="20" dirty="0">
                <a:latin typeface="Trebuchet MS"/>
                <a:cs typeface="Trebuchet MS"/>
              </a:rPr>
              <a:t> </a:t>
            </a:r>
            <a:r>
              <a:rPr sz="1450" spc="-10" dirty="0">
                <a:latin typeface="Trebuchet MS"/>
                <a:cs typeface="Trebuchet MS"/>
              </a:rPr>
              <a:t>deviations.</a:t>
            </a:r>
            <a:endParaRPr sz="1450">
              <a:latin typeface="Trebuchet MS"/>
              <a:cs typeface="Trebuchet MS"/>
            </a:endParaRPr>
          </a:p>
        </p:txBody>
      </p:sp>
    </p:spTree>
    <p:extLst>
      <p:ext uri="{BB962C8B-B14F-4D97-AF65-F5344CB8AC3E}">
        <p14:creationId xmlns:p14="http://schemas.microsoft.com/office/powerpoint/2010/main" val="3333152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74B362-7F17-DCEC-05AD-F6A46CF2D0E5}"/>
              </a:ext>
            </a:extLst>
          </p:cNvPr>
          <p:cNvSpPr>
            <a:spLocks noGrp="1"/>
          </p:cNvSpPr>
          <p:nvPr>
            <p:ph type="dt" sz="half" idx="10"/>
          </p:nvPr>
        </p:nvSpPr>
        <p:spPr/>
        <p:txBody>
          <a:bodyPr/>
          <a:lstStyle/>
          <a:p>
            <a:fld id="{922FF6B1-D3FA-4F67-9340-1E211091AC33}" type="datetime1">
              <a:t>9/23/2026</a:t>
            </a:fld>
            <a:endParaRPr lang="en-US" dirty="0"/>
          </a:p>
        </p:txBody>
      </p:sp>
      <p:sp>
        <p:nvSpPr>
          <p:cNvPr id="3" name="Footer Placeholder 2">
            <a:extLst>
              <a:ext uri="{FF2B5EF4-FFF2-40B4-BE49-F238E27FC236}">
                <a16:creationId xmlns:a16="http://schemas.microsoft.com/office/drawing/2014/main" id="{8A8FD63D-30C3-7FD2-E83A-25BB150B5BE5}"/>
              </a:ext>
            </a:extLst>
          </p:cNvPr>
          <p:cNvSpPr>
            <a:spLocks noGrp="1"/>
          </p:cNvSpPr>
          <p:nvPr>
            <p:ph type="ftr" sz="quarter" idx="11"/>
          </p:nvPr>
        </p:nvSpPr>
        <p:spPr/>
        <p:txBody>
          <a:bodyPr/>
          <a:lstStyle/>
          <a:p>
            <a:r>
              <a:rPr lang="en-US" dirty="0"/>
              <a:t>
              </a:t>
            </a:r>
          </a:p>
        </p:txBody>
      </p:sp>
      <p:sp>
        <p:nvSpPr>
          <p:cNvPr id="5" name="object 2" descr="$PPTXTitle">
            <a:extLst>
              <a:ext uri="{FF2B5EF4-FFF2-40B4-BE49-F238E27FC236}">
                <a16:creationId xmlns:a16="http://schemas.microsoft.com/office/drawing/2014/main" id="{F431DE9E-162D-0C3C-7B86-ABEDF2585B68}"/>
              </a:ext>
            </a:extLst>
          </p:cNvPr>
          <p:cNvSpPr txBox="1">
            <a:spLocks noGrp="1"/>
          </p:cNvSpPr>
          <p:nvPr/>
        </p:nvSpPr>
        <p:spPr>
          <a:xfrm>
            <a:off x="648840" y="710342"/>
            <a:ext cx="9170670" cy="1240155"/>
          </a:xfrm>
          <a:prstGeom prst="rect">
            <a:avLst/>
          </a:prstGeom>
        </p:spPr>
        <p:txBody>
          <a:bodyPr vert="horz" wrap="square" lIns="0" tIns="0" rIns="0" bIns="0" rtlCol="0" anchor="t">
            <a:spAutoFit/>
          </a:bodyPr>
          <a:lstStyle>
            <a:lvl1pPr>
              <a:defRPr sz="3900" b="0" i="0">
                <a:solidFill>
                  <a:srgbClr val="010101"/>
                </a:solidFill>
                <a:latin typeface="Georgia"/>
                <a:ea typeface="+mj-ea"/>
                <a:cs typeface="Georgia"/>
              </a:defRPr>
            </a:lvl1pPr>
          </a:lstStyle>
          <a:p>
            <a:pPr marL="12700" marR="5080">
              <a:lnSpc>
                <a:spcPts val="4880"/>
              </a:lnSpc>
            </a:pPr>
            <a:r>
              <a:rPr dirty="0">
                <a:solidFill>
                  <a:schemeClr val="tx1"/>
                </a:solidFill>
              </a:rPr>
              <a:t>Cost</a:t>
            </a:r>
            <a:r>
              <a:rPr spc="65" dirty="0">
                <a:solidFill>
                  <a:schemeClr val="tx1"/>
                </a:solidFill>
              </a:rPr>
              <a:t> </a:t>
            </a:r>
            <a:r>
              <a:rPr dirty="0">
                <a:solidFill>
                  <a:schemeClr val="tx1"/>
                </a:solidFill>
              </a:rPr>
              <a:t>Optimization:</a:t>
            </a:r>
            <a:r>
              <a:rPr spc="65" dirty="0">
                <a:solidFill>
                  <a:schemeClr val="tx1"/>
                </a:solidFill>
              </a:rPr>
              <a:t> </a:t>
            </a:r>
            <a:r>
              <a:rPr spc="-10" dirty="0">
                <a:solidFill>
                  <a:schemeClr val="tx1"/>
                </a:solidFill>
              </a:rPr>
              <a:t>Reducing</a:t>
            </a:r>
            <a:r>
              <a:rPr spc="65" dirty="0">
                <a:solidFill>
                  <a:schemeClr val="tx1"/>
                </a:solidFill>
              </a:rPr>
              <a:t> </a:t>
            </a:r>
            <a:r>
              <a:rPr spc="-10" dirty="0">
                <a:solidFill>
                  <a:schemeClr val="tx1"/>
                </a:solidFill>
              </a:rPr>
              <a:t>Operational Overhead</a:t>
            </a:r>
            <a:endParaRPr lang="en-US" spc="-10" dirty="0">
              <a:solidFill>
                <a:schemeClr val="tx1"/>
              </a:solidFill>
            </a:endParaRPr>
          </a:p>
        </p:txBody>
      </p:sp>
      <p:sp>
        <p:nvSpPr>
          <p:cNvPr id="6" name="object 3">
            <a:extLst>
              <a:ext uri="{FF2B5EF4-FFF2-40B4-BE49-F238E27FC236}">
                <a16:creationId xmlns:a16="http://schemas.microsoft.com/office/drawing/2014/main" id="{473EDF14-F002-1CEA-F7DD-8590928628D2}"/>
              </a:ext>
            </a:extLst>
          </p:cNvPr>
          <p:cNvSpPr txBox="1"/>
          <p:nvPr/>
        </p:nvSpPr>
        <p:spPr>
          <a:xfrm>
            <a:off x="648840" y="2187270"/>
            <a:ext cx="10832465" cy="577530"/>
          </a:xfrm>
          <a:prstGeom prst="rect">
            <a:avLst/>
          </a:prstGeom>
        </p:spPr>
        <p:txBody>
          <a:bodyPr vert="horz" wrap="square" lIns="0" tIns="11430" rIns="0" bIns="0" rtlCol="0" anchor="t">
            <a:spAutoFit/>
          </a:bodyPr>
          <a:lstStyle>
            <a:defPPr>
              <a:defRPr kern="0"/>
            </a:defPPr>
          </a:lstStyle>
          <a:p>
            <a:pPr marL="12700" marR="5080">
              <a:lnSpc>
                <a:spcPct val="133600"/>
              </a:lnSpc>
              <a:spcBef>
                <a:spcPts val="90"/>
              </a:spcBef>
            </a:pPr>
            <a:r>
              <a:rPr sz="1450" spc="10" dirty="0">
                <a:latin typeface="Trebuchet MS"/>
                <a:cs typeface="Trebuchet MS"/>
              </a:rPr>
              <a:t>Azure</a:t>
            </a:r>
            <a:r>
              <a:rPr sz="1450" spc="45" dirty="0">
                <a:latin typeface="Trebuchet MS"/>
                <a:cs typeface="Trebuchet MS"/>
              </a:rPr>
              <a:t> </a:t>
            </a:r>
            <a:r>
              <a:rPr sz="1450" spc="10" dirty="0">
                <a:latin typeface="Trebuchet MS"/>
                <a:cs typeface="Trebuchet MS"/>
              </a:rPr>
              <a:t>Update</a:t>
            </a:r>
            <a:r>
              <a:rPr sz="1450" spc="50" dirty="0">
                <a:latin typeface="Trebuchet MS"/>
                <a:cs typeface="Trebuchet MS"/>
              </a:rPr>
              <a:t> </a:t>
            </a:r>
            <a:r>
              <a:rPr sz="1450" spc="65" dirty="0">
                <a:latin typeface="Trebuchet MS"/>
                <a:cs typeface="Trebuchet MS"/>
              </a:rPr>
              <a:t>Manager</a:t>
            </a:r>
            <a:r>
              <a:rPr sz="1450" spc="50" dirty="0">
                <a:latin typeface="Trebuchet MS"/>
                <a:cs typeface="Trebuchet MS"/>
              </a:rPr>
              <a:t> </a:t>
            </a:r>
            <a:r>
              <a:rPr sz="1450" spc="10" dirty="0">
                <a:latin typeface="Trebuchet MS"/>
                <a:cs typeface="Trebuchet MS"/>
              </a:rPr>
              <a:t>delivers</a:t>
            </a:r>
            <a:r>
              <a:rPr sz="1450" spc="45" dirty="0">
                <a:latin typeface="Trebuchet MS"/>
                <a:cs typeface="Trebuchet MS"/>
              </a:rPr>
              <a:t> </a:t>
            </a:r>
            <a:r>
              <a:rPr sz="1450" spc="10" dirty="0">
                <a:latin typeface="Trebuchet MS"/>
                <a:cs typeface="Trebuchet MS"/>
              </a:rPr>
              <a:t>substantial</a:t>
            </a:r>
            <a:r>
              <a:rPr sz="1450" spc="50" dirty="0">
                <a:latin typeface="Trebuchet MS"/>
                <a:cs typeface="Trebuchet MS"/>
              </a:rPr>
              <a:t> </a:t>
            </a:r>
            <a:r>
              <a:rPr sz="1450" spc="85" dirty="0">
                <a:latin typeface="Trebuchet MS"/>
                <a:cs typeface="Trebuchet MS"/>
              </a:rPr>
              <a:t>cost</a:t>
            </a:r>
            <a:r>
              <a:rPr sz="1450" spc="50" dirty="0">
                <a:latin typeface="Trebuchet MS"/>
                <a:cs typeface="Trebuchet MS"/>
              </a:rPr>
              <a:t> </a:t>
            </a:r>
            <a:r>
              <a:rPr sz="1450" spc="65" dirty="0">
                <a:latin typeface="Trebuchet MS"/>
                <a:cs typeface="Trebuchet MS"/>
              </a:rPr>
              <a:t>savings</a:t>
            </a:r>
            <a:r>
              <a:rPr sz="1450" spc="45" dirty="0">
                <a:latin typeface="Trebuchet MS"/>
                <a:cs typeface="Trebuchet MS"/>
              </a:rPr>
              <a:t> </a:t>
            </a:r>
            <a:r>
              <a:rPr sz="1450" spc="80" dirty="0">
                <a:latin typeface="Trebuchet MS"/>
                <a:cs typeface="Trebuchet MS"/>
              </a:rPr>
              <a:t>by</a:t>
            </a:r>
            <a:r>
              <a:rPr sz="1450" spc="50" dirty="0">
                <a:latin typeface="Trebuchet MS"/>
                <a:cs typeface="Trebuchet MS"/>
              </a:rPr>
              <a:t> </a:t>
            </a:r>
            <a:r>
              <a:rPr sz="1450" spc="10" dirty="0">
                <a:latin typeface="Trebuchet MS"/>
                <a:cs typeface="Trebuchet MS"/>
              </a:rPr>
              <a:t>streamlining</a:t>
            </a:r>
            <a:r>
              <a:rPr sz="1450" spc="50" dirty="0">
                <a:latin typeface="Trebuchet MS"/>
                <a:cs typeface="Trebuchet MS"/>
              </a:rPr>
              <a:t> operations</a:t>
            </a:r>
            <a:r>
              <a:rPr sz="1450" spc="45" dirty="0">
                <a:latin typeface="Trebuchet MS"/>
                <a:cs typeface="Trebuchet MS"/>
              </a:rPr>
              <a:t> </a:t>
            </a:r>
            <a:r>
              <a:rPr sz="1450" spc="70" dirty="0">
                <a:latin typeface="Trebuchet MS"/>
                <a:cs typeface="Trebuchet MS"/>
              </a:rPr>
              <a:t>and</a:t>
            </a:r>
            <a:r>
              <a:rPr sz="1450" spc="50" dirty="0">
                <a:latin typeface="Trebuchet MS"/>
                <a:cs typeface="Trebuchet MS"/>
              </a:rPr>
              <a:t> </a:t>
            </a:r>
            <a:r>
              <a:rPr sz="1450" spc="10" dirty="0">
                <a:latin typeface="Trebuchet MS"/>
                <a:cs typeface="Trebuchet MS"/>
              </a:rPr>
              <a:t>leveraging</a:t>
            </a:r>
            <a:r>
              <a:rPr sz="1450" spc="50" dirty="0">
                <a:latin typeface="Trebuchet MS"/>
                <a:cs typeface="Trebuchet MS"/>
              </a:rPr>
              <a:t> </a:t>
            </a:r>
            <a:r>
              <a:rPr sz="1450" spc="90" dirty="0">
                <a:latin typeface="Trebuchet MS"/>
                <a:cs typeface="Trebuchet MS"/>
              </a:rPr>
              <a:t>cloud-</a:t>
            </a:r>
            <a:r>
              <a:rPr sz="1450" spc="10" dirty="0">
                <a:latin typeface="Trebuchet MS"/>
                <a:cs typeface="Trebuchet MS"/>
              </a:rPr>
              <a:t>native</a:t>
            </a:r>
            <a:r>
              <a:rPr sz="1450" spc="50" dirty="0">
                <a:latin typeface="Trebuchet MS"/>
                <a:cs typeface="Trebuchet MS"/>
              </a:rPr>
              <a:t> </a:t>
            </a:r>
            <a:r>
              <a:rPr sz="1450" spc="-10" dirty="0">
                <a:latin typeface="Trebuchet MS"/>
                <a:cs typeface="Trebuchet MS"/>
              </a:rPr>
              <a:t>capabilities, </a:t>
            </a:r>
            <a:r>
              <a:rPr sz="1450" dirty="0">
                <a:latin typeface="Trebuchet MS"/>
                <a:cs typeface="Trebuchet MS"/>
              </a:rPr>
              <a:t>shifting</a:t>
            </a:r>
            <a:r>
              <a:rPr sz="1450" spc="110" dirty="0">
                <a:latin typeface="Trebuchet MS"/>
                <a:cs typeface="Trebuchet MS"/>
              </a:rPr>
              <a:t> </a:t>
            </a:r>
            <a:r>
              <a:rPr sz="1450" dirty="0">
                <a:latin typeface="Trebuchet MS"/>
                <a:cs typeface="Trebuchet MS"/>
              </a:rPr>
              <a:t>from</a:t>
            </a:r>
            <a:r>
              <a:rPr sz="1450" spc="114" dirty="0">
                <a:latin typeface="Trebuchet MS"/>
                <a:cs typeface="Trebuchet MS"/>
              </a:rPr>
              <a:t> </a:t>
            </a:r>
            <a:r>
              <a:rPr sz="1450" dirty="0">
                <a:latin typeface="Trebuchet MS"/>
                <a:cs typeface="Trebuchet MS"/>
              </a:rPr>
              <a:t>reactive</a:t>
            </a:r>
            <a:r>
              <a:rPr sz="1450" spc="114" dirty="0">
                <a:latin typeface="Trebuchet MS"/>
                <a:cs typeface="Trebuchet MS"/>
              </a:rPr>
              <a:t> </a:t>
            </a:r>
            <a:r>
              <a:rPr sz="1450" spc="70" dirty="0">
                <a:latin typeface="Trebuchet MS"/>
                <a:cs typeface="Trebuchet MS"/>
              </a:rPr>
              <a:t>spending</a:t>
            </a:r>
            <a:r>
              <a:rPr sz="1450" spc="110" dirty="0">
                <a:latin typeface="Trebuchet MS"/>
                <a:cs typeface="Trebuchet MS"/>
              </a:rPr>
              <a:t> </a:t>
            </a:r>
            <a:r>
              <a:rPr sz="1450" dirty="0">
                <a:latin typeface="Trebuchet MS"/>
                <a:cs typeface="Trebuchet MS"/>
              </a:rPr>
              <a:t>to</a:t>
            </a:r>
            <a:r>
              <a:rPr sz="1450" spc="114" dirty="0">
                <a:latin typeface="Trebuchet MS"/>
                <a:cs typeface="Trebuchet MS"/>
              </a:rPr>
              <a:t> </a:t>
            </a:r>
            <a:r>
              <a:rPr sz="1450" dirty="0">
                <a:latin typeface="Trebuchet MS"/>
                <a:cs typeface="Trebuchet MS"/>
              </a:rPr>
              <a:t>proactive</a:t>
            </a:r>
            <a:r>
              <a:rPr sz="1450" spc="114" dirty="0">
                <a:latin typeface="Trebuchet MS"/>
                <a:cs typeface="Trebuchet MS"/>
              </a:rPr>
              <a:t> </a:t>
            </a:r>
            <a:r>
              <a:rPr sz="1450" spc="-10" dirty="0">
                <a:latin typeface="Trebuchet MS"/>
                <a:cs typeface="Trebuchet MS"/>
              </a:rPr>
              <a:t>efficiency.</a:t>
            </a:r>
            <a:endParaRPr lang="en-US" sz="1450">
              <a:latin typeface="Trebuchet MS"/>
              <a:cs typeface="Trebuchet MS"/>
            </a:endParaRPr>
          </a:p>
        </p:txBody>
      </p:sp>
      <p:grpSp>
        <p:nvGrpSpPr>
          <p:cNvPr id="7" name="object 4">
            <a:extLst>
              <a:ext uri="{FF2B5EF4-FFF2-40B4-BE49-F238E27FC236}">
                <a16:creationId xmlns:a16="http://schemas.microsoft.com/office/drawing/2014/main" id="{FB704625-2EF3-B7DC-C733-3CE483BEA37F}"/>
              </a:ext>
            </a:extLst>
          </p:cNvPr>
          <p:cNvGrpSpPr/>
          <p:nvPr/>
        </p:nvGrpSpPr>
        <p:grpSpPr>
          <a:xfrm>
            <a:off x="657224" y="3057524"/>
            <a:ext cx="3505200" cy="3076575"/>
            <a:chOff x="657224" y="3057524"/>
            <a:chExt cx="3505200" cy="3076575"/>
          </a:xfrm>
        </p:grpSpPr>
        <p:sp>
          <p:nvSpPr>
            <p:cNvPr id="20" name="object 5">
              <a:extLst>
                <a:ext uri="{FF2B5EF4-FFF2-40B4-BE49-F238E27FC236}">
                  <a16:creationId xmlns:a16="http://schemas.microsoft.com/office/drawing/2014/main" id="{1AD4BF33-DCDC-1752-F1B3-45E7E6292501}"/>
                </a:ext>
              </a:extLst>
            </p:cNvPr>
            <p:cNvSpPr/>
            <p:nvPr/>
          </p:nvSpPr>
          <p:spPr>
            <a:xfrm>
              <a:off x="657224" y="3057524"/>
              <a:ext cx="3505200" cy="3076575"/>
            </a:xfrm>
            <a:custGeom>
              <a:avLst/>
              <a:gdLst/>
              <a:ahLst/>
              <a:cxnLst/>
              <a:rect l="l" t="t" r="r" b="b"/>
              <a:pathLst>
                <a:path w="3505200" h="3076575">
                  <a:moveTo>
                    <a:pt x="3484704" y="3076574"/>
                  </a:moveTo>
                  <a:lnTo>
                    <a:pt x="20494" y="3076574"/>
                  </a:lnTo>
                  <a:lnTo>
                    <a:pt x="17480" y="3075974"/>
                  </a:lnTo>
                  <a:lnTo>
                    <a:pt x="0" y="3056080"/>
                  </a:lnTo>
                  <a:lnTo>
                    <a:pt x="0" y="3052947"/>
                  </a:lnTo>
                  <a:lnTo>
                    <a:pt x="0" y="20494"/>
                  </a:lnTo>
                  <a:lnTo>
                    <a:pt x="20494" y="0"/>
                  </a:lnTo>
                  <a:lnTo>
                    <a:pt x="3484704" y="0"/>
                  </a:lnTo>
                  <a:lnTo>
                    <a:pt x="3505199" y="20494"/>
                  </a:lnTo>
                  <a:lnTo>
                    <a:pt x="3505199" y="3056080"/>
                  </a:lnTo>
                  <a:lnTo>
                    <a:pt x="3487718" y="3075974"/>
                  </a:lnTo>
                  <a:lnTo>
                    <a:pt x="3484704" y="3076574"/>
                  </a:lnTo>
                  <a:close/>
                </a:path>
              </a:pathLst>
            </a:custGeom>
            <a:solidFill>
              <a:srgbClr val="F1EDED"/>
            </a:solidFill>
          </p:spPr>
          <p:txBody>
            <a:bodyPr wrap="square" lIns="0" tIns="0" rIns="0" bIns="0" rtlCol="0"/>
            <a:lstStyle>
              <a:defPPr>
                <a:defRPr kern="0"/>
              </a:defPPr>
            </a:lstStyle>
            <a:p>
              <a:endParaRPr/>
            </a:p>
          </p:txBody>
        </p:sp>
        <p:sp>
          <p:nvSpPr>
            <p:cNvPr id="21" name="object 6">
              <a:extLst>
                <a:ext uri="{FF2B5EF4-FFF2-40B4-BE49-F238E27FC236}">
                  <a16:creationId xmlns:a16="http://schemas.microsoft.com/office/drawing/2014/main" id="{85D20A0F-3C1D-0E85-BCA0-DCE63ED90FFE}"/>
                </a:ext>
              </a:extLst>
            </p:cNvPr>
            <p:cNvSpPr/>
            <p:nvPr/>
          </p:nvSpPr>
          <p:spPr>
            <a:xfrm>
              <a:off x="847724" y="3248024"/>
              <a:ext cx="571500" cy="571500"/>
            </a:xfrm>
            <a:custGeom>
              <a:avLst/>
              <a:gdLst/>
              <a:ahLst/>
              <a:cxnLst/>
              <a:rect l="l" t="t" r="r" b="b"/>
              <a:pathLst>
                <a:path w="571500" h="571500">
                  <a:moveTo>
                    <a:pt x="285749" y="571499"/>
                  </a:moveTo>
                  <a:lnTo>
                    <a:pt x="243821" y="568407"/>
                  </a:lnTo>
                  <a:lnTo>
                    <a:pt x="202801" y="559195"/>
                  </a:lnTo>
                  <a:lnTo>
                    <a:pt x="163575" y="544064"/>
                  </a:lnTo>
                  <a:lnTo>
                    <a:pt x="126995" y="523341"/>
                  </a:lnTo>
                  <a:lnTo>
                    <a:pt x="93851" y="497476"/>
                  </a:lnTo>
                  <a:lnTo>
                    <a:pt x="64862" y="467027"/>
                  </a:lnTo>
                  <a:lnTo>
                    <a:pt x="40653" y="432654"/>
                  </a:lnTo>
                  <a:lnTo>
                    <a:pt x="21751" y="395101"/>
                  </a:lnTo>
                  <a:lnTo>
                    <a:pt x="8563" y="355181"/>
                  </a:lnTo>
                  <a:lnTo>
                    <a:pt x="1375" y="313758"/>
                  </a:lnTo>
                  <a:lnTo>
                    <a:pt x="0" y="285749"/>
                  </a:lnTo>
                  <a:lnTo>
                    <a:pt x="344" y="271728"/>
                  </a:lnTo>
                  <a:lnTo>
                    <a:pt x="5490" y="230002"/>
                  </a:lnTo>
                  <a:lnTo>
                    <a:pt x="16703" y="189483"/>
                  </a:lnTo>
                  <a:lnTo>
                    <a:pt x="33740" y="151048"/>
                  </a:lnTo>
                  <a:lnTo>
                    <a:pt x="56233" y="115528"/>
                  </a:lnTo>
                  <a:lnTo>
                    <a:pt x="83694" y="83693"/>
                  </a:lnTo>
                  <a:lnTo>
                    <a:pt x="115528" y="56233"/>
                  </a:lnTo>
                  <a:lnTo>
                    <a:pt x="151048" y="33740"/>
                  </a:lnTo>
                  <a:lnTo>
                    <a:pt x="189483" y="16703"/>
                  </a:lnTo>
                  <a:lnTo>
                    <a:pt x="230002" y="5490"/>
                  </a:lnTo>
                  <a:lnTo>
                    <a:pt x="271728" y="344"/>
                  </a:lnTo>
                  <a:lnTo>
                    <a:pt x="285749" y="0"/>
                  </a:lnTo>
                  <a:lnTo>
                    <a:pt x="299771" y="344"/>
                  </a:lnTo>
                  <a:lnTo>
                    <a:pt x="341497" y="5490"/>
                  </a:lnTo>
                  <a:lnTo>
                    <a:pt x="382016" y="16703"/>
                  </a:lnTo>
                  <a:lnTo>
                    <a:pt x="420451" y="33740"/>
                  </a:lnTo>
                  <a:lnTo>
                    <a:pt x="455971" y="56233"/>
                  </a:lnTo>
                  <a:lnTo>
                    <a:pt x="487805" y="83693"/>
                  </a:lnTo>
                  <a:lnTo>
                    <a:pt x="515266" y="115528"/>
                  </a:lnTo>
                  <a:lnTo>
                    <a:pt x="537758" y="151048"/>
                  </a:lnTo>
                  <a:lnTo>
                    <a:pt x="554796" y="189483"/>
                  </a:lnTo>
                  <a:lnTo>
                    <a:pt x="566009" y="230002"/>
                  </a:lnTo>
                  <a:lnTo>
                    <a:pt x="571155" y="271728"/>
                  </a:lnTo>
                  <a:lnTo>
                    <a:pt x="571499" y="285749"/>
                  </a:lnTo>
                  <a:lnTo>
                    <a:pt x="571155" y="299771"/>
                  </a:lnTo>
                  <a:lnTo>
                    <a:pt x="566009" y="341496"/>
                  </a:lnTo>
                  <a:lnTo>
                    <a:pt x="554796" y="382015"/>
                  </a:lnTo>
                  <a:lnTo>
                    <a:pt x="537758" y="420451"/>
                  </a:lnTo>
                  <a:lnTo>
                    <a:pt x="515266" y="455970"/>
                  </a:lnTo>
                  <a:lnTo>
                    <a:pt x="487805" y="487805"/>
                  </a:lnTo>
                  <a:lnTo>
                    <a:pt x="455971" y="515266"/>
                  </a:lnTo>
                  <a:lnTo>
                    <a:pt x="420451" y="537758"/>
                  </a:lnTo>
                  <a:lnTo>
                    <a:pt x="382016" y="554796"/>
                  </a:lnTo>
                  <a:lnTo>
                    <a:pt x="341497" y="566009"/>
                  </a:lnTo>
                  <a:lnTo>
                    <a:pt x="299771" y="571155"/>
                  </a:lnTo>
                  <a:lnTo>
                    <a:pt x="285749" y="571499"/>
                  </a:lnTo>
                  <a:close/>
                </a:path>
              </a:pathLst>
            </a:custGeom>
            <a:solidFill>
              <a:srgbClr val="DF4E00"/>
            </a:solidFill>
          </p:spPr>
          <p:txBody>
            <a:bodyPr wrap="square" lIns="0" tIns="0" rIns="0" bIns="0" rtlCol="0"/>
            <a:lstStyle>
              <a:defPPr>
                <a:defRPr kern="0"/>
              </a:defPPr>
            </a:lstStyle>
            <a:p>
              <a:endParaRPr/>
            </a:p>
          </p:txBody>
        </p:sp>
        <p:pic>
          <p:nvPicPr>
            <p:cNvPr id="22" name="object 7">
              <a:extLst>
                <a:ext uri="{FF2B5EF4-FFF2-40B4-BE49-F238E27FC236}">
                  <a16:creationId xmlns:a16="http://schemas.microsoft.com/office/drawing/2014/main" id="{5535F6CB-0546-1132-F887-7BECCDF936F3}"/>
                </a:ext>
              </a:extLst>
            </p:cNvPr>
            <p:cNvPicPr/>
            <p:nvPr/>
          </p:nvPicPr>
          <p:blipFill>
            <a:blip r:embed="rId2" cstate="print"/>
            <a:stretch>
              <a:fillRect/>
            </a:stretch>
          </p:blipFill>
          <p:spPr>
            <a:xfrm>
              <a:off x="1044367" y="3404304"/>
              <a:ext cx="185609" cy="266383"/>
            </a:xfrm>
            <a:prstGeom prst="rect">
              <a:avLst/>
            </a:prstGeom>
          </p:spPr>
        </p:pic>
      </p:grpSp>
      <p:sp>
        <p:nvSpPr>
          <p:cNvPr id="8" name="object 8">
            <a:extLst>
              <a:ext uri="{FF2B5EF4-FFF2-40B4-BE49-F238E27FC236}">
                <a16:creationId xmlns:a16="http://schemas.microsoft.com/office/drawing/2014/main" id="{E4837734-1140-CAFC-8529-C57E2F34A377}"/>
              </a:ext>
            </a:extLst>
          </p:cNvPr>
          <p:cNvSpPr txBox="1"/>
          <p:nvPr/>
        </p:nvSpPr>
        <p:spPr>
          <a:xfrm>
            <a:off x="837852" y="3996943"/>
            <a:ext cx="2839085" cy="190246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950" dirty="0">
                <a:solidFill>
                  <a:srgbClr val="373737"/>
                </a:solidFill>
                <a:latin typeface="Georgia"/>
                <a:cs typeface="Georgia"/>
              </a:rPr>
              <a:t>Direct</a:t>
            </a:r>
            <a:r>
              <a:rPr sz="1950" spc="-25" dirty="0">
                <a:solidFill>
                  <a:srgbClr val="373737"/>
                </a:solidFill>
                <a:latin typeface="Georgia"/>
                <a:cs typeface="Georgia"/>
              </a:rPr>
              <a:t> </a:t>
            </a:r>
            <a:r>
              <a:rPr sz="1950" dirty="0">
                <a:solidFill>
                  <a:srgbClr val="373737"/>
                </a:solidFill>
                <a:latin typeface="Georgia"/>
                <a:cs typeface="Georgia"/>
              </a:rPr>
              <a:t>Cost</a:t>
            </a:r>
            <a:r>
              <a:rPr sz="1950" spc="-25" dirty="0">
                <a:solidFill>
                  <a:srgbClr val="373737"/>
                </a:solidFill>
                <a:latin typeface="Georgia"/>
                <a:cs typeface="Georgia"/>
              </a:rPr>
              <a:t> </a:t>
            </a:r>
            <a:r>
              <a:rPr sz="1950" spc="-10" dirty="0">
                <a:solidFill>
                  <a:srgbClr val="373737"/>
                </a:solidFill>
                <a:latin typeface="Georgia"/>
                <a:cs typeface="Georgia"/>
              </a:rPr>
              <a:t>Savings</a:t>
            </a:r>
            <a:endParaRPr sz="1950">
              <a:latin typeface="Georgia"/>
              <a:cs typeface="Georgia"/>
            </a:endParaRPr>
          </a:p>
          <a:p>
            <a:pPr marL="12700" marR="5080">
              <a:lnSpc>
                <a:spcPct val="136900"/>
              </a:lnSpc>
              <a:spcBef>
                <a:spcPts val="520"/>
              </a:spcBef>
            </a:pPr>
            <a:r>
              <a:rPr sz="1450" dirty="0">
                <a:solidFill>
                  <a:srgbClr val="373737"/>
                </a:solidFill>
                <a:latin typeface="Trebuchet MS"/>
                <a:cs typeface="Trebuchet MS"/>
              </a:rPr>
              <a:t>Eliminate</a:t>
            </a:r>
            <a:r>
              <a:rPr sz="1450" spc="-15" dirty="0">
                <a:solidFill>
                  <a:srgbClr val="373737"/>
                </a:solidFill>
                <a:latin typeface="Trebuchet MS"/>
                <a:cs typeface="Trebuchet MS"/>
              </a:rPr>
              <a:t> </a:t>
            </a:r>
            <a:r>
              <a:rPr sz="1450" spc="55" dirty="0">
                <a:solidFill>
                  <a:srgbClr val="373737"/>
                </a:solidFill>
                <a:latin typeface="Trebuchet MS"/>
                <a:cs typeface="Trebuchet MS"/>
              </a:rPr>
              <a:t>dedicated</a:t>
            </a:r>
            <a:r>
              <a:rPr sz="1450" spc="-10" dirty="0">
                <a:solidFill>
                  <a:srgbClr val="373737"/>
                </a:solidFill>
                <a:latin typeface="Trebuchet MS"/>
                <a:cs typeface="Trebuchet MS"/>
              </a:rPr>
              <a:t> </a:t>
            </a:r>
            <a:r>
              <a:rPr sz="1450" spc="35" dirty="0">
                <a:solidFill>
                  <a:srgbClr val="373737"/>
                </a:solidFill>
                <a:latin typeface="Trebuchet MS"/>
                <a:cs typeface="Trebuchet MS"/>
              </a:rPr>
              <a:t>Automation </a:t>
            </a:r>
            <a:r>
              <a:rPr sz="1450" spc="90" dirty="0">
                <a:solidFill>
                  <a:srgbClr val="373737"/>
                </a:solidFill>
                <a:latin typeface="Trebuchet MS"/>
                <a:cs typeface="Trebuchet MS"/>
              </a:rPr>
              <a:t>Accounts</a:t>
            </a:r>
            <a:r>
              <a:rPr sz="1450" spc="-40" dirty="0">
                <a:solidFill>
                  <a:srgbClr val="373737"/>
                </a:solidFill>
                <a:latin typeface="Trebuchet MS"/>
                <a:cs typeface="Trebuchet MS"/>
              </a:rPr>
              <a:t> </a:t>
            </a:r>
            <a:r>
              <a:rPr sz="1450" spc="70" dirty="0">
                <a:solidFill>
                  <a:srgbClr val="373737"/>
                </a:solidFill>
                <a:latin typeface="Trebuchet MS"/>
                <a:cs typeface="Trebuchet MS"/>
              </a:rPr>
              <a:t>and</a:t>
            </a:r>
            <a:r>
              <a:rPr sz="1450" spc="-35" dirty="0">
                <a:solidFill>
                  <a:srgbClr val="373737"/>
                </a:solidFill>
                <a:latin typeface="Trebuchet MS"/>
                <a:cs typeface="Trebuchet MS"/>
              </a:rPr>
              <a:t> </a:t>
            </a:r>
            <a:r>
              <a:rPr sz="1450" spc="75" dirty="0">
                <a:solidFill>
                  <a:srgbClr val="373737"/>
                </a:solidFill>
                <a:latin typeface="Trebuchet MS"/>
                <a:cs typeface="Trebuchet MS"/>
              </a:rPr>
              <a:t>unnecessary</a:t>
            </a:r>
            <a:r>
              <a:rPr sz="1450" spc="-35" dirty="0">
                <a:solidFill>
                  <a:srgbClr val="373737"/>
                </a:solidFill>
                <a:latin typeface="Trebuchet MS"/>
                <a:cs typeface="Trebuchet MS"/>
              </a:rPr>
              <a:t> </a:t>
            </a:r>
            <a:r>
              <a:rPr sz="1450" spc="30" dirty="0">
                <a:solidFill>
                  <a:srgbClr val="373737"/>
                </a:solidFill>
                <a:latin typeface="Trebuchet MS"/>
                <a:cs typeface="Trebuchet MS"/>
              </a:rPr>
              <a:t>Log </a:t>
            </a:r>
            <a:r>
              <a:rPr sz="1450" spc="50" dirty="0">
                <a:solidFill>
                  <a:srgbClr val="373737"/>
                </a:solidFill>
                <a:latin typeface="Trebuchet MS"/>
                <a:cs typeface="Trebuchet MS"/>
              </a:rPr>
              <a:t>Analytics</a:t>
            </a:r>
            <a:r>
              <a:rPr sz="1450" spc="120" dirty="0">
                <a:solidFill>
                  <a:srgbClr val="373737"/>
                </a:solidFill>
                <a:latin typeface="Trebuchet MS"/>
                <a:cs typeface="Trebuchet MS"/>
              </a:rPr>
              <a:t> </a:t>
            </a:r>
            <a:r>
              <a:rPr sz="1450" spc="10" dirty="0">
                <a:solidFill>
                  <a:srgbClr val="373737"/>
                </a:solidFill>
                <a:latin typeface="Trebuchet MS"/>
                <a:cs typeface="Trebuchet MS"/>
              </a:rPr>
              <a:t>workspaces,</a:t>
            </a:r>
            <a:r>
              <a:rPr sz="1450" spc="125" dirty="0">
                <a:solidFill>
                  <a:srgbClr val="373737"/>
                </a:solidFill>
                <a:latin typeface="Trebuchet MS"/>
                <a:cs typeface="Trebuchet MS"/>
              </a:rPr>
              <a:t> </a:t>
            </a:r>
            <a:r>
              <a:rPr sz="1450" spc="-10" dirty="0">
                <a:solidFill>
                  <a:srgbClr val="373737"/>
                </a:solidFill>
                <a:latin typeface="Trebuchet MS"/>
                <a:cs typeface="Trebuchet MS"/>
              </a:rPr>
              <a:t>directly </a:t>
            </a:r>
            <a:r>
              <a:rPr sz="1450" spc="45" dirty="0">
                <a:solidFill>
                  <a:srgbClr val="373737"/>
                </a:solidFill>
                <a:latin typeface="Trebuchet MS"/>
                <a:cs typeface="Trebuchet MS"/>
              </a:rPr>
              <a:t>reducing</a:t>
            </a:r>
            <a:r>
              <a:rPr sz="1450" spc="135" dirty="0">
                <a:solidFill>
                  <a:srgbClr val="373737"/>
                </a:solidFill>
                <a:latin typeface="Trebuchet MS"/>
                <a:cs typeface="Trebuchet MS"/>
              </a:rPr>
              <a:t> </a:t>
            </a:r>
            <a:r>
              <a:rPr sz="1450" dirty="0">
                <a:solidFill>
                  <a:srgbClr val="373737"/>
                </a:solidFill>
                <a:latin typeface="Trebuchet MS"/>
                <a:cs typeface="Trebuchet MS"/>
              </a:rPr>
              <a:t>licensing</a:t>
            </a:r>
            <a:r>
              <a:rPr sz="1450" spc="135" dirty="0">
                <a:solidFill>
                  <a:srgbClr val="373737"/>
                </a:solidFill>
                <a:latin typeface="Trebuchet MS"/>
                <a:cs typeface="Trebuchet MS"/>
              </a:rPr>
              <a:t> </a:t>
            </a:r>
            <a:r>
              <a:rPr sz="1450" spc="45" dirty="0">
                <a:solidFill>
                  <a:srgbClr val="373737"/>
                </a:solidFill>
                <a:latin typeface="Trebuchet MS"/>
                <a:cs typeface="Trebuchet MS"/>
              </a:rPr>
              <a:t>and </a:t>
            </a:r>
            <a:r>
              <a:rPr sz="1450" spc="-10" dirty="0">
                <a:solidFill>
                  <a:srgbClr val="373737"/>
                </a:solidFill>
                <a:latin typeface="Trebuchet MS"/>
                <a:cs typeface="Trebuchet MS"/>
              </a:rPr>
              <a:t>infrastructure</a:t>
            </a:r>
            <a:endParaRPr sz="1450">
              <a:latin typeface="Trebuchet MS"/>
              <a:cs typeface="Trebuchet MS"/>
            </a:endParaRPr>
          </a:p>
        </p:txBody>
      </p:sp>
      <p:grpSp>
        <p:nvGrpSpPr>
          <p:cNvPr id="9" name="object 9">
            <a:extLst>
              <a:ext uri="{FF2B5EF4-FFF2-40B4-BE49-F238E27FC236}">
                <a16:creationId xmlns:a16="http://schemas.microsoft.com/office/drawing/2014/main" id="{B9A554E3-926D-558C-62C2-C1006577458D}"/>
              </a:ext>
            </a:extLst>
          </p:cNvPr>
          <p:cNvGrpSpPr/>
          <p:nvPr/>
        </p:nvGrpSpPr>
        <p:grpSpPr>
          <a:xfrm>
            <a:off x="4343399" y="3057524"/>
            <a:ext cx="3505200" cy="3076575"/>
            <a:chOff x="4343399" y="3057524"/>
            <a:chExt cx="3505200" cy="3076575"/>
          </a:xfrm>
        </p:grpSpPr>
        <p:sp>
          <p:nvSpPr>
            <p:cNvPr id="17" name="object 10">
              <a:extLst>
                <a:ext uri="{FF2B5EF4-FFF2-40B4-BE49-F238E27FC236}">
                  <a16:creationId xmlns:a16="http://schemas.microsoft.com/office/drawing/2014/main" id="{6E6B36A0-9A7A-7520-9652-9FABBDAB267E}"/>
                </a:ext>
              </a:extLst>
            </p:cNvPr>
            <p:cNvSpPr/>
            <p:nvPr/>
          </p:nvSpPr>
          <p:spPr>
            <a:xfrm>
              <a:off x="4343399" y="3057524"/>
              <a:ext cx="3505200" cy="3076575"/>
            </a:xfrm>
            <a:custGeom>
              <a:avLst/>
              <a:gdLst/>
              <a:ahLst/>
              <a:cxnLst/>
              <a:rect l="l" t="t" r="r" b="b"/>
              <a:pathLst>
                <a:path w="3505200" h="3076575">
                  <a:moveTo>
                    <a:pt x="3484705" y="3076574"/>
                  </a:moveTo>
                  <a:lnTo>
                    <a:pt x="20494" y="3076574"/>
                  </a:lnTo>
                  <a:lnTo>
                    <a:pt x="17480" y="3075974"/>
                  </a:lnTo>
                  <a:lnTo>
                    <a:pt x="0" y="3056080"/>
                  </a:lnTo>
                  <a:lnTo>
                    <a:pt x="0" y="3052947"/>
                  </a:lnTo>
                  <a:lnTo>
                    <a:pt x="0" y="20494"/>
                  </a:lnTo>
                  <a:lnTo>
                    <a:pt x="20494" y="0"/>
                  </a:lnTo>
                  <a:lnTo>
                    <a:pt x="3484705" y="0"/>
                  </a:lnTo>
                  <a:lnTo>
                    <a:pt x="3505199" y="20494"/>
                  </a:lnTo>
                  <a:lnTo>
                    <a:pt x="3505199" y="3056080"/>
                  </a:lnTo>
                  <a:lnTo>
                    <a:pt x="3487719" y="3075974"/>
                  </a:lnTo>
                  <a:lnTo>
                    <a:pt x="3484705" y="3076574"/>
                  </a:lnTo>
                  <a:close/>
                </a:path>
              </a:pathLst>
            </a:custGeom>
            <a:solidFill>
              <a:srgbClr val="F1EDED"/>
            </a:solidFill>
          </p:spPr>
          <p:txBody>
            <a:bodyPr wrap="square" lIns="0" tIns="0" rIns="0" bIns="0" rtlCol="0"/>
            <a:lstStyle>
              <a:defPPr>
                <a:defRPr kern="0"/>
              </a:defPPr>
            </a:lstStyle>
            <a:p>
              <a:endParaRPr/>
            </a:p>
          </p:txBody>
        </p:sp>
        <p:sp>
          <p:nvSpPr>
            <p:cNvPr id="18" name="object 11">
              <a:extLst>
                <a:ext uri="{FF2B5EF4-FFF2-40B4-BE49-F238E27FC236}">
                  <a16:creationId xmlns:a16="http://schemas.microsoft.com/office/drawing/2014/main" id="{C83F10A6-D590-4315-EB7D-1E20AB9FFDDD}"/>
                </a:ext>
              </a:extLst>
            </p:cNvPr>
            <p:cNvSpPr/>
            <p:nvPr/>
          </p:nvSpPr>
          <p:spPr>
            <a:xfrm>
              <a:off x="4533899" y="3248024"/>
              <a:ext cx="571500" cy="571500"/>
            </a:xfrm>
            <a:custGeom>
              <a:avLst/>
              <a:gdLst/>
              <a:ahLst/>
              <a:cxnLst/>
              <a:rect l="l" t="t" r="r" b="b"/>
              <a:pathLst>
                <a:path w="571500" h="571500">
                  <a:moveTo>
                    <a:pt x="285749" y="571499"/>
                  </a:moveTo>
                  <a:lnTo>
                    <a:pt x="243821" y="568407"/>
                  </a:lnTo>
                  <a:lnTo>
                    <a:pt x="202800" y="559195"/>
                  </a:lnTo>
                  <a:lnTo>
                    <a:pt x="163575" y="544064"/>
                  </a:lnTo>
                  <a:lnTo>
                    <a:pt x="126994" y="523341"/>
                  </a:lnTo>
                  <a:lnTo>
                    <a:pt x="93851" y="497476"/>
                  </a:lnTo>
                  <a:lnTo>
                    <a:pt x="64862" y="467027"/>
                  </a:lnTo>
                  <a:lnTo>
                    <a:pt x="40653" y="432654"/>
                  </a:lnTo>
                  <a:lnTo>
                    <a:pt x="21751" y="395101"/>
                  </a:lnTo>
                  <a:lnTo>
                    <a:pt x="8563" y="355181"/>
                  </a:lnTo>
                  <a:lnTo>
                    <a:pt x="1376" y="313758"/>
                  </a:lnTo>
                  <a:lnTo>
                    <a:pt x="0" y="285749"/>
                  </a:lnTo>
                  <a:lnTo>
                    <a:pt x="344" y="271728"/>
                  </a:lnTo>
                  <a:lnTo>
                    <a:pt x="5490" y="230002"/>
                  </a:lnTo>
                  <a:lnTo>
                    <a:pt x="16703" y="189483"/>
                  </a:lnTo>
                  <a:lnTo>
                    <a:pt x="33740" y="151048"/>
                  </a:lnTo>
                  <a:lnTo>
                    <a:pt x="56233" y="115528"/>
                  </a:lnTo>
                  <a:lnTo>
                    <a:pt x="83693" y="83693"/>
                  </a:lnTo>
                  <a:lnTo>
                    <a:pt x="115528" y="56233"/>
                  </a:lnTo>
                  <a:lnTo>
                    <a:pt x="151048" y="33740"/>
                  </a:lnTo>
                  <a:lnTo>
                    <a:pt x="189483" y="16703"/>
                  </a:lnTo>
                  <a:lnTo>
                    <a:pt x="230002" y="5490"/>
                  </a:lnTo>
                  <a:lnTo>
                    <a:pt x="271728" y="344"/>
                  </a:lnTo>
                  <a:lnTo>
                    <a:pt x="285749" y="0"/>
                  </a:lnTo>
                  <a:lnTo>
                    <a:pt x="299771" y="344"/>
                  </a:lnTo>
                  <a:lnTo>
                    <a:pt x="341496" y="5490"/>
                  </a:lnTo>
                  <a:lnTo>
                    <a:pt x="382016" y="16703"/>
                  </a:lnTo>
                  <a:lnTo>
                    <a:pt x="420451" y="33740"/>
                  </a:lnTo>
                  <a:lnTo>
                    <a:pt x="455970" y="56233"/>
                  </a:lnTo>
                  <a:lnTo>
                    <a:pt x="487805" y="83693"/>
                  </a:lnTo>
                  <a:lnTo>
                    <a:pt x="515266" y="115528"/>
                  </a:lnTo>
                  <a:lnTo>
                    <a:pt x="537757" y="151048"/>
                  </a:lnTo>
                  <a:lnTo>
                    <a:pt x="554795" y="189483"/>
                  </a:lnTo>
                  <a:lnTo>
                    <a:pt x="566008" y="230002"/>
                  </a:lnTo>
                  <a:lnTo>
                    <a:pt x="571155" y="271728"/>
                  </a:lnTo>
                  <a:lnTo>
                    <a:pt x="571499" y="285749"/>
                  </a:lnTo>
                  <a:lnTo>
                    <a:pt x="571155" y="299771"/>
                  </a:lnTo>
                  <a:lnTo>
                    <a:pt x="566008" y="341496"/>
                  </a:lnTo>
                  <a:lnTo>
                    <a:pt x="554795" y="382015"/>
                  </a:lnTo>
                  <a:lnTo>
                    <a:pt x="537757" y="420451"/>
                  </a:lnTo>
                  <a:lnTo>
                    <a:pt x="515266" y="455970"/>
                  </a:lnTo>
                  <a:lnTo>
                    <a:pt x="487805" y="487805"/>
                  </a:lnTo>
                  <a:lnTo>
                    <a:pt x="455970" y="515266"/>
                  </a:lnTo>
                  <a:lnTo>
                    <a:pt x="420451" y="537758"/>
                  </a:lnTo>
                  <a:lnTo>
                    <a:pt x="382016" y="554796"/>
                  </a:lnTo>
                  <a:lnTo>
                    <a:pt x="341496" y="566009"/>
                  </a:lnTo>
                  <a:lnTo>
                    <a:pt x="299771" y="571155"/>
                  </a:lnTo>
                  <a:lnTo>
                    <a:pt x="285749" y="571499"/>
                  </a:lnTo>
                  <a:close/>
                </a:path>
              </a:pathLst>
            </a:custGeom>
            <a:solidFill>
              <a:srgbClr val="DF4E00"/>
            </a:solidFill>
          </p:spPr>
          <p:txBody>
            <a:bodyPr wrap="square" lIns="0" tIns="0" rIns="0" bIns="0" rtlCol="0"/>
            <a:lstStyle>
              <a:defPPr>
                <a:defRPr kern="0"/>
              </a:defPPr>
            </a:lstStyle>
            <a:p>
              <a:endParaRPr/>
            </a:p>
          </p:txBody>
        </p:sp>
        <p:pic>
          <p:nvPicPr>
            <p:cNvPr id="19" name="object 12">
              <a:extLst>
                <a:ext uri="{FF2B5EF4-FFF2-40B4-BE49-F238E27FC236}">
                  <a16:creationId xmlns:a16="http://schemas.microsoft.com/office/drawing/2014/main" id="{9BF8D5EF-5397-44CD-1939-6E322C0AEADF}"/>
                </a:ext>
              </a:extLst>
            </p:cNvPr>
            <p:cNvPicPr/>
            <p:nvPr/>
          </p:nvPicPr>
          <p:blipFill>
            <a:blip r:embed="rId3" cstate="print"/>
            <a:stretch>
              <a:fillRect/>
            </a:stretch>
          </p:blipFill>
          <p:spPr>
            <a:xfrm>
              <a:off x="4690322" y="3404286"/>
              <a:ext cx="266010" cy="266418"/>
            </a:xfrm>
            <a:prstGeom prst="rect">
              <a:avLst/>
            </a:prstGeom>
          </p:spPr>
        </p:pic>
      </p:grpSp>
      <p:sp>
        <p:nvSpPr>
          <p:cNvPr id="10" name="object 13">
            <a:extLst>
              <a:ext uri="{FF2B5EF4-FFF2-40B4-BE49-F238E27FC236}">
                <a16:creationId xmlns:a16="http://schemas.microsoft.com/office/drawing/2014/main" id="{09EA11C4-5AAD-D7EB-A2C6-317ADAB2BE9E}"/>
              </a:ext>
            </a:extLst>
          </p:cNvPr>
          <p:cNvSpPr txBox="1"/>
          <p:nvPr/>
        </p:nvSpPr>
        <p:spPr>
          <a:xfrm>
            <a:off x="4523730" y="3996943"/>
            <a:ext cx="3072130" cy="1911985"/>
          </a:xfrm>
          <a:prstGeom prst="rect">
            <a:avLst/>
          </a:prstGeom>
        </p:spPr>
        <p:txBody>
          <a:bodyPr vert="horz" wrap="square" lIns="0" tIns="5080" rIns="0" bIns="0" rtlCol="0">
            <a:spAutoFit/>
          </a:bodyPr>
          <a:lstStyle>
            <a:defPPr>
              <a:defRPr kern="0"/>
            </a:defPPr>
          </a:lstStyle>
          <a:p>
            <a:pPr marL="12700" marR="588010">
              <a:lnSpc>
                <a:spcPct val="102600"/>
              </a:lnSpc>
              <a:spcBef>
                <a:spcPts val="40"/>
              </a:spcBef>
            </a:pPr>
            <a:r>
              <a:rPr sz="1950" spc="-20" dirty="0">
                <a:solidFill>
                  <a:srgbClr val="373737"/>
                </a:solidFill>
                <a:latin typeface="Georgia"/>
                <a:cs typeface="Georgia"/>
              </a:rPr>
              <a:t>Enhanced</a:t>
            </a:r>
            <a:r>
              <a:rPr sz="1950" spc="-50" dirty="0">
                <a:solidFill>
                  <a:srgbClr val="373737"/>
                </a:solidFill>
                <a:latin typeface="Georgia"/>
                <a:cs typeface="Georgia"/>
              </a:rPr>
              <a:t> </a:t>
            </a:r>
            <a:r>
              <a:rPr sz="1950" spc="-10" dirty="0">
                <a:solidFill>
                  <a:srgbClr val="373737"/>
                </a:solidFill>
                <a:latin typeface="Georgia"/>
                <a:cs typeface="Georgia"/>
              </a:rPr>
              <a:t>Operational Efficiency</a:t>
            </a:r>
            <a:endParaRPr sz="1950">
              <a:latin typeface="Georgia"/>
              <a:cs typeface="Georgia"/>
            </a:endParaRPr>
          </a:p>
          <a:p>
            <a:pPr marL="12700" marR="5080">
              <a:lnSpc>
                <a:spcPct val="136500"/>
              </a:lnSpc>
              <a:spcBef>
                <a:spcPts val="600"/>
              </a:spcBef>
            </a:pPr>
            <a:r>
              <a:rPr sz="1450" spc="50" dirty="0">
                <a:solidFill>
                  <a:srgbClr val="373737"/>
                </a:solidFill>
                <a:latin typeface="Trebuchet MS"/>
                <a:cs typeface="Trebuchet MS"/>
              </a:rPr>
              <a:t>Automate</a:t>
            </a:r>
            <a:r>
              <a:rPr sz="1450" spc="-20" dirty="0">
                <a:solidFill>
                  <a:srgbClr val="373737"/>
                </a:solidFill>
                <a:latin typeface="Trebuchet MS"/>
                <a:cs typeface="Trebuchet MS"/>
              </a:rPr>
              <a:t> </a:t>
            </a:r>
            <a:r>
              <a:rPr sz="1450" spc="45" dirty="0">
                <a:solidFill>
                  <a:srgbClr val="373737"/>
                </a:solidFill>
                <a:latin typeface="Trebuchet MS"/>
                <a:cs typeface="Trebuchet MS"/>
              </a:rPr>
              <a:t>patching</a:t>
            </a:r>
            <a:r>
              <a:rPr sz="1450" spc="-20" dirty="0">
                <a:solidFill>
                  <a:srgbClr val="373737"/>
                </a:solidFill>
                <a:latin typeface="Trebuchet MS"/>
                <a:cs typeface="Trebuchet MS"/>
              </a:rPr>
              <a:t> </a:t>
            </a:r>
            <a:r>
              <a:rPr sz="1450" spc="85" dirty="0">
                <a:solidFill>
                  <a:srgbClr val="373737"/>
                </a:solidFill>
                <a:latin typeface="Trebuchet MS"/>
                <a:cs typeface="Trebuchet MS"/>
              </a:rPr>
              <a:t>across</a:t>
            </a:r>
            <a:r>
              <a:rPr sz="1450" spc="-20" dirty="0">
                <a:solidFill>
                  <a:srgbClr val="373737"/>
                </a:solidFill>
                <a:latin typeface="Trebuchet MS"/>
                <a:cs typeface="Trebuchet MS"/>
              </a:rPr>
              <a:t> </a:t>
            </a:r>
            <a:r>
              <a:rPr sz="1450" spc="-10" dirty="0">
                <a:solidFill>
                  <a:srgbClr val="373737"/>
                </a:solidFill>
                <a:latin typeface="Trebuchet MS"/>
                <a:cs typeface="Trebuchet MS"/>
              </a:rPr>
              <a:t>diverse </a:t>
            </a:r>
            <a:r>
              <a:rPr sz="1450" spc="-25" dirty="0">
                <a:solidFill>
                  <a:srgbClr val="373737"/>
                </a:solidFill>
                <a:latin typeface="Trebuchet MS"/>
                <a:cs typeface="Trebuchet MS"/>
              </a:rPr>
              <a:t>fleets,</a:t>
            </a:r>
            <a:r>
              <a:rPr sz="1450" spc="20" dirty="0">
                <a:solidFill>
                  <a:srgbClr val="373737"/>
                </a:solidFill>
                <a:latin typeface="Trebuchet MS"/>
                <a:cs typeface="Trebuchet MS"/>
              </a:rPr>
              <a:t> </a:t>
            </a:r>
            <a:r>
              <a:rPr sz="1450" dirty="0">
                <a:solidFill>
                  <a:srgbClr val="373737"/>
                </a:solidFill>
                <a:latin typeface="Trebuchet MS"/>
                <a:cs typeface="Trebuchet MS"/>
              </a:rPr>
              <a:t>lowering</a:t>
            </a:r>
            <a:r>
              <a:rPr sz="1450" spc="20" dirty="0">
                <a:solidFill>
                  <a:srgbClr val="373737"/>
                </a:solidFill>
                <a:latin typeface="Trebuchet MS"/>
                <a:cs typeface="Trebuchet MS"/>
              </a:rPr>
              <a:t> </a:t>
            </a:r>
            <a:r>
              <a:rPr sz="1450" dirty="0">
                <a:solidFill>
                  <a:srgbClr val="373737"/>
                </a:solidFill>
                <a:latin typeface="Trebuchet MS"/>
                <a:cs typeface="Trebuchet MS"/>
              </a:rPr>
              <a:t>labor</a:t>
            </a:r>
            <a:r>
              <a:rPr sz="1450" spc="20" dirty="0">
                <a:solidFill>
                  <a:srgbClr val="373737"/>
                </a:solidFill>
                <a:latin typeface="Trebuchet MS"/>
                <a:cs typeface="Trebuchet MS"/>
              </a:rPr>
              <a:t> </a:t>
            </a:r>
            <a:r>
              <a:rPr sz="1450" spc="100" dirty="0">
                <a:solidFill>
                  <a:srgbClr val="373737"/>
                </a:solidFill>
                <a:latin typeface="Trebuchet MS"/>
                <a:cs typeface="Trebuchet MS"/>
              </a:rPr>
              <a:t>costs</a:t>
            </a:r>
            <a:r>
              <a:rPr sz="1450" spc="20" dirty="0">
                <a:solidFill>
                  <a:srgbClr val="373737"/>
                </a:solidFill>
                <a:latin typeface="Trebuchet MS"/>
                <a:cs typeface="Trebuchet MS"/>
              </a:rPr>
              <a:t> </a:t>
            </a:r>
            <a:r>
              <a:rPr sz="1450" spc="45" dirty="0">
                <a:solidFill>
                  <a:srgbClr val="373737"/>
                </a:solidFill>
                <a:latin typeface="Trebuchet MS"/>
                <a:cs typeface="Trebuchet MS"/>
              </a:rPr>
              <a:t>and </a:t>
            </a:r>
            <a:r>
              <a:rPr sz="1450" dirty="0">
                <a:solidFill>
                  <a:srgbClr val="373737"/>
                </a:solidFill>
                <a:latin typeface="Trebuchet MS"/>
                <a:cs typeface="Trebuchet MS"/>
              </a:rPr>
              <a:t>reallocating</a:t>
            </a:r>
            <a:r>
              <a:rPr sz="1450" spc="35" dirty="0">
                <a:solidFill>
                  <a:srgbClr val="373737"/>
                </a:solidFill>
                <a:latin typeface="Trebuchet MS"/>
                <a:cs typeface="Trebuchet MS"/>
              </a:rPr>
              <a:t> </a:t>
            </a:r>
            <a:r>
              <a:rPr sz="1450" spc="-10" dirty="0">
                <a:solidFill>
                  <a:srgbClr val="373737"/>
                </a:solidFill>
                <a:latin typeface="Trebuchet MS"/>
                <a:cs typeface="Trebuchet MS"/>
              </a:rPr>
              <a:t>IT</a:t>
            </a:r>
            <a:r>
              <a:rPr sz="1450" spc="40" dirty="0">
                <a:solidFill>
                  <a:srgbClr val="373737"/>
                </a:solidFill>
                <a:latin typeface="Trebuchet MS"/>
                <a:cs typeface="Trebuchet MS"/>
              </a:rPr>
              <a:t> </a:t>
            </a:r>
            <a:r>
              <a:rPr sz="1450" dirty="0">
                <a:solidFill>
                  <a:srgbClr val="373737"/>
                </a:solidFill>
                <a:latin typeface="Trebuchet MS"/>
                <a:cs typeface="Trebuchet MS"/>
              </a:rPr>
              <a:t>staff</a:t>
            </a:r>
            <a:r>
              <a:rPr sz="1450" spc="40" dirty="0">
                <a:solidFill>
                  <a:srgbClr val="373737"/>
                </a:solidFill>
                <a:latin typeface="Trebuchet MS"/>
                <a:cs typeface="Trebuchet MS"/>
              </a:rPr>
              <a:t> </a:t>
            </a:r>
            <a:r>
              <a:rPr sz="1450" dirty="0">
                <a:solidFill>
                  <a:srgbClr val="373737"/>
                </a:solidFill>
                <a:latin typeface="Trebuchet MS"/>
                <a:cs typeface="Trebuchet MS"/>
              </a:rPr>
              <a:t>to</a:t>
            </a:r>
            <a:r>
              <a:rPr sz="1450" spc="40" dirty="0">
                <a:solidFill>
                  <a:srgbClr val="373737"/>
                </a:solidFill>
                <a:latin typeface="Trebuchet MS"/>
                <a:cs typeface="Trebuchet MS"/>
              </a:rPr>
              <a:t> </a:t>
            </a:r>
            <a:r>
              <a:rPr sz="1450" spc="60" dirty="0">
                <a:solidFill>
                  <a:srgbClr val="373737"/>
                </a:solidFill>
                <a:latin typeface="Trebuchet MS"/>
                <a:cs typeface="Trebuchet MS"/>
              </a:rPr>
              <a:t>higher-</a:t>
            </a:r>
            <a:r>
              <a:rPr sz="1450" spc="-20" dirty="0">
                <a:solidFill>
                  <a:srgbClr val="373737"/>
                </a:solidFill>
                <a:latin typeface="Trebuchet MS"/>
                <a:cs typeface="Trebuchet MS"/>
              </a:rPr>
              <a:t>value </a:t>
            </a:r>
            <a:r>
              <a:rPr sz="1450" dirty="0">
                <a:solidFill>
                  <a:srgbClr val="373737"/>
                </a:solidFill>
                <a:latin typeface="Trebuchet MS"/>
                <a:cs typeface="Trebuchet MS"/>
              </a:rPr>
              <a:t>strategic</a:t>
            </a:r>
            <a:r>
              <a:rPr sz="1450" spc="275" dirty="0">
                <a:solidFill>
                  <a:srgbClr val="373737"/>
                </a:solidFill>
                <a:latin typeface="Trebuchet MS"/>
                <a:cs typeface="Trebuchet MS"/>
              </a:rPr>
              <a:t> </a:t>
            </a:r>
            <a:r>
              <a:rPr sz="1450" spc="-10" dirty="0">
                <a:solidFill>
                  <a:srgbClr val="373737"/>
                </a:solidFill>
                <a:latin typeface="Trebuchet MS"/>
                <a:cs typeface="Trebuchet MS"/>
              </a:rPr>
              <a:t>projects.</a:t>
            </a:r>
            <a:endParaRPr sz="1450">
              <a:latin typeface="Trebuchet MS"/>
              <a:cs typeface="Trebuchet MS"/>
            </a:endParaRPr>
          </a:p>
        </p:txBody>
      </p:sp>
      <p:grpSp>
        <p:nvGrpSpPr>
          <p:cNvPr id="11" name="object 14">
            <a:extLst>
              <a:ext uri="{FF2B5EF4-FFF2-40B4-BE49-F238E27FC236}">
                <a16:creationId xmlns:a16="http://schemas.microsoft.com/office/drawing/2014/main" id="{5EA21BFB-A7DC-D40D-CF00-B2324A0124EB}"/>
              </a:ext>
            </a:extLst>
          </p:cNvPr>
          <p:cNvGrpSpPr/>
          <p:nvPr/>
        </p:nvGrpSpPr>
        <p:grpSpPr>
          <a:xfrm>
            <a:off x="8029573" y="3057524"/>
            <a:ext cx="3505200" cy="3076575"/>
            <a:chOff x="8029573" y="3057524"/>
            <a:chExt cx="3505200" cy="3076575"/>
          </a:xfrm>
        </p:grpSpPr>
        <p:sp>
          <p:nvSpPr>
            <p:cNvPr id="13" name="object 15">
              <a:extLst>
                <a:ext uri="{FF2B5EF4-FFF2-40B4-BE49-F238E27FC236}">
                  <a16:creationId xmlns:a16="http://schemas.microsoft.com/office/drawing/2014/main" id="{FF71E900-36A3-7EAB-F662-4775EF2657CE}"/>
                </a:ext>
              </a:extLst>
            </p:cNvPr>
            <p:cNvSpPr/>
            <p:nvPr/>
          </p:nvSpPr>
          <p:spPr>
            <a:xfrm>
              <a:off x="8029573" y="3057524"/>
              <a:ext cx="3505200" cy="3076575"/>
            </a:xfrm>
            <a:custGeom>
              <a:avLst/>
              <a:gdLst/>
              <a:ahLst/>
              <a:cxnLst/>
              <a:rect l="l" t="t" r="r" b="b"/>
              <a:pathLst>
                <a:path w="3505200" h="3076575">
                  <a:moveTo>
                    <a:pt x="3484706" y="3076574"/>
                  </a:moveTo>
                  <a:lnTo>
                    <a:pt x="20494" y="3076574"/>
                  </a:lnTo>
                  <a:lnTo>
                    <a:pt x="17479" y="3075974"/>
                  </a:lnTo>
                  <a:lnTo>
                    <a:pt x="0" y="3056080"/>
                  </a:lnTo>
                  <a:lnTo>
                    <a:pt x="0" y="3052947"/>
                  </a:lnTo>
                  <a:lnTo>
                    <a:pt x="0" y="20494"/>
                  </a:lnTo>
                  <a:lnTo>
                    <a:pt x="20494" y="0"/>
                  </a:lnTo>
                  <a:lnTo>
                    <a:pt x="3484706" y="0"/>
                  </a:lnTo>
                  <a:lnTo>
                    <a:pt x="3505199" y="20494"/>
                  </a:lnTo>
                  <a:lnTo>
                    <a:pt x="3505199" y="3056080"/>
                  </a:lnTo>
                  <a:lnTo>
                    <a:pt x="3487719" y="3075974"/>
                  </a:lnTo>
                  <a:lnTo>
                    <a:pt x="3484706" y="3076574"/>
                  </a:lnTo>
                  <a:close/>
                </a:path>
              </a:pathLst>
            </a:custGeom>
            <a:solidFill>
              <a:srgbClr val="F1EDED"/>
            </a:solidFill>
          </p:spPr>
          <p:txBody>
            <a:bodyPr wrap="square" lIns="0" tIns="0" rIns="0" bIns="0" rtlCol="0"/>
            <a:lstStyle>
              <a:defPPr>
                <a:defRPr kern="0"/>
              </a:defPPr>
            </a:lstStyle>
            <a:p>
              <a:endParaRPr/>
            </a:p>
          </p:txBody>
        </p:sp>
        <p:sp>
          <p:nvSpPr>
            <p:cNvPr id="14" name="object 16">
              <a:extLst>
                <a:ext uri="{FF2B5EF4-FFF2-40B4-BE49-F238E27FC236}">
                  <a16:creationId xmlns:a16="http://schemas.microsoft.com/office/drawing/2014/main" id="{3BD237A7-A01F-A36B-A91C-AC5F50A9F971}"/>
                </a:ext>
              </a:extLst>
            </p:cNvPr>
            <p:cNvSpPr/>
            <p:nvPr/>
          </p:nvSpPr>
          <p:spPr>
            <a:xfrm>
              <a:off x="8220074" y="3248024"/>
              <a:ext cx="571500" cy="571500"/>
            </a:xfrm>
            <a:custGeom>
              <a:avLst/>
              <a:gdLst/>
              <a:ahLst/>
              <a:cxnLst/>
              <a:rect l="l" t="t" r="r" b="b"/>
              <a:pathLst>
                <a:path w="571500" h="571500">
                  <a:moveTo>
                    <a:pt x="285749" y="571499"/>
                  </a:moveTo>
                  <a:lnTo>
                    <a:pt x="243821" y="568407"/>
                  </a:lnTo>
                  <a:lnTo>
                    <a:pt x="202800" y="559195"/>
                  </a:lnTo>
                  <a:lnTo>
                    <a:pt x="163575" y="544064"/>
                  </a:lnTo>
                  <a:lnTo>
                    <a:pt x="126995" y="523341"/>
                  </a:lnTo>
                  <a:lnTo>
                    <a:pt x="93851" y="497476"/>
                  </a:lnTo>
                  <a:lnTo>
                    <a:pt x="64861" y="467027"/>
                  </a:lnTo>
                  <a:lnTo>
                    <a:pt x="40652" y="432654"/>
                  </a:lnTo>
                  <a:lnTo>
                    <a:pt x="21750" y="395101"/>
                  </a:lnTo>
                  <a:lnTo>
                    <a:pt x="8562" y="355181"/>
                  </a:lnTo>
                  <a:lnTo>
                    <a:pt x="1376" y="313758"/>
                  </a:lnTo>
                  <a:lnTo>
                    <a:pt x="0" y="285749"/>
                  </a:lnTo>
                  <a:lnTo>
                    <a:pt x="344" y="271728"/>
                  </a:lnTo>
                  <a:lnTo>
                    <a:pt x="5489" y="230002"/>
                  </a:lnTo>
                  <a:lnTo>
                    <a:pt x="16702" y="189483"/>
                  </a:lnTo>
                  <a:lnTo>
                    <a:pt x="33740" y="151048"/>
                  </a:lnTo>
                  <a:lnTo>
                    <a:pt x="56232" y="115528"/>
                  </a:lnTo>
                  <a:lnTo>
                    <a:pt x="83693" y="83693"/>
                  </a:lnTo>
                  <a:lnTo>
                    <a:pt x="115528" y="56233"/>
                  </a:lnTo>
                  <a:lnTo>
                    <a:pt x="151047" y="33740"/>
                  </a:lnTo>
                  <a:lnTo>
                    <a:pt x="189483" y="16703"/>
                  </a:lnTo>
                  <a:lnTo>
                    <a:pt x="230002" y="5490"/>
                  </a:lnTo>
                  <a:lnTo>
                    <a:pt x="271729" y="344"/>
                  </a:lnTo>
                  <a:lnTo>
                    <a:pt x="285749" y="0"/>
                  </a:lnTo>
                  <a:lnTo>
                    <a:pt x="299771" y="344"/>
                  </a:lnTo>
                  <a:lnTo>
                    <a:pt x="341495" y="5490"/>
                  </a:lnTo>
                  <a:lnTo>
                    <a:pt x="382016" y="16703"/>
                  </a:lnTo>
                  <a:lnTo>
                    <a:pt x="420451" y="33740"/>
                  </a:lnTo>
                  <a:lnTo>
                    <a:pt x="455970" y="56233"/>
                  </a:lnTo>
                  <a:lnTo>
                    <a:pt x="487805" y="83693"/>
                  </a:lnTo>
                  <a:lnTo>
                    <a:pt x="515266" y="115528"/>
                  </a:lnTo>
                  <a:lnTo>
                    <a:pt x="537758" y="151048"/>
                  </a:lnTo>
                  <a:lnTo>
                    <a:pt x="554795" y="189483"/>
                  </a:lnTo>
                  <a:lnTo>
                    <a:pt x="566008" y="230002"/>
                  </a:lnTo>
                  <a:lnTo>
                    <a:pt x="571155" y="271728"/>
                  </a:lnTo>
                  <a:lnTo>
                    <a:pt x="571499" y="285749"/>
                  </a:lnTo>
                  <a:lnTo>
                    <a:pt x="571155" y="299771"/>
                  </a:lnTo>
                  <a:lnTo>
                    <a:pt x="566008" y="341496"/>
                  </a:lnTo>
                  <a:lnTo>
                    <a:pt x="554795" y="382015"/>
                  </a:lnTo>
                  <a:lnTo>
                    <a:pt x="537758" y="420451"/>
                  </a:lnTo>
                  <a:lnTo>
                    <a:pt x="515265" y="455970"/>
                  </a:lnTo>
                  <a:lnTo>
                    <a:pt x="487805" y="487805"/>
                  </a:lnTo>
                  <a:lnTo>
                    <a:pt x="455970" y="515266"/>
                  </a:lnTo>
                  <a:lnTo>
                    <a:pt x="420451" y="537758"/>
                  </a:lnTo>
                  <a:lnTo>
                    <a:pt x="382016" y="554796"/>
                  </a:lnTo>
                  <a:lnTo>
                    <a:pt x="341495" y="566009"/>
                  </a:lnTo>
                  <a:lnTo>
                    <a:pt x="299771" y="571155"/>
                  </a:lnTo>
                  <a:lnTo>
                    <a:pt x="285749" y="571499"/>
                  </a:lnTo>
                  <a:close/>
                </a:path>
              </a:pathLst>
            </a:custGeom>
            <a:solidFill>
              <a:srgbClr val="DF4E00"/>
            </a:solidFill>
          </p:spPr>
          <p:txBody>
            <a:bodyPr wrap="square" lIns="0" tIns="0" rIns="0" bIns="0" rtlCol="0"/>
            <a:lstStyle>
              <a:defPPr>
                <a:defRPr kern="0"/>
              </a:defPPr>
            </a:lstStyle>
            <a:p>
              <a:endParaRPr/>
            </a:p>
          </p:txBody>
        </p:sp>
        <p:sp>
          <p:nvSpPr>
            <p:cNvPr id="15" name="object 17">
              <a:extLst>
                <a:ext uri="{FF2B5EF4-FFF2-40B4-BE49-F238E27FC236}">
                  <a16:creationId xmlns:a16="http://schemas.microsoft.com/office/drawing/2014/main" id="{D565EE10-CD40-66AC-E95B-06C5CD95AF4E}"/>
                </a:ext>
              </a:extLst>
            </p:cNvPr>
            <p:cNvSpPr/>
            <p:nvPr/>
          </p:nvSpPr>
          <p:spPr>
            <a:xfrm>
              <a:off x="8381999" y="3422071"/>
              <a:ext cx="255270" cy="231140"/>
            </a:xfrm>
            <a:custGeom>
              <a:avLst/>
              <a:gdLst/>
              <a:ahLst/>
              <a:cxnLst/>
              <a:rect l="l" t="t" r="r" b="b"/>
              <a:pathLst>
                <a:path w="255270" h="231139">
                  <a:moveTo>
                    <a:pt x="0" y="0"/>
                  </a:moveTo>
                  <a:lnTo>
                    <a:pt x="14" y="230848"/>
                  </a:lnTo>
                  <a:lnTo>
                    <a:pt x="255091" y="230843"/>
                  </a:lnTo>
                </a:path>
              </a:pathLst>
            </a:custGeom>
            <a:ln w="11365">
              <a:solidFill>
                <a:srgbClr val="FFFFFF"/>
              </a:solidFill>
            </a:ln>
          </p:spPr>
          <p:txBody>
            <a:bodyPr wrap="square" lIns="0" tIns="0" rIns="0" bIns="0" rtlCol="0"/>
            <a:lstStyle>
              <a:defPPr>
                <a:defRPr kern="0"/>
              </a:defPPr>
            </a:lstStyle>
            <a:p>
              <a:endParaRPr/>
            </a:p>
          </p:txBody>
        </p:sp>
        <p:pic>
          <p:nvPicPr>
            <p:cNvPr id="16" name="object 18">
              <a:extLst>
                <a:ext uri="{FF2B5EF4-FFF2-40B4-BE49-F238E27FC236}">
                  <a16:creationId xmlns:a16="http://schemas.microsoft.com/office/drawing/2014/main" id="{A529589D-C53D-A695-C90C-683BB9858818}"/>
                </a:ext>
              </a:extLst>
            </p:cNvPr>
            <p:cNvPicPr/>
            <p:nvPr/>
          </p:nvPicPr>
          <p:blipFill>
            <a:blip r:embed="rId4" cstate="print"/>
            <a:stretch>
              <a:fillRect/>
            </a:stretch>
          </p:blipFill>
          <p:spPr>
            <a:xfrm>
              <a:off x="8406338" y="3441691"/>
              <a:ext cx="225062" cy="169561"/>
            </a:xfrm>
            <a:prstGeom prst="rect">
              <a:avLst/>
            </a:prstGeom>
          </p:spPr>
        </p:pic>
      </p:grpSp>
      <p:sp>
        <p:nvSpPr>
          <p:cNvPr id="12" name="object 19">
            <a:extLst>
              <a:ext uri="{FF2B5EF4-FFF2-40B4-BE49-F238E27FC236}">
                <a16:creationId xmlns:a16="http://schemas.microsoft.com/office/drawing/2014/main" id="{2A23AD8A-36E9-28CF-9F0E-23DAF96D6FC4}"/>
              </a:ext>
            </a:extLst>
          </p:cNvPr>
          <p:cNvSpPr txBox="1"/>
          <p:nvPr/>
        </p:nvSpPr>
        <p:spPr>
          <a:xfrm>
            <a:off x="8209756" y="3996943"/>
            <a:ext cx="2689225" cy="1911985"/>
          </a:xfrm>
          <a:prstGeom prst="rect">
            <a:avLst/>
          </a:prstGeom>
        </p:spPr>
        <p:txBody>
          <a:bodyPr vert="horz" wrap="square" lIns="0" tIns="5080" rIns="0" bIns="0" rtlCol="0">
            <a:spAutoFit/>
          </a:bodyPr>
          <a:lstStyle>
            <a:defPPr>
              <a:defRPr kern="0"/>
            </a:defPPr>
          </a:lstStyle>
          <a:p>
            <a:pPr marL="12700" marR="455930">
              <a:lnSpc>
                <a:spcPct val="102600"/>
              </a:lnSpc>
              <a:spcBef>
                <a:spcPts val="40"/>
              </a:spcBef>
            </a:pPr>
            <a:r>
              <a:rPr sz="1950" dirty="0">
                <a:solidFill>
                  <a:srgbClr val="373737"/>
                </a:solidFill>
                <a:latin typeface="Georgia"/>
                <a:cs typeface="Georgia"/>
              </a:rPr>
              <a:t>Optimized</a:t>
            </a:r>
            <a:r>
              <a:rPr sz="1950" spc="5" dirty="0">
                <a:solidFill>
                  <a:srgbClr val="373737"/>
                </a:solidFill>
                <a:latin typeface="Georgia"/>
                <a:cs typeface="Georgia"/>
              </a:rPr>
              <a:t> </a:t>
            </a:r>
            <a:r>
              <a:rPr sz="1950" spc="-10" dirty="0">
                <a:solidFill>
                  <a:srgbClr val="373737"/>
                </a:solidFill>
                <a:latin typeface="Georgia"/>
                <a:cs typeface="Georgia"/>
              </a:rPr>
              <a:t>Resource Utilization</a:t>
            </a:r>
            <a:endParaRPr sz="1950">
              <a:latin typeface="Georgia"/>
              <a:cs typeface="Georgia"/>
            </a:endParaRPr>
          </a:p>
          <a:p>
            <a:pPr marL="12700" marR="5080">
              <a:lnSpc>
                <a:spcPct val="136500"/>
              </a:lnSpc>
              <a:spcBef>
                <a:spcPts val="600"/>
              </a:spcBef>
            </a:pPr>
            <a:r>
              <a:rPr sz="1450" dirty="0">
                <a:solidFill>
                  <a:srgbClr val="373737"/>
                </a:solidFill>
                <a:latin typeface="Trebuchet MS"/>
                <a:cs typeface="Trebuchet MS"/>
              </a:rPr>
              <a:t>Minimize</a:t>
            </a:r>
            <a:r>
              <a:rPr sz="1450" spc="130" dirty="0">
                <a:solidFill>
                  <a:srgbClr val="373737"/>
                </a:solidFill>
                <a:latin typeface="Trebuchet MS"/>
                <a:cs typeface="Trebuchet MS"/>
              </a:rPr>
              <a:t> </a:t>
            </a:r>
            <a:r>
              <a:rPr sz="1450" dirty="0">
                <a:solidFill>
                  <a:srgbClr val="373737"/>
                </a:solidFill>
                <a:latin typeface="Trebuchet MS"/>
                <a:cs typeface="Trebuchet MS"/>
              </a:rPr>
              <a:t>server</a:t>
            </a:r>
            <a:r>
              <a:rPr sz="1450" spc="130" dirty="0">
                <a:solidFill>
                  <a:srgbClr val="373737"/>
                </a:solidFill>
                <a:latin typeface="Trebuchet MS"/>
                <a:cs typeface="Trebuchet MS"/>
              </a:rPr>
              <a:t> </a:t>
            </a:r>
            <a:r>
              <a:rPr sz="1450" spc="45" dirty="0">
                <a:solidFill>
                  <a:srgbClr val="373737"/>
                </a:solidFill>
                <a:latin typeface="Trebuchet MS"/>
                <a:cs typeface="Trebuchet MS"/>
              </a:rPr>
              <a:t>downtime</a:t>
            </a:r>
            <a:r>
              <a:rPr sz="1450" spc="130" dirty="0">
                <a:solidFill>
                  <a:srgbClr val="373737"/>
                </a:solidFill>
                <a:latin typeface="Trebuchet MS"/>
                <a:cs typeface="Trebuchet MS"/>
              </a:rPr>
              <a:t> </a:t>
            </a:r>
            <a:r>
              <a:rPr sz="1450" spc="45" dirty="0">
                <a:solidFill>
                  <a:srgbClr val="373737"/>
                </a:solidFill>
                <a:latin typeface="Trebuchet MS"/>
                <a:cs typeface="Trebuchet MS"/>
              </a:rPr>
              <a:t>and </a:t>
            </a:r>
            <a:r>
              <a:rPr sz="1450" dirty="0">
                <a:solidFill>
                  <a:srgbClr val="373737"/>
                </a:solidFill>
                <a:latin typeface="Trebuchet MS"/>
                <a:cs typeface="Trebuchet MS"/>
              </a:rPr>
              <a:t>improve</a:t>
            </a:r>
            <a:r>
              <a:rPr sz="1450" spc="105" dirty="0">
                <a:solidFill>
                  <a:srgbClr val="373737"/>
                </a:solidFill>
                <a:latin typeface="Trebuchet MS"/>
                <a:cs typeface="Trebuchet MS"/>
              </a:rPr>
              <a:t> </a:t>
            </a:r>
            <a:r>
              <a:rPr sz="1450" spc="45" dirty="0">
                <a:solidFill>
                  <a:srgbClr val="373737"/>
                </a:solidFill>
                <a:latin typeface="Trebuchet MS"/>
                <a:cs typeface="Trebuchet MS"/>
              </a:rPr>
              <a:t>performance</a:t>
            </a:r>
            <a:r>
              <a:rPr sz="1450" spc="110" dirty="0">
                <a:solidFill>
                  <a:srgbClr val="373737"/>
                </a:solidFill>
                <a:latin typeface="Trebuchet MS"/>
                <a:cs typeface="Trebuchet MS"/>
              </a:rPr>
              <a:t> </a:t>
            </a:r>
            <a:r>
              <a:rPr sz="1450" spc="35" dirty="0">
                <a:solidFill>
                  <a:srgbClr val="373737"/>
                </a:solidFill>
                <a:latin typeface="Trebuchet MS"/>
                <a:cs typeface="Trebuchet MS"/>
              </a:rPr>
              <a:t>through </a:t>
            </a:r>
            <a:r>
              <a:rPr sz="1450" spc="-25" dirty="0">
                <a:solidFill>
                  <a:srgbClr val="373737"/>
                </a:solidFill>
                <a:latin typeface="Trebuchet MS"/>
                <a:cs typeface="Trebuchet MS"/>
              </a:rPr>
              <a:t>intelligent,</a:t>
            </a:r>
            <a:r>
              <a:rPr sz="1450" spc="20" dirty="0">
                <a:solidFill>
                  <a:srgbClr val="373737"/>
                </a:solidFill>
                <a:latin typeface="Trebuchet MS"/>
                <a:cs typeface="Trebuchet MS"/>
              </a:rPr>
              <a:t> </a:t>
            </a:r>
            <a:r>
              <a:rPr sz="1450" spc="75" dirty="0">
                <a:solidFill>
                  <a:srgbClr val="373737"/>
                </a:solidFill>
                <a:latin typeface="Trebuchet MS"/>
                <a:cs typeface="Trebuchet MS"/>
              </a:rPr>
              <a:t>policy-</a:t>
            </a:r>
            <a:r>
              <a:rPr sz="1450" spc="-10" dirty="0">
                <a:solidFill>
                  <a:srgbClr val="373737"/>
                </a:solidFill>
                <a:latin typeface="Trebuchet MS"/>
                <a:cs typeface="Trebuchet MS"/>
              </a:rPr>
              <a:t>driven </a:t>
            </a:r>
            <a:r>
              <a:rPr sz="1450" spc="45" dirty="0">
                <a:solidFill>
                  <a:srgbClr val="373737"/>
                </a:solidFill>
                <a:latin typeface="Trebuchet MS"/>
                <a:cs typeface="Trebuchet MS"/>
              </a:rPr>
              <a:t>scheduling</a:t>
            </a:r>
            <a:endParaRPr sz="1450">
              <a:latin typeface="Trebuchet MS"/>
              <a:cs typeface="Trebuchet MS"/>
            </a:endParaRPr>
          </a:p>
        </p:txBody>
      </p:sp>
    </p:spTree>
    <p:extLst>
      <p:ext uri="{BB962C8B-B14F-4D97-AF65-F5344CB8AC3E}">
        <p14:creationId xmlns:p14="http://schemas.microsoft.com/office/powerpoint/2010/main" val="2917165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21D215-9FEE-A134-44AD-A7C614AF2D3A}"/>
              </a:ext>
            </a:extLst>
          </p:cNvPr>
          <p:cNvSpPr>
            <a:spLocks noGrp="1"/>
          </p:cNvSpPr>
          <p:nvPr>
            <p:ph type="dt" sz="half" idx="10"/>
          </p:nvPr>
        </p:nvSpPr>
        <p:spPr/>
        <p:txBody>
          <a:bodyPr/>
          <a:lstStyle/>
          <a:p>
            <a:fld id="{57865B43-5957-49C2-893C-75D2C22B11BC}" type="datetime1">
              <a:t>9/23/2026</a:t>
            </a:fld>
            <a:endParaRPr lang="en-US" dirty="0"/>
          </a:p>
        </p:txBody>
      </p:sp>
      <p:sp>
        <p:nvSpPr>
          <p:cNvPr id="3" name="Footer Placeholder 2">
            <a:extLst>
              <a:ext uri="{FF2B5EF4-FFF2-40B4-BE49-F238E27FC236}">
                <a16:creationId xmlns:a16="http://schemas.microsoft.com/office/drawing/2014/main" id="{9FAC747A-BAA4-8DE7-DC6E-D1041B2E3A30}"/>
              </a:ext>
            </a:extLst>
          </p:cNvPr>
          <p:cNvSpPr>
            <a:spLocks noGrp="1"/>
          </p:cNvSpPr>
          <p:nvPr>
            <p:ph type="ftr" sz="quarter" idx="11"/>
          </p:nvPr>
        </p:nvSpPr>
        <p:spPr/>
        <p:txBody>
          <a:bodyPr/>
          <a:lstStyle/>
          <a:p>
            <a:r>
              <a:rPr lang="en-US" dirty="0"/>
              <a:t>
              </a:t>
            </a:r>
          </a:p>
        </p:txBody>
      </p:sp>
      <p:sp>
        <p:nvSpPr>
          <p:cNvPr id="5" name="TextBox 2">
            <a:extLst>
              <a:ext uri="{FF2B5EF4-FFF2-40B4-BE49-F238E27FC236}">
                <a16:creationId xmlns:a16="http://schemas.microsoft.com/office/drawing/2014/main" id="{BBD86F05-F2F2-E69B-7511-5E96566CDA23}"/>
              </a:ext>
            </a:extLst>
          </p:cNvPr>
          <p:cNvSpPr txBox="1"/>
          <p:nvPr/>
        </p:nvSpPr>
        <p:spPr>
          <a:xfrm>
            <a:off x="317810" y="81776"/>
            <a:ext cx="10744200" cy="1292662"/>
          </a:xfrm>
          <a:prstGeom prst="rect">
            <a:avLst/>
          </a:prstGeom>
          <a:noFill/>
        </p:spPr>
        <p:txBody>
          <a:bodyPr wrap="square" lIns="91440" tIns="45720" rIns="91440" bIns="45720" anchor="t">
            <a:spAutoFit/>
          </a:bodyPr>
          <a:lstStyle>
            <a:defPPr>
              <a:defRPr kern="0"/>
            </a:defPPr>
          </a:lstStyle>
          <a:p>
            <a:r>
              <a:rPr lang="en-US" sz="3900" dirty="0">
                <a:latin typeface="Georgia"/>
              </a:rPr>
              <a:t>Security</a:t>
            </a:r>
            <a:r>
              <a:rPr lang="en-US" sz="3900" spc="15" dirty="0">
                <a:latin typeface="Georgia"/>
              </a:rPr>
              <a:t> </a:t>
            </a:r>
            <a:r>
              <a:rPr lang="en-US" sz="3900" spc="610" dirty="0">
                <a:latin typeface="Georgia"/>
              </a:rPr>
              <a:t>&amp;</a:t>
            </a:r>
            <a:r>
              <a:rPr lang="en-US" sz="3900" spc="15" dirty="0">
                <a:latin typeface="Georgia"/>
              </a:rPr>
              <a:t> </a:t>
            </a:r>
            <a:r>
              <a:rPr lang="en-US" sz="3900" spc="-10" dirty="0">
                <a:latin typeface="Georgia"/>
              </a:rPr>
              <a:t>Compliance: </a:t>
            </a:r>
            <a:r>
              <a:rPr lang="en-US" sz="3900" dirty="0">
                <a:latin typeface="Georgia"/>
              </a:rPr>
              <a:t>Meeting</a:t>
            </a:r>
            <a:r>
              <a:rPr lang="en-US" sz="3900" spc="60" dirty="0">
                <a:latin typeface="Georgia"/>
              </a:rPr>
              <a:t> </a:t>
            </a:r>
            <a:r>
              <a:rPr lang="en-US" sz="3900" spc="-10" dirty="0">
                <a:latin typeface="Georgia"/>
              </a:rPr>
              <a:t>Regulatory Requirements</a:t>
            </a:r>
            <a:endParaRPr lang="en-IN" sz="3900">
              <a:latin typeface="Georgia"/>
            </a:endParaRPr>
          </a:p>
        </p:txBody>
      </p:sp>
      <p:sp>
        <p:nvSpPr>
          <p:cNvPr id="7" name="object 3">
            <a:extLst>
              <a:ext uri="{FF2B5EF4-FFF2-40B4-BE49-F238E27FC236}">
                <a16:creationId xmlns:a16="http://schemas.microsoft.com/office/drawing/2014/main" id="{83D9E3A1-1115-A45A-0792-E17744694A66}"/>
              </a:ext>
            </a:extLst>
          </p:cNvPr>
          <p:cNvSpPr txBox="1">
            <a:spLocks/>
          </p:cNvSpPr>
          <p:nvPr/>
        </p:nvSpPr>
        <p:spPr>
          <a:xfrm>
            <a:off x="685800" y="5410200"/>
            <a:ext cx="10744200" cy="590483"/>
          </a:xfrm>
          <a:prstGeom prst="rect">
            <a:avLst/>
          </a:prstGeom>
        </p:spPr>
        <p:txBody>
          <a:bodyPr vert="horz" wrap="square" lIns="0" tIns="16510" rIns="0" bIns="0" rtlCol="0" anchor="t">
            <a:spAutoFit/>
          </a:bodyPr>
          <a:lstStyle>
            <a:defPPr>
              <a:defRPr kern="0"/>
            </a:defPPr>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5080">
              <a:lnSpc>
                <a:spcPct val="135800"/>
              </a:lnSpc>
              <a:spcBef>
                <a:spcPts val="130"/>
              </a:spcBef>
            </a:pPr>
            <a:r>
              <a:rPr lang="en-US" sz="1450" dirty="0">
                <a:latin typeface="Trebuchet MS"/>
                <a:cs typeface="Trebuchet MS"/>
              </a:rPr>
              <a:t>Azure</a:t>
            </a:r>
            <a:r>
              <a:rPr lang="en-US" sz="1450" spc="40" dirty="0">
                <a:latin typeface="Trebuchet MS"/>
                <a:cs typeface="Trebuchet MS"/>
              </a:rPr>
              <a:t> </a:t>
            </a:r>
            <a:r>
              <a:rPr lang="en-US" sz="1450" dirty="0">
                <a:latin typeface="Trebuchet MS"/>
                <a:cs typeface="Trebuchet MS"/>
              </a:rPr>
              <a:t>Update</a:t>
            </a:r>
            <a:r>
              <a:rPr lang="en-US" sz="1450" spc="45" dirty="0">
                <a:latin typeface="Trebuchet MS"/>
                <a:cs typeface="Trebuchet MS"/>
              </a:rPr>
              <a:t> </a:t>
            </a:r>
            <a:r>
              <a:rPr lang="en-US" sz="1450" spc="65" dirty="0">
                <a:latin typeface="Trebuchet MS"/>
                <a:cs typeface="Trebuchet MS"/>
              </a:rPr>
              <a:t>Manager</a:t>
            </a:r>
            <a:r>
              <a:rPr lang="en-US" sz="1450" spc="45" dirty="0">
                <a:latin typeface="Trebuchet MS"/>
                <a:cs typeface="Trebuchet MS"/>
              </a:rPr>
              <a:t> </a:t>
            </a:r>
            <a:r>
              <a:rPr lang="en-US" sz="1450" dirty="0">
                <a:latin typeface="Trebuchet MS"/>
                <a:cs typeface="Trebuchet MS"/>
              </a:rPr>
              <a:t>isn't</a:t>
            </a:r>
            <a:r>
              <a:rPr lang="en-US" sz="1450" spc="45" dirty="0">
                <a:latin typeface="Trebuchet MS"/>
                <a:cs typeface="Trebuchet MS"/>
              </a:rPr>
              <a:t> </a:t>
            </a:r>
            <a:r>
              <a:rPr lang="en-US" sz="1450" dirty="0">
                <a:latin typeface="Trebuchet MS"/>
                <a:cs typeface="Trebuchet MS"/>
              </a:rPr>
              <a:t>just</a:t>
            </a:r>
            <a:r>
              <a:rPr lang="en-US" sz="1450" spc="40" dirty="0">
                <a:latin typeface="Trebuchet MS"/>
                <a:cs typeface="Trebuchet MS"/>
              </a:rPr>
              <a:t> </a:t>
            </a:r>
            <a:r>
              <a:rPr lang="en-US" sz="1450" spc="60" dirty="0">
                <a:latin typeface="Trebuchet MS"/>
                <a:cs typeface="Trebuchet MS"/>
              </a:rPr>
              <a:t>about</a:t>
            </a:r>
            <a:r>
              <a:rPr lang="en-US" sz="1450" spc="45" dirty="0">
                <a:latin typeface="Trebuchet MS"/>
                <a:cs typeface="Trebuchet MS"/>
              </a:rPr>
              <a:t> </a:t>
            </a:r>
            <a:r>
              <a:rPr lang="en-US" sz="1450" dirty="0">
                <a:latin typeface="Trebuchet MS"/>
                <a:cs typeface="Trebuchet MS"/>
              </a:rPr>
              <a:t>efficiency;</a:t>
            </a:r>
            <a:r>
              <a:rPr lang="en-US" sz="1450" spc="45" dirty="0">
                <a:latin typeface="Trebuchet MS"/>
                <a:cs typeface="Trebuchet MS"/>
              </a:rPr>
              <a:t> </a:t>
            </a:r>
            <a:r>
              <a:rPr lang="en-US" sz="1450" dirty="0">
                <a:latin typeface="Trebuchet MS"/>
                <a:cs typeface="Trebuchet MS"/>
              </a:rPr>
              <a:t>it's</a:t>
            </a:r>
            <a:r>
              <a:rPr lang="en-US" sz="1450" spc="45" dirty="0">
                <a:latin typeface="Trebuchet MS"/>
                <a:cs typeface="Trebuchet MS"/>
              </a:rPr>
              <a:t> </a:t>
            </a:r>
            <a:r>
              <a:rPr lang="en-US" sz="1450" dirty="0">
                <a:latin typeface="Trebuchet MS"/>
                <a:cs typeface="Trebuchet MS"/>
              </a:rPr>
              <a:t>a</a:t>
            </a:r>
            <a:r>
              <a:rPr lang="en-US" sz="1450" spc="40" dirty="0">
                <a:latin typeface="Trebuchet MS"/>
                <a:cs typeface="Trebuchet MS"/>
              </a:rPr>
              <a:t> </a:t>
            </a:r>
            <a:r>
              <a:rPr lang="en-US" sz="1450" dirty="0">
                <a:latin typeface="Trebuchet MS"/>
                <a:cs typeface="Trebuchet MS"/>
              </a:rPr>
              <a:t>critical</a:t>
            </a:r>
            <a:r>
              <a:rPr lang="en-US" sz="1450" spc="45" dirty="0">
                <a:latin typeface="Trebuchet MS"/>
                <a:cs typeface="Trebuchet MS"/>
              </a:rPr>
              <a:t> </a:t>
            </a:r>
            <a:r>
              <a:rPr lang="en-US" sz="1450" dirty="0">
                <a:latin typeface="Trebuchet MS"/>
                <a:cs typeface="Trebuchet MS"/>
              </a:rPr>
              <a:t>tool</a:t>
            </a:r>
            <a:r>
              <a:rPr lang="en-US" sz="1450" spc="45" dirty="0">
                <a:latin typeface="Trebuchet MS"/>
                <a:cs typeface="Trebuchet MS"/>
              </a:rPr>
              <a:t> </a:t>
            </a:r>
            <a:r>
              <a:rPr lang="en-US" sz="1450" spc="-25" dirty="0">
                <a:latin typeface="Trebuchet MS"/>
                <a:cs typeface="Trebuchet MS"/>
              </a:rPr>
              <a:t>for </a:t>
            </a:r>
            <a:r>
              <a:rPr lang="en-US" sz="1450" spc="45" dirty="0">
                <a:latin typeface="Trebuchet MS"/>
                <a:cs typeface="Trebuchet MS"/>
              </a:rPr>
              <a:t>demonstrating</a:t>
            </a:r>
            <a:r>
              <a:rPr lang="en-US" sz="1450" spc="30" dirty="0">
                <a:latin typeface="Trebuchet MS"/>
                <a:cs typeface="Trebuchet MS"/>
              </a:rPr>
              <a:t> </a:t>
            </a:r>
            <a:r>
              <a:rPr lang="en-US" sz="1450" spc="65" dirty="0">
                <a:latin typeface="Trebuchet MS"/>
                <a:cs typeface="Trebuchet MS"/>
              </a:rPr>
              <a:t>continuous</a:t>
            </a:r>
            <a:r>
              <a:rPr lang="en-US" sz="1450" spc="35" dirty="0">
                <a:latin typeface="Trebuchet MS"/>
                <a:cs typeface="Trebuchet MS"/>
              </a:rPr>
              <a:t> </a:t>
            </a:r>
            <a:r>
              <a:rPr lang="en-US" sz="1450" spc="55" dirty="0">
                <a:latin typeface="Trebuchet MS"/>
                <a:cs typeface="Trebuchet MS"/>
              </a:rPr>
              <a:t>compliance</a:t>
            </a:r>
            <a:r>
              <a:rPr lang="en-US" sz="1450" spc="35" dirty="0">
                <a:latin typeface="Trebuchet MS"/>
                <a:cs typeface="Trebuchet MS"/>
              </a:rPr>
              <a:t> </a:t>
            </a:r>
            <a:r>
              <a:rPr lang="en-US" sz="1450" spc="70" dirty="0">
                <a:latin typeface="Trebuchet MS"/>
                <a:cs typeface="Trebuchet MS"/>
              </a:rPr>
              <a:t>and</a:t>
            </a:r>
            <a:r>
              <a:rPr lang="en-US" sz="1450" spc="30" dirty="0">
                <a:latin typeface="Trebuchet MS"/>
                <a:cs typeface="Trebuchet MS"/>
              </a:rPr>
              <a:t> </a:t>
            </a:r>
            <a:r>
              <a:rPr lang="en-US" sz="1450" spc="20" dirty="0">
                <a:latin typeface="Trebuchet MS"/>
                <a:cs typeface="Trebuchet MS"/>
              </a:rPr>
              <a:t>strengthening</a:t>
            </a:r>
            <a:r>
              <a:rPr lang="en-US" sz="1450" spc="35" dirty="0">
                <a:latin typeface="Trebuchet MS"/>
                <a:cs typeface="Trebuchet MS"/>
              </a:rPr>
              <a:t> </a:t>
            </a:r>
            <a:r>
              <a:rPr lang="en-US" sz="1450" spc="20" dirty="0">
                <a:latin typeface="Trebuchet MS"/>
                <a:cs typeface="Trebuchet MS"/>
              </a:rPr>
              <a:t>your</a:t>
            </a:r>
            <a:r>
              <a:rPr lang="en-US" sz="1450" spc="35" dirty="0">
                <a:latin typeface="Trebuchet MS"/>
                <a:cs typeface="Trebuchet MS"/>
              </a:rPr>
              <a:t> </a:t>
            </a:r>
            <a:r>
              <a:rPr lang="en-US" sz="1450" spc="40" dirty="0">
                <a:latin typeface="Trebuchet MS"/>
                <a:cs typeface="Trebuchet MS"/>
              </a:rPr>
              <a:t>security </a:t>
            </a:r>
            <a:r>
              <a:rPr lang="en-US" sz="1450" spc="55" dirty="0">
                <a:latin typeface="Trebuchet MS"/>
                <a:cs typeface="Trebuchet MS"/>
              </a:rPr>
              <a:t>posture</a:t>
            </a:r>
            <a:r>
              <a:rPr lang="en-US" sz="1450" spc="125" dirty="0">
                <a:latin typeface="Trebuchet MS"/>
                <a:cs typeface="Trebuchet MS"/>
              </a:rPr>
              <a:t> </a:t>
            </a:r>
            <a:r>
              <a:rPr lang="en-US" sz="1450" dirty="0">
                <a:latin typeface="Trebuchet MS"/>
                <a:cs typeface="Trebuchet MS"/>
              </a:rPr>
              <a:t>against</a:t>
            </a:r>
            <a:r>
              <a:rPr lang="en-US" sz="1450" spc="130" dirty="0">
                <a:latin typeface="Trebuchet MS"/>
                <a:cs typeface="Trebuchet MS"/>
              </a:rPr>
              <a:t> </a:t>
            </a:r>
            <a:r>
              <a:rPr lang="en-US" sz="1450" dirty="0">
                <a:latin typeface="Trebuchet MS"/>
                <a:cs typeface="Trebuchet MS"/>
              </a:rPr>
              <a:t>evolving</a:t>
            </a:r>
            <a:r>
              <a:rPr lang="en-US" sz="1450" spc="130" dirty="0">
                <a:latin typeface="Trebuchet MS"/>
                <a:cs typeface="Trebuchet MS"/>
              </a:rPr>
              <a:t> </a:t>
            </a:r>
            <a:r>
              <a:rPr lang="en-US" sz="1450" spc="-10" dirty="0">
                <a:latin typeface="Trebuchet MS"/>
                <a:cs typeface="Trebuchet MS"/>
              </a:rPr>
              <a:t>threats.</a:t>
            </a:r>
            <a:endParaRPr lang="en-US" sz="1450">
              <a:latin typeface="Trebuchet MS"/>
              <a:cs typeface="Trebuchet MS"/>
            </a:endParaRPr>
          </a:p>
        </p:txBody>
      </p:sp>
      <p:pic>
        <p:nvPicPr>
          <p:cNvPr id="8" name="Picture 7">
            <a:extLst>
              <a:ext uri="{FF2B5EF4-FFF2-40B4-BE49-F238E27FC236}">
                <a16:creationId xmlns:a16="http://schemas.microsoft.com/office/drawing/2014/main" id="{1C8F370F-E185-0911-446F-3C6D1CC0F98D}"/>
              </a:ext>
            </a:extLst>
          </p:cNvPr>
          <p:cNvPicPr>
            <a:picLocks noChangeAspect="1"/>
          </p:cNvPicPr>
          <p:nvPr/>
        </p:nvPicPr>
        <p:blipFill>
          <a:blip r:embed="rId2"/>
          <a:stretch>
            <a:fillRect/>
          </a:stretch>
        </p:blipFill>
        <p:spPr>
          <a:xfrm>
            <a:off x="457200" y="1371600"/>
            <a:ext cx="11201400" cy="3962400"/>
          </a:xfrm>
          <a:prstGeom prst="rect">
            <a:avLst/>
          </a:prstGeom>
        </p:spPr>
      </p:pic>
    </p:spTree>
    <p:extLst>
      <p:ext uri="{BB962C8B-B14F-4D97-AF65-F5344CB8AC3E}">
        <p14:creationId xmlns:p14="http://schemas.microsoft.com/office/powerpoint/2010/main" val="2671823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B16E127-AC7B-5788-5E99-7FD0133AFECD}"/>
              </a:ext>
            </a:extLst>
          </p:cNvPr>
          <p:cNvSpPr/>
          <p:nvPr/>
        </p:nvSpPr>
        <p:spPr>
          <a:xfrm>
            <a:off x="3988941" y="396822"/>
            <a:ext cx="7524778" cy="2356087"/>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5E5920E9-35D5-C1FE-E42F-936AB4DC47FA}"/>
              </a:ext>
            </a:extLst>
          </p:cNvPr>
          <p:cNvSpPr>
            <a:spLocks noGrp="1"/>
          </p:cNvSpPr>
          <p:nvPr>
            <p:ph type="dt" sz="half" idx="10"/>
          </p:nvPr>
        </p:nvSpPr>
        <p:spPr/>
        <p:txBody>
          <a:bodyPr/>
          <a:lstStyle/>
          <a:p>
            <a:fld id="{02CF9478-966A-44D6-B6F1-C8F5AB9F8620}" type="datetime1">
              <a:t>9/23/2026</a:t>
            </a:fld>
            <a:endParaRPr lang="en-US" dirty="0"/>
          </a:p>
        </p:txBody>
      </p:sp>
      <p:sp>
        <p:nvSpPr>
          <p:cNvPr id="3" name="Footer Placeholder 2">
            <a:extLst>
              <a:ext uri="{FF2B5EF4-FFF2-40B4-BE49-F238E27FC236}">
                <a16:creationId xmlns:a16="http://schemas.microsoft.com/office/drawing/2014/main" id="{E38B9BC0-ACBD-B435-99BB-83E81F23C6E6}"/>
              </a:ext>
            </a:extLst>
          </p:cNvPr>
          <p:cNvSpPr>
            <a:spLocks noGrp="1"/>
          </p:cNvSpPr>
          <p:nvPr>
            <p:ph type="ftr" sz="quarter" idx="11"/>
          </p:nvPr>
        </p:nvSpPr>
        <p:spPr/>
        <p:txBody>
          <a:bodyPr/>
          <a:lstStyle/>
          <a:p>
            <a:r>
              <a:rPr lang="en-US" dirty="0"/>
              <a:t>
              </a:t>
            </a:r>
          </a:p>
        </p:txBody>
      </p:sp>
      <p:sp>
        <p:nvSpPr>
          <p:cNvPr id="5" name="object 3" descr="$PPTXTitle">
            <a:extLst>
              <a:ext uri="{FF2B5EF4-FFF2-40B4-BE49-F238E27FC236}">
                <a16:creationId xmlns:a16="http://schemas.microsoft.com/office/drawing/2014/main" id="{FD141B98-007F-A7B2-5D5F-021189B83F8A}"/>
              </a:ext>
            </a:extLst>
          </p:cNvPr>
          <p:cNvSpPr txBox="1">
            <a:spLocks noGrp="1"/>
          </p:cNvSpPr>
          <p:nvPr/>
        </p:nvSpPr>
        <p:spPr>
          <a:xfrm>
            <a:off x="4018280" y="335280"/>
            <a:ext cx="7293500" cy="1240155"/>
          </a:xfrm>
          <a:prstGeom prst="rect">
            <a:avLst/>
          </a:prstGeom>
        </p:spPr>
        <p:txBody>
          <a:bodyPr vert="horz" wrap="square" lIns="0" tIns="0" rIns="0" bIns="0" rtlCol="0" anchor="t">
            <a:spAutoFit/>
          </a:bodyPr>
          <a:lstStyle>
            <a:lvl1pPr>
              <a:defRPr sz="3900" b="0" i="0">
                <a:solidFill>
                  <a:srgbClr val="010101"/>
                </a:solidFill>
                <a:latin typeface="Georgia"/>
                <a:ea typeface="+mj-ea"/>
                <a:cs typeface="Georgia"/>
              </a:defRPr>
            </a:lvl1pPr>
          </a:lstStyle>
          <a:p>
            <a:pPr marL="12700" marR="5080">
              <a:lnSpc>
                <a:spcPts val="4880"/>
              </a:lnSpc>
            </a:pPr>
            <a:r>
              <a:rPr dirty="0">
                <a:solidFill>
                  <a:schemeClr val="tx1"/>
                </a:solidFill>
              </a:rPr>
              <a:t>Deployment</a:t>
            </a:r>
            <a:r>
              <a:rPr spc="105" dirty="0">
                <a:solidFill>
                  <a:schemeClr val="tx1"/>
                </a:solidFill>
              </a:rPr>
              <a:t> </a:t>
            </a:r>
            <a:r>
              <a:rPr dirty="0">
                <a:solidFill>
                  <a:schemeClr val="tx1"/>
                </a:solidFill>
              </a:rPr>
              <a:t>Patterns:</a:t>
            </a:r>
            <a:r>
              <a:rPr spc="110" dirty="0">
                <a:solidFill>
                  <a:schemeClr val="tx1"/>
                </a:solidFill>
              </a:rPr>
              <a:t> </a:t>
            </a:r>
            <a:r>
              <a:rPr dirty="0">
                <a:solidFill>
                  <a:schemeClr val="tx1"/>
                </a:solidFill>
              </a:rPr>
              <a:t>Multi-</a:t>
            </a:r>
            <a:r>
              <a:rPr spc="-10" dirty="0">
                <a:solidFill>
                  <a:schemeClr val="tx1"/>
                </a:solidFill>
              </a:rPr>
              <a:t>Cloud Strategy</a:t>
            </a:r>
            <a:endParaRPr lang="en-US" spc="-10" dirty="0">
              <a:solidFill>
                <a:schemeClr val="tx1"/>
              </a:solidFill>
            </a:endParaRPr>
          </a:p>
        </p:txBody>
      </p:sp>
      <p:sp>
        <p:nvSpPr>
          <p:cNvPr id="6" name="object 4">
            <a:extLst>
              <a:ext uri="{FF2B5EF4-FFF2-40B4-BE49-F238E27FC236}">
                <a16:creationId xmlns:a16="http://schemas.microsoft.com/office/drawing/2014/main" id="{180081A8-61BB-935A-46D7-9FC2BCE55437}"/>
              </a:ext>
            </a:extLst>
          </p:cNvPr>
          <p:cNvSpPr txBox="1"/>
          <p:nvPr/>
        </p:nvSpPr>
        <p:spPr>
          <a:xfrm>
            <a:off x="4094480" y="1989150"/>
            <a:ext cx="6755000" cy="577530"/>
          </a:xfrm>
          <a:prstGeom prst="rect">
            <a:avLst/>
          </a:prstGeom>
        </p:spPr>
        <p:txBody>
          <a:bodyPr vert="horz" wrap="square" lIns="0" tIns="11430" rIns="0" bIns="0" rtlCol="0" anchor="t">
            <a:spAutoFit/>
          </a:bodyPr>
          <a:lstStyle>
            <a:defPPr>
              <a:defRPr kern="0"/>
            </a:defPPr>
          </a:lstStyle>
          <a:p>
            <a:pPr marL="12700" marR="5080">
              <a:lnSpc>
                <a:spcPct val="133600"/>
              </a:lnSpc>
              <a:spcBef>
                <a:spcPts val="90"/>
              </a:spcBef>
            </a:pPr>
            <a:r>
              <a:rPr sz="1450" dirty="0">
                <a:latin typeface="Trebuchet MS"/>
                <a:cs typeface="Trebuchet MS"/>
              </a:rPr>
              <a:t>Extend</a:t>
            </a:r>
            <a:r>
              <a:rPr sz="1450" spc="85" dirty="0">
                <a:latin typeface="Trebuchet MS"/>
                <a:cs typeface="Trebuchet MS"/>
              </a:rPr>
              <a:t> </a:t>
            </a:r>
            <a:r>
              <a:rPr sz="1450" dirty="0">
                <a:latin typeface="Trebuchet MS"/>
                <a:cs typeface="Trebuchet MS"/>
              </a:rPr>
              <a:t>the</a:t>
            </a:r>
            <a:r>
              <a:rPr sz="1450" spc="90" dirty="0">
                <a:latin typeface="Trebuchet MS"/>
                <a:cs typeface="Trebuchet MS"/>
              </a:rPr>
              <a:t> </a:t>
            </a:r>
            <a:r>
              <a:rPr sz="1450" dirty="0">
                <a:latin typeface="Trebuchet MS"/>
                <a:cs typeface="Trebuchet MS"/>
              </a:rPr>
              <a:t>power</a:t>
            </a:r>
            <a:r>
              <a:rPr sz="1450" spc="90" dirty="0">
                <a:latin typeface="Trebuchet MS"/>
                <a:cs typeface="Trebuchet MS"/>
              </a:rPr>
              <a:t> </a:t>
            </a:r>
            <a:r>
              <a:rPr sz="1450" dirty="0">
                <a:latin typeface="Trebuchet MS"/>
                <a:cs typeface="Trebuchet MS"/>
              </a:rPr>
              <a:t>of</a:t>
            </a:r>
            <a:r>
              <a:rPr sz="1450" spc="85" dirty="0">
                <a:latin typeface="Trebuchet MS"/>
                <a:cs typeface="Trebuchet MS"/>
              </a:rPr>
              <a:t> </a:t>
            </a:r>
            <a:r>
              <a:rPr sz="1450" dirty="0">
                <a:latin typeface="Trebuchet MS"/>
                <a:cs typeface="Trebuchet MS"/>
              </a:rPr>
              <a:t>Azure</a:t>
            </a:r>
            <a:r>
              <a:rPr sz="1450" spc="90" dirty="0">
                <a:latin typeface="Trebuchet MS"/>
                <a:cs typeface="Trebuchet MS"/>
              </a:rPr>
              <a:t> </a:t>
            </a:r>
            <a:r>
              <a:rPr sz="1450" dirty="0">
                <a:latin typeface="Trebuchet MS"/>
                <a:cs typeface="Trebuchet MS"/>
              </a:rPr>
              <a:t>Update</a:t>
            </a:r>
            <a:r>
              <a:rPr sz="1450" spc="90" dirty="0">
                <a:latin typeface="Trebuchet MS"/>
                <a:cs typeface="Trebuchet MS"/>
              </a:rPr>
              <a:t> </a:t>
            </a:r>
            <a:r>
              <a:rPr sz="1450" spc="65" dirty="0">
                <a:latin typeface="Trebuchet MS"/>
                <a:cs typeface="Trebuchet MS"/>
              </a:rPr>
              <a:t>Manager</a:t>
            </a:r>
            <a:r>
              <a:rPr sz="1450" spc="85" dirty="0">
                <a:latin typeface="Trebuchet MS"/>
                <a:cs typeface="Trebuchet MS"/>
              </a:rPr>
              <a:t> </a:t>
            </a:r>
            <a:r>
              <a:rPr sz="1450" spc="70" dirty="0">
                <a:latin typeface="Trebuchet MS"/>
                <a:cs typeface="Trebuchet MS"/>
              </a:rPr>
              <a:t>beyond</a:t>
            </a:r>
            <a:r>
              <a:rPr sz="1450" spc="90" dirty="0">
                <a:latin typeface="Trebuchet MS"/>
                <a:cs typeface="Trebuchet MS"/>
              </a:rPr>
              <a:t> </a:t>
            </a:r>
            <a:r>
              <a:rPr sz="1450" dirty="0">
                <a:latin typeface="Trebuchet MS"/>
                <a:cs typeface="Trebuchet MS"/>
              </a:rPr>
              <a:t>Azure</a:t>
            </a:r>
            <a:r>
              <a:rPr sz="1450" spc="90" dirty="0">
                <a:latin typeface="Trebuchet MS"/>
                <a:cs typeface="Trebuchet MS"/>
              </a:rPr>
              <a:t> </a:t>
            </a:r>
            <a:r>
              <a:rPr sz="1450" dirty="0">
                <a:latin typeface="Trebuchet MS"/>
                <a:cs typeface="Trebuchet MS"/>
              </a:rPr>
              <a:t>to</a:t>
            </a:r>
            <a:r>
              <a:rPr sz="1450" spc="85" dirty="0">
                <a:latin typeface="Trebuchet MS"/>
                <a:cs typeface="Trebuchet MS"/>
              </a:rPr>
              <a:t> </a:t>
            </a:r>
            <a:r>
              <a:rPr sz="1450" dirty="0">
                <a:latin typeface="Trebuchet MS"/>
                <a:cs typeface="Trebuchet MS"/>
              </a:rPr>
              <a:t>create</a:t>
            </a:r>
            <a:r>
              <a:rPr sz="1450" spc="90" dirty="0">
                <a:latin typeface="Trebuchet MS"/>
                <a:cs typeface="Trebuchet MS"/>
              </a:rPr>
              <a:t> </a:t>
            </a:r>
            <a:r>
              <a:rPr sz="1450" dirty="0">
                <a:latin typeface="Trebuchet MS"/>
                <a:cs typeface="Trebuchet MS"/>
              </a:rPr>
              <a:t>a</a:t>
            </a:r>
            <a:r>
              <a:rPr sz="1450" spc="90" dirty="0">
                <a:latin typeface="Trebuchet MS"/>
                <a:cs typeface="Trebuchet MS"/>
              </a:rPr>
              <a:t> </a:t>
            </a:r>
            <a:r>
              <a:rPr sz="1450" dirty="0">
                <a:latin typeface="Trebuchet MS"/>
                <a:cs typeface="Trebuchet MS"/>
              </a:rPr>
              <a:t>truly</a:t>
            </a:r>
            <a:r>
              <a:rPr sz="1450" spc="85" dirty="0">
                <a:latin typeface="Trebuchet MS"/>
                <a:cs typeface="Trebuchet MS"/>
              </a:rPr>
              <a:t> </a:t>
            </a:r>
            <a:r>
              <a:rPr sz="1450" spc="-10" dirty="0">
                <a:latin typeface="Trebuchet MS"/>
                <a:cs typeface="Trebuchet MS"/>
              </a:rPr>
              <a:t>unified </a:t>
            </a:r>
            <a:r>
              <a:rPr sz="1450" spc="45" dirty="0">
                <a:latin typeface="Trebuchet MS"/>
                <a:cs typeface="Trebuchet MS"/>
              </a:rPr>
              <a:t>patching</a:t>
            </a:r>
            <a:r>
              <a:rPr sz="1450" spc="60" dirty="0">
                <a:latin typeface="Trebuchet MS"/>
                <a:cs typeface="Trebuchet MS"/>
              </a:rPr>
              <a:t> </a:t>
            </a:r>
            <a:r>
              <a:rPr sz="1450" spc="45" dirty="0">
                <a:latin typeface="Trebuchet MS"/>
                <a:cs typeface="Trebuchet MS"/>
              </a:rPr>
              <a:t>strategy</a:t>
            </a:r>
            <a:r>
              <a:rPr sz="1450" spc="65" dirty="0">
                <a:latin typeface="Trebuchet MS"/>
                <a:cs typeface="Trebuchet MS"/>
              </a:rPr>
              <a:t> </a:t>
            </a:r>
            <a:r>
              <a:rPr sz="1450" spc="85" dirty="0">
                <a:latin typeface="Trebuchet MS"/>
                <a:cs typeface="Trebuchet MS"/>
              </a:rPr>
              <a:t>across</a:t>
            </a:r>
            <a:r>
              <a:rPr sz="1450" spc="65" dirty="0">
                <a:latin typeface="Trebuchet MS"/>
                <a:cs typeface="Trebuchet MS"/>
              </a:rPr>
              <a:t> </a:t>
            </a:r>
            <a:r>
              <a:rPr sz="1450" dirty="0">
                <a:latin typeface="Trebuchet MS"/>
                <a:cs typeface="Trebuchet MS"/>
              </a:rPr>
              <a:t>your</a:t>
            </a:r>
            <a:r>
              <a:rPr sz="1450" spc="65" dirty="0">
                <a:latin typeface="Trebuchet MS"/>
                <a:cs typeface="Trebuchet MS"/>
              </a:rPr>
              <a:t> </a:t>
            </a:r>
            <a:r>
              <a:rPr sz="1450" dirty="0">
                <a:latin typeface="Trebuchet MS"/>
                <a:cs typeface="Trebuchet MS"/>
              </a:rPr>
              <a:t>entire</a:t>
            </a:r>
            <a:r>
              <a:rPr sz="1450" spc="65" dirty="0">
                <a:latin typeface="Trebuchet MS"/>
                <a:cs typeface="Trebuchet MS"/>
              </a:rPr>
              <a:t> </a:t>
            </a:r>
            <a:r>
              <a:rPr sz="1450" dirty="0">
                <a:latin typeface="Trebuchet MS"/>
                <a:cs typeface="Trebuchet MS"/>
              </a:rPr>
              <a:t>hybrid</a:t>
            </a:r>
            <a:r>
              <a:rPr sz="1450" spc="65" dirty="0">
                <a:latin typeface="Trebuchet MS"/>
                <a:cs typeface="Trebuchet MS"/>
              </a:rPr>
              <a:t> </a:t>
            </a:r>
            <a:r>
              <a:rPr sz="1450" spc="70" dirty="0">
                <a:latin typeface="Trebuchet MS"/>
                <a:cs typeface="Trebuchet MS"/>
              </a:rPr>
              <a:t>and</a:t>
            </a:r>
            <a:r>
              <a:rPr sz="1450" spc="65" dirty="0">
                <a:latin typeface="Trebuchet MS"/>
                <a:cs typeface="Trebuchet MS"/>
              </a:rPr>
              <a:t> </a:t>
            </a:r>
            <a:r>
              <a:rPr sz="1450" dirty="0">
                <a:latin typeface="Trebuchet MS"/>
                <a:cs typeface="Trebuchet MS"/>
              </a:rPr>
              <a:t>multi-</a:t>
            </a:r>
            <a:r>
              <a:rPr sz="1450" spc="55" dirty="0">
                <a:latin typeface="Trebuchet MS"/>
                <a:cs typeface="Trebuchet MS"/>
              </a:rPr>
              <a:t>cloud</a:t>
            </a:r>
            <a:r>
              <a:rPr sz="1450" spc="65" dirty="0">
                <a:latin typeface="Trebuchet MS"/>
                <a:cs typeface="Trebuchet MS"/>
              </a:rPr>
              <a:t> </a:t>
            </a:r>
            <a:r>
              <a:rPr sz="1450" spc="-10" dirty="0">
                <a:latin typeface="Trebuchet MS"/>
                <a:cs typeface="Trebuchet MS"/>
              </a:rPr>
              <a:t>footprint.</a:t>
            </a:r>
            <a:endParaRPr lang="en-US" sz="1450">
              <a:latin typeface="Trebuchet MS"/>
              <a:cs typeface="Trebuchet MS"/>
            </a:endParaRPr>
          </a:p>
        </p:txBody>
      </p:sp>
      <p:sp>
        <p:nvSpPr>
          <p:cNvPr id="7" name="object 5">
            <a:extLst>
              <a:ext uri="{FF2B5EF4-FFF2-40B4-BE49-F238E27FC236}">
                <a16:creationId xmlns:a16="http://schemas.microsoft.com/office/drawing/2014/main" id="{1C8F3055-2775-C3F3-E97D-10ED2D6B3C9D}"/>
              </a:ext>
            </a:extLst>
          </p:cNvPr>
          <p:cNvSpPr/>
          <p:nvPr/>
        </p:nvSpPr>
        <p:spPr>
          <a:xfrm>
            <a:off x="4056031" y="2859404"/>
            <a:ext cx="2114898" cy="3228975"/>
          </a:xfrm>
          <a:custGeom>
            <a:avLst/>
            <a:gdLst/>
            <a:ahLst/>
            <a:cxnLst/>
            <a:rect l="l" t="t" r="r" b="b"/>
            <a:pathLst>
              <a:path w="2486025" h="3228975">
                <a:moveTo>
                  <a:pt x="2465530" y="3228974"/>
                </a:moveTo>
                <a:lnTo>
                  <a:pt x="20494" y="3228974"/>
                </a:lnTo>
                <a:lnTo>
                  <a:pt x="17480" y="3228374"/>
                </a:lnTo>
                <a:lnTo>
                  <a:pt x="0" y="3208480"/>
                </a:lnTo>
                <a:lnTo>
                  <a:pt x="0" y="3205347"/>
                </a:lnTo>
                <a:lnTo>
                  <a:pt x="0" y="20494"/>
                </a:lnTo>
                <a:lnTo>
                  <a:pt x="20494" y="0"/>
                </a:lnTo>
                <a:lnTo>
                  <a:pt x="2465530" y="0"/>
                </a:lnTo>
                <a:lnTo>
                  <a:pt x="2486024" y="20494"/>
                </a:lnTo>
                <a:lnTo>
                  <a:pt x="2486024" y="3208480"/>
                </a:lnTo>
                <a:lnTo>
                  <a:pt x="2468544" y="3228374"/>
                </a:lnTo>
                <a:lnTo>
                  <a:pt x="2465530" y="3228974"/>
                </a:lnTo>
                <a:close/>
              </a:path>
            </a:pathLst>
          </a:custGeom>
          <a:solidFill>
            <a:srgbClr val="F1EDED"/>
          </a:solidFill>
        </p:spPr>
        <p:txBody>
          <a:bodyPr wrap="square" lIns="0" tIns="0" rIns="0" bIns="0" rtlCol="0"/>
          <a:lstStyle>
            <a:defPPr>
              <a:defRPr kern="0"/>
            </a:defPPr>
          </a:lstStyle>
          <a:p>
            <a:endParaRPr/>
          </a:p>
        </p:txBody>
      </p:sp>
      <p:sp>
        <p:nvSpPr>
          <p:cNvPr id="8" name="object 6">
            <a:extLst>
              <a:ext uri="{FF2B5EF4-FFF2-40B4-BE49-F238E27FC236}">
                <a16:creationId xmlns:a16="http://schemas.microsoft.com/office/drawing/2014/main" id="{94B2D295-8922-03B8-A521-B2E2B3BAC68B}"/>
              </a:ext>
            </a:extLst>
          </p:cNvPr>
          <p:cNvSpPr txBox="1"/>
          <p:nvPr/>
        </p:nvSpPr>
        <p:spPr>
          <a:xfrm>
            <a:off x="4170680" y="3020136"/>
            <a:ext cx="1905000" cy="2513124"/>
          </a:xfrm>
          <a:prstGeom prst="rect">
            <a:avLst/>
          </a:prstGeom>
        </p:spPr>
        <p:txBody>
          <a:bodyPr vert="horz" wrap="square" lIns="0" tIns="12065" rIns="0" bIns="0" rtlCol="0">
            <a:spAutoFit/>
          </a:bodyPr>
          <a:lstStyle>
            <a:defPPr>
              <a:defRPr kern="0"/>
            </a:defPPr>
          </a:lstStyle>
          <a:p>
            <a:pPr marL="12700" marR="55244">
              <a:lnSpc>
                <a:spcPct val="105800"/>
              </a:lnSpc>
              <a:spcBef>
                <a:spcPts val="95"/>
              </a:spcBef>
            </a:pPr>
            <a:r>
              <a:rPr sz="1950" dirty="0">
                <a:solidFill>
                  <a:srgbClr val="373737"/>
                </a:solidFill>
                <a:latin typeface="Georgia"/>
                <a:cs typeface="Georgia"/>
              </a:rPr>
              <a:t>Azure</a:t>
            </a:r>
            <a:r>
              <a:rPr sz="1950" spc="-50" dirty="0">
                <a:solidFill>
                  <a:srgbClr val="373737"/>
                </a:solidFill>
                <a:latin typeface="Georgia"/>
                <a:cs typeface="Georgia"/>
              </a:rPr>
              <a:t> </a:t>
            </a:r>
            <a:r>
              <a:rPr sz="1950" dirty="0">
                <a:solidFill>
                  <a:srgbClr val="373737"/>
                </a:solidFill>
                <a:latin typeface="Georgia"/>
                <a:cs typeface="Georgia"/>
              </a:rPr>
              <a:t>Arc</a:t>
            </a:r>
            <a:r>
              <a:rPr sz="1950" spc="-15" dirty="0">
                <a:solidFill>
                  <a:srgbClr val="373737"/>
                </a:solidFill>
                <a:latin typeface="Georgia"/>
                <a:cs typeface="Georgia"/>
              </a:rPr>
              <a:t> </a:t>
            </a:r>
            <a:r>
              <a:rPr sz="1950" dirty="0">
                <a:solidFill>
                  <a:srgbClr val="373737"/>
                </a:solidFill>
                <a:latin typeface="Georgia"/>
                <a:cs typeface="Georgia"/>
              </a:rPr>
              <a:t>for</a:t>
            </a:r>
            <a:r>
              <a:rPr sz="1950" spc="-45" dirty="0">
                <a:solidFill>
                  <a:srgbClr val="373737"/>
                </a:solidFill>
                <a:latin typeface="Georgia"/>
                <a:cs typeface="Georgia"/>
              </a:rPr>
              <a:t> </a:t>
            </a:r>
            <a:r>
              <a:rPr sz="1950" spc="-25" dirty="0">
                <a:solidFill>
                  <a:srgbClr val="373737"/>
                </a:solidFill>
                <a:latin typeface="Georgia"/>
                <a:cs typeface="Georgia"/>
              </a:rPr>
              <a:t>Any </a:t>
            </a:r>
            <a:r>
              <a:rPr sz="1950" spc="-10" dirty="0">
                <a:solidFill>
                  <a:srgbClr val="373737"/>
                </a:solidFill>
                <a:latin typeface="Georgia"/>
                <a:cs typeface="Georgia"/>
              </a:rPr>
              <a:t>Cloud</a:t>
            </a:r>
            <a:endParaRPr sz="1950" dirty="0">
              <a:latin typeface="Georgia"/>
              <a:cs typeface="Georgia"/>
            </a:endParaRPr>
          </a:p>
          <a:p>
            <a:pPr marL="12700" marR="5080">
              <a:lnSpc>
                <a:spcPct val="137100"/>
              </a:lnSpc>
              <a:spcBef>
                <a:spcPts val="515"/>
              </a:spcBef>
            </a:pPr>
            <a:r>
              <a:rPr sz="1450" spc="75" dirty="0">
                <a:solidFill>
                  <a:srgbClr val="373737"/>
                </a:solidFill>
                <a:latin typeface="Trebuchet MS"/>
                <a:cs typeface="Trebuchet MS"/>
              </a:rPr>
              <a:t>Onboard</a:t>
            </a:r>
            <a:r>
              <a:rPr sz="1450" spc="-45" dirty="0">
                <a:solidFill>
                  <a:srgbClr val="373737"/>
                </a:solidFill>
                <a:latin typeface="Trebuchet MS"/>
                <a:cs typeface="Trebuchet MS"/>
              </a:rPr>
              <a:t> </a:t>
            </a:r>
            <a:r>
              <a:rPr sz="1450" dirty="0">
                <a:solidFill>
                  <a:srgbClr val="373737"/>
                </a:solidFill>
                <a:latin typeface="Trebuchet MS"/>
                <a:cs typeface="Trebuchet MS"/>
              </a:rPr>
              <a:t>virtual</a:t>
            </a:r>
            <a:r>
              <a:rPr sz="1450" spc="-45" dirty="0">
                <a:solidFill>
                  <a:srgbClr val="373737"/>
                </a:solidFill>
                <a:latin typeface="Trebuchet MS"/>
                <a:cs typeface="Trebuchet MS"/>
              </a:rPr>
              <a:t> </a:t>
            </a:r>
            <a:r>
              <a:rPr sz="1450" spc="45" dirty="0">
                <a:solidFill>
                  <a:srgbClr val="373737"/>
                </a:solidFill>
                <a:latin typeface="Trebuchet MS"/>
                <a:cs typeface="Trebuchet MS"/>
              </a:rPr>
              <a:t>and physical</a:t>
            </a:r>
            <a:r>
              <a:rPr sz="1450" spc="-30" dirty="0">
                <a:solidFill>
                  <a:srgbClr val="373737"/>
                </a:solidFill>
                <a:latin typeface="Trebuchet MS"/>
                <a:cs typeface="Trebuchet MS"/>
              </a:rPr>
              <a:t> </a:t>
            </a:r>
            <a:r>
              <a:rPr sz="1450" spc="55" dirty="0">
                <a:solidFill>
                  <a:srgbClr val="373737"/>
                </a:solidFill>
                <a:latin typeface="Trebuchet MS"/>
                <a:cs typeface="Trebuchet MS"/>
              </a:rPr>
              <a:t>servers</a:t>
            </a:r>
            <a:r>
              <a:rPr sz="1450" spc="-25" dirty="0">
                <a:solidFill>
                  <a:srgbClr val="373737"/>
                </a:solidFill>
                <a:latin typeface="Trebuchet MS"/>
                <a:cs typeface="Trebuchet MS"/>
              </a:rPr>
              <a:t> </a:t>
            </a:r>
            <a:r>
              <a:rPr sz="1450" spc="-20" dirty="0">
                <a:solidFill>
                  <a:srgbClr val="373737"/>
                </a:solidFill>
                <a:latin typeface="Trebuchet MS"/>
                <a:cs typeface="Trebuchet MS"/>
              </a:rPr>
              <a:t>from </a:t>
            </a:r>
            <a:r>
              <a:rPr sz="1450" dirty="0">
                <a:solidFill>
                  <a:srgbClr val="373737"/>
                </a:solidFill>
                <a:latin typeface="Trebuchet MS"/>
                <a:cs typeface="Trebuchet MS"/>
              </a:rPr>
              <a:t>AWS,</a:t>
            </a:r>
            <a:r>
              <a:rPr sz="1450" spc="5" dirty="0">
                <a:solidFill>
                  <a:srgbClr val="373737"/>
                </a:solidFill>
                <a:latin typeface="Trebuchet MS"/>
                <a:cs typeface="Trebuchet MS"/>
              </a:rPr>
              <a:t> </a:t>
            </a:r>
            <a:r>
              <a:rPr sz="1450" dirty="0">
                <a:solidFill>
                  <a:srgbClr val="373737"/>
                </a:solidFill>
                <a:latin typeface="Trebuchet MS"/>
                <a:cs typeface="Trebuchet MS"/>
              </a:rPr>
              <a:t>GCP,</a:t>
            </a:r>
            <a:r>
              <a:rPr sz="1450" spc="5" dirty="0">
                <a:solidFill>
                  <a:srgbClr val="373737"/>
                </a:solidFill>
                <a:latin typeface="Trebuchet MS"/>
                <a:cs typeface="Trebuchet MS"/>
              </a:rPr>
              <a:t> </a:t>
            </a:r>
            <a:r>
              <a:rPr sz="1450" dirty="0">
                <a:solidFill>
                  <a:srgbClr val="373737"/>
                </a:solidFill>
                <a:latin typeface="Trebuchet MS"/>
                <a:cs typeface="Trebuchet MS"/>
              </a:rPr>
              <a:t>or</a:t>
            </a:r>
            <a:r>
              <a:rPr sz="1450" spc="5" dirty="0">
                <a:solidFill>
                  <a:srgbClr val="373737"/>
                </a:solidFill>
                <a:latin typeface="Trebuchet MS"/>
                <a:cs typeface="Trebuchet MS"/>
              </a:rPr>
              <a:t> </a:t>
            </a:r>
            <a:r>
              <a:rPr sz="1450" spc="-10" dirty="0">
                <a:solidFill>
                  <a:srgbClr val="373737"/>
                </a:solidFill>
                <a:latin typeface="Trebuchet MS"/>
                <a:cs typeface="Trebuchet MS"/>
              </a:rPr>
              <a:t>private </a:t>
            </a:r>
            <a:r>
              <a:rPr sz="1450" spc="75" dirty="0">
                <a:solidFill>
                  <a:srgbClr val="373737"/>
                </a:solidFill>
                <a:latin typeface="Trebuchet MS"/>
                <a:cs typeface="Trebuchet MS"/>
              </a:rPr>
              <a:t>clouds</a:t>
            </a:r>
            <a:r>
              <a:rPr sz="1450" spc="15" dirty="0">
                <a:solidFill>
                  <a:srgbClr val="373737"/>
                </a:solidFill>
                <a:latin typeface="Trebuchet MS"/>
                <a:cs typeface="Trebuchet MS"/>
              </a:rPr>
              <a:t> </a:t>
            </a:r>
            <a:r>
              <a:rPr sz="1450" dirty="0">
                <a:solidFill>
                  <a:srgbClr val="373737"/>
                </a:solidFill>
                <a:latin typeface="Trebuchet MS"/>
                <a:cs typeface="Trebuchet MS"/>
              </a:rPr>
              <a:t>via</a:t>
            </a:r>
            <a:r>
              <a:rPr sz="1450" spc="15" dirty="0">
                <a:solidFill>
                  <a:srgbClr val="373737"/>
                </a:solidFill>
                <a:latin typeface="Trebuchet MS"/>
                <a:cs typeface="Trebuchet MS"/>
              </a:rPr>
              <a:t> </a:t>
            </a:r>
            <a:r>
              <a:rPr sz="1450" dirty="0">
                <a:solidFill>
                  <a:srgbClr val="373737"/>
                </a:solidFill>
                <a:latin typeface="Trebuchet MS"/>
                <a:cs typeface="Trebuchet MS"/>
              </a:rPr>
              <a:t>Azure</a:t>
            </a:r>
            <a:r>
              <a:rPr sz="1450" spc="20" dirty="0">
                <a:solidFill>
                  <a:srgbClr val="373737"/>
                </a:solidFill>
                <a:latin typeface="Trebuchet MS"/>
                <a:cs typeface="Trebuchet MS"/>
              </a:rPr>
              <a:t> </a:t>
            </a:r>
            <a:r>
              <a:rPr sz="1450" spc="70" dirty="0">
                <a:solidFill>
                  <a:srgbClr val="373737"/>
                </a:solidFill>
                <a:latin typeface="Trebuchet MS"/>
                <a:cs typeface="Trebuchet MS"/>
              </a:rPr>
              <a:t>Arc</a:t>
            </a:r>
            <a:r>
              <a:rPr sz="1450" spc="15" dirty="0">
                <a:solidFill>
                  <a:srgbClr val="373737"/>
                </a:solidFill>
                <a:latin typeface="Trebuchet MS"/>
                <a:cs typeface="Trebuchet MS"/>
              </a:rPr>
              <a:t> </a:t>
            </a:r>
            <a:r>
              <a:rPr sz="1450" spc="-25" dirty="0">
                <a:solidFill>
                  <a:srgbClr val="373737"/>
                </a:solidFill>
                <a:latin typeface="Trebuchet MS"/>
                <a:cs typeface="Trebuchet MS"/>
              </a:rPr>
              <a:t>to </a:t>
            </a:r>
            <a:r>
              <a:rPr sz="1450" dirty="0">
                <a:solidFill>
                  <a:srgbClr val="373737"/>
                </a:solidFill>
                <a:latin typeface="Trebuchet MS"/>
                <a:cs typeface="Trebuchet MS"/>
              </a:rPr>
              <a:t>bring</a:t>
            </a:r>
            <a:r>
              <a:rPr sz="1450" spc="50" dirty="0">
                <a:solidFill>
                  <a:srgbClr val="373737"/>
                </a:solidFill>
                <a:latin typeface="Trebuchet MS"/>
                <a:cs typeface="Trebuchet MS"/>
              </a:rPr>
              <a:t> </a:t>
            </a:r>
            <a:r>
              <a:rPr sz="1450" spc="55" dirty="0">
                <a:solidFill>
                  <a:srgbClr val="373737"/>
                </a:solidFill>
                <a:latin typeface="Trebuchet MS"/>
                <a:cs typeface="Trebuchet MS"/>
              </a:rPr>
              <a:t>them</a:t>
            </a:r>
            <a:r>
              <a:rPr sz="1450" spc="50" dirty="0">
                <a:solidFill>
                  <a:srgbClr val="373737"/>
                </a:solidFill>
                <a:latin typeface="Trebuchet MS"/>
                <a:cs typeface="Trebuchet MS"/>
              </a:rPr>
              <a:t> </a:t>
            </a:r>
            <a:r>
              <a:rPr sz="1450" spc="30" dirty="0">
                <a:solidFill>
                  <a:srgbClr val="373737"/>
                </a:solidFill>
                <a:latin typeface="Trebuchet MS"/>
                <a:cs typeface="Trebuchet MS"/>
              </a:rPr>
              <a:t>under </a:t>
            </a:r>
            <a:r>
              <a:rPr sz="1450" dirty="0">
                <a:solidFill>
                  <a:srgbClr val="373737"/>
                </a:solidFill>
                <a:latin typeface="Trebuchet MS"/>
                <a:cs typeface="Trebuchet MS"/>
              </a:rPr>
              <a:t>central</a:t>
            </a:r>
            <a:r>
              <a:rPr sz="1450" spc="114" dirty="0">
                <a:solidFill>
                  <a:srgbClr val="373737"/>
                </a:solidFill>
                <a:latin typeface="Trebuchet MS"/>
                <a:cs typeface="Trebuchet MS"/>
              </a:rPr>
              <a:t> </a:t>
            </a:r>
            <a:r>
              <a:rPr sz="1450" spc="-10" dirty="0">
                <a:solidFill>
                  <a:srgbClr val="373737"/>
                </a:solidFill>
                <a:latin typeface="Trebuchet MS"/>
                <a:cs typeface="Trebuchet MS"/>
              </a:rPr>
              <a:t>management.</a:t>
            </a:r>
            <a:endParaRPr sz="1450" dirty="0">
              <a:latin typeface="Trebuchet MS"/>
              <a:cs typeface="Trebuchet MS"/>
            </a:endParaRPr>
          </a:p>
        </p:txBody>
      </p:sp>
      <p:sp>
        <p:nvSpPr>
          <p:cNvPr id="9" name="object 7">
            <a:extLst>
              <a:ext uri="{FF2B5EF4-FFF2-40B4-BE49-F238E27FC236}">
                <a16:creationId xmlns:a16="http://schemas.microsoft.com/office/drawing/2014/main" id="{0B3EC853-8F3C-E042-605E-F5A9FB70E1D2}"/>
              </a:ext>
            </a:extLst>
          </p:cNvPr>
          <p:cNvSpPr/>
          <p:nvPr/>
        </p:nvSpPr>
        <p:spPr>
          <a:xfrm>
            <a:off x="6361428" y="2859404"/>
            <a:ext cx="2476500" cy="3228975"/>
          </a:xfrm>
          <a:custGeom>
            <a:avLst/>
            <a:gdLst/>
            <a:ahLst/>
            <a:cxnLst/>
            <a:rect l="l" t="t" r="r" b="b"/>
            <a:pathLst>
              <a:path w="2476500" h="3228975">
                <a:moveTo>
                  <a:pt x="2456005" y="3228974"/>
                </a:moveTo>
                <a:lnTo>
                  <a:pt x="20494" y="3228974"/>
                </a:lnTo>
                <a:lnTo>
                  <a:pt x="17480" y="3228374"/>
                </a:lnTo>
                <a:lnTo>
                  <a:pt x="0" y="3208480"/>
                </a:lnTo>
                <a:lnTo>
                  <a:pt x="0" y="3205347"/>
                </a:lnTo>
                <a:lnTo>
                  <a:pt x="0" y="20494"/>
                </a:lnTo>
                <a:lnTo>
                  <a:pt x="20494" y="0"/>
                </a:lnTo>
                <a:lnTo>
                  <a:pt x="2456005" y="0"/>
                </a:lnTo>
                <a:lnTo>
                  <a:pt x="2476499" y="20494"/>
                </a:lnTo>
                <a:lnTo>
                  <a:pt x="2476499" y="3208480"/>
                </a:lnTo>
                <a:lnTo>
                  <a:pt x="2459018" y="3228374"/>
                </a:lnTo>
                <a:lnTo>
                  <a:pt x="2456005" y="3228974"/>
                </a:lnTo>
                <a:close/>
              </a:path>
            </a:pathLst>
          </a:custGeom>
          <a:solidFill>
            <a:srgbClr val="F1EDED"/>
          </a:solidFill>
        </p:spPr>
        <p:txBody>
          <a:bodyPr wrap="square" lIns="0" tIns="0" rIns="0" bIns="0" rtlCol="0"/>
          <a:lstStyle>
            <a:defPPr>
              <a:defRPr kern="0"/>
            </a:defPPr>
          </a:lstStyle>
          <a:p>
            <a:endParaRPr/>
          </a:p>
        </p:txBody>
      </p:sp>
      <p:sp>
        <p:nvSpPr>
          <p:cNvPr id="10" name="object 8">
            <a:extLst>
              <a:ext uri="{FF2B5EF4-FFF2-40B4-BE49-F238E27FC236}">
                <a16:creationId xmlns:a16="http://schemas.microsoft.com/office/drawing/2014/main" id="{D89E9E85-17F2-D02D-03B8-172203D3DF4B}"/>
              </a:ext>
            </a:extLst>
          </p:cNvPr>
          <p:cNvSpPr txBox="1"/>
          <p:nvPr/>
        </p:nvSpPr>
        <p:spPr>
          <a:xfrm>
            <a:off x="6535509" y="3020136"/>
            <a:ext cx="2103755" cy="2842895"/>
          </a:xfrm>
          <a:prstGeom prst="rect">
            <a:avLst/>
          </a:prstGeom>
        </p:spPr>
        <p:txBody>
          <a:bodyPr vert="horz" wrap="square" lIns="0" tIns="12065" rIns="0" bIns="0" rtlCol="0">
            <a:spAutoFit/>
          </a:bodyPr>
          <a:lstStyle>
            <a:defPPr>
              <a:defRPr kern="0"/>
            </a:defPPr>
          </a:lstStyle>
          <a:p>
            <a:pPr marL="12700" marR="171450">
              <a:lnSpc>
                <a:spcPct val="105800"/>
              </a:lnSpc>
              <a:spcBef>
                <a:spcPts val="95"/>
              </a:spcBef>
            </a:pPr>
            <a:r>
              <a:rPr sz="1950" dirty="0">
                <a:solidFill>
                  <a:srgbClr val="373737"/>
                </a:solidFill>
                <a:latin typeface="Georgia"/>
                <a:cs typeface="Georgia"/>
              </a:rPr>
              <a:t>Consistent</a:t>
            </a:r>
            <a:r>
              <a:rPr sz="1950" spc="70" dirty="0">
                <a:solidFill>
                  <a:srgbClr val="373737"/>
                </a:solidFill>
                <a:latin typeface="Georgia"/>
                <a:cs typeface="Georgia"/>
              </a:rPr>
              <a:t> </a:t>
            </a:r>
            <a:r>
              <a:rPr sz="1950" spc="-10" dirty="0">
                <a:solidFill>
                  <a:srgbClr val="373737"/>
                </a:solidFill>
                <a:latin typeface="Georgia"/>
                <a:cs typeface="Georgia"/>
              </a:rPr>
              <a:t>Policy Enforcement</a:t>
            </a:r>
            <a:endParaRPr sz="1950">
              <a:latin typeface="Georgia"/>
              <a:cs typeface="Georgia"/>
            </a:endParaRPr>
          </a:p>
          <a:p>
            <a:pPr marL="12700" marR="5080">
              <a:lnSpc>
                <a:spcPct val="137200"/>
              </a:lnSpc>
              <a:spcBef>
                <a:spcPts val="515"/>
              </a:spcBef>
            </a:pPr>
            <a:r>
              <a:rPr sz="1450" spc="70" dirty="0">
                <a:solidFill>
                  <a:srgbClr val="373737"/>
                </a:solidFill>
                <a:latin typeface="Trebuchet MS"/>
                <a:cs typeface="Trebuchet MS"/>
              </a:rPr>
              <a:t>Apply</a:t>
            </a:r>
            <a:r>
              <a:rPr sz="1450" spc="50" dirty="0">
                <a:solidFill>
                  <a:srgbClr val="373737"/>
                </a:solidFill>
                <a:latin typeface="Trebuchet MS"/>
                <a:cs typeface="Trebuchet MS"/>
              </a:rPr>
              <a:t> </a:t>
            </a:r>
            <a:r>
              <a:rPr sz="1450" dirty="0">
                <a:solidFill>
                  <a:srgbClr val="373737"/>
                </a:solidFill>
                <a:latin typeface="Trebuchet MS"/>
                <a:cs typeface="Trebuchet MS"/>
              </a:rPr>
              <a:t>uniform</a:t>
            </a:r>
            <a:r>
              <a:rPr sz="1450" spc="50" dirty="0">
                <a:solidFill>
                  <a:srgbClr val="373737"/>
                </a:solidFill>
                <a:latin typeface="Trebuchet MS"/>
                <a:cs typeface="Trebuchet MS"/>
              </a:rPr>
              <a:t> </a:t>
            </a:r>
            <a:r>
              <a:rPr sz="1450" spc="35" dirty="0">
                <a:solidFill>
                  <a:srgbClr val="373737"/>
                </a:solidFill>
                <a:latin typeface="Trebuchet MS"/>
                <a:cs typeface="Trebuchet MS"/>
              </a:rPr>
              <a:t>patching </a:t>
            </a:r>
            <a:r>
              <a:rPr sz="1450" dirty="0">
                <a:solidFill>
                  <a:srgbClr val="373737"/>
                </a:solidFill>
                <a:latin typeface="Trebuchet MS"/>
                <a:cs typeface="Trebuchet MS"/>
              </a:rPr>
              <a:t>policies</a:t>
            </a:r>
            <a:r>
              <a:rPr sz="1450" spc="270" dirty="0">
                <a:solidFill>
                  <a:srgbClr val="373737"/>
                </a:solidFill>
                <a:latin typeface="Trebuchet MS"/>
                <a:cs typeface="Trebuchet MS"/>
              </a:rPr>
              <a:t> </a:t>
            </a:r>
            <a:r>
              <a:rPr sz="1450" spc="45" dirty="0">
                <a:solidFill>
                  <a:srgbClr val="373737"/>
                </a:solidFill>
                <a:latin typeface="Trebuchet MS"/>
                <a:cs typeface="Trebuchet MS"/>
              </a:rPr>
              <a:t>and maintenance</a:t>
            </a:r>
            <a:r>
              <a:rPr sz="1450" spc="-20" dirty="0">
                <a:solidFill>
                  <a:srgbClr val="373737"/>
                </a:solidFill>
                <a:latin typeface="Trebuchet MS"/>
                <a:cs typeface="Trebuchet MS"/>
              </a:rPr>
              <a:t> </a:t>
            </a:r>
            <a:r>
              <a:rPr sz="1450" spc="60" dirty="0">
                <a:solidFill>
                  <a:srgbClr val="373737"/>
                </a:solidFill>
                <a:latin typeface="Trebuchet MS"/>
                <a:cs typeface="Trebuchet MS"/>
              </a:rPr>
              <a:t>schedules </a:t>
            </a:r>
            <a:r>
              <a:rPr sz="1450" spc="85" dirty="0">
                <a:solidFill>
                  <a:srgbClr val="373737"/>
                </a:solidFill>
                <a:latin typeface="Trebuchet MS"/>
                <a:cs typeface="Trebuchet MS"/>
              </a:rPr>
              <a:t>across</a:t>
            </a:r>
            <a:r>
              <a:rPr sz="1450" spc="-45" dirty="0">
                <a:solidFill>
                  <a:srgbClr val="373737"/>
                </a:solidFill>
                <a:latin typeface="Trebuchet MS"/>
                <a:cs typeface="Trebuchet MS"/>
              </a:rPr>
              <a:t> all</a:t>
            </a:r>
            <a:r>
              <a:rPr sz="1450" spc="-40" dirty="0">
                <a:solidFill>
                  <a:srgbClr val="373737"/>
                </a:solidFill>
                <a:latin typeface="Trebuchet MS"/>
                <a:cs typeface="Trebuchet MS"/>
              </a:rPr>
              <a:t> </a:t>
            </a:r>
            <a:r>
              <a:rPr sz="1450" spc="60" dirty="0">
                <a:solidFill>
                  <a:srgbClr val="373737"/>
                </a:solidFill>
                <a:latin typeface="Trebuchet MS"/>
                <a:cs typeface="Trebuchet MS"/>
              </a:rPr>
              <a:t>connected </a:t>
            </a:r>
            <a:r>
              <a:rPr sz="1450" dirty="0">
                <a:solidFill>
                  <a:srgbClr val="373737"/>
                </a:solidFill>
                <a:latin typeface="Trebuchet MS"/>
                <a:cs typeface="Trebuchet MS"/>
              </a:rPr>
              <a:t>machines,</a:t>
            </a:r>
            <a:r>
              <a:rPr sz="1450" spc="100" dirty="0">
                <a:solidFill>
                  <a:srgbClr val="373737"/>
                </a:solidFill>
                <a:latin typeface="Trebuchet MS"/>
                <a:cs typeface="Trebuchet MS"/>
              </a:rPr>
              <a:t> </a:t>
            </a:r>
            <a:r>
              <a:rPr sz="1450" spc="45" dirty="0">
                <a:solidFill>
                  <a:srgbClr val="373737"/>
                </a:solidFill>
                <a:latin typeface="Trebuchet MS"/>
                <a:cs typeface="Trebuchet MS"/>
              </a:rPr>
              <a:t>regardless</a:t>
            </a:r>
            <a:r>
              <a:rPr sz="1450" spc="100" dirty="0">
                <a:solidFill>
                  <a:srgbClr val="373737"/>
                </a:solidFill>
                <a:latin typeface="Trebuchet MS"/>
                <a:cs typeface="Trebuchet MS"/>
              </a:rPr>
              <a:t> </a:t>
            </a:r>
            <a:r>
              <a:rPr sz="1450" spc="-25" dirty="0">
                <a:solidFill>
                  <a:srgbClr val="373737"/>
                </a:solidFill>
                <a:latin typeface="Trebuchet MS"/>
                <a:cs typeface="Trebuchet MS"/>
              </a:rPr>
              <a:t>of </a:t>
            </a:r>
            <a:r>
              <a:rPr sz="1450" dirty="0">
                <a:solidFill>
                  <a:srgbClr val="373737"/>
                </a:solidFill>
                <a:latin typeface="Trebuchet MS"/>
                <a:cs typeface="Trebuchet MS"/>
              </a:rPr>
              <a:t>their</a:t>
            </a:r>
            <a:r>
              <a:rPr sz="1450" spc="-20" dirty="0">
                <a:solidFill>
                  <a:srgbClr val="373737"/>
                </a:solidFill>
                <a:latin typeface="Trebuchet MS"/>
                <a:cs typeface="Trebuchet MS"/>
              </a:rPr>
              <a:t> </a:t>
            </a:r>
            <a:r>
              <a:rPr sz="1450" spc="40" dirty="0">
                <a:solidFill>
                  <a:srgbClr val="373737"/>
                </a:solidFill>
                <a:latin typeface="Trebuchet MS"/>
                <a:cs typeface="Trebuchet MS"/>
              </a:rPr>
              <a:t>hosting </a:t>
            </a:r>
            <a:r>
              <a:rPr sz="1450" spc="-10" dirty="0">
                <a:solidFill>
                  <a:srgbClr val="373737"/>
                </a:solidFill>
                <a:latin typeface="Trebuchet MS"/>
                <a:cs typeface="Trebuchet MS"/>
              </a:rPr>
              <a:t>environment.</a:t>
            </a:r>
            <a:endParaRPr sz="1450">
              <a:latin typeface="Trebuchet MS"/>
              <a:cs typeface="Trebuchet MS"/>
            </a:endParaRPr>
          </a:p>
        </p:txBody>
      </p:sp>
      <p:sp>
        <p:nvSpPr>
          <p:cNvPr id="11" name="object 9">
            <a:extLst>
              <a:ext uri="{FF2B5EF4-FFF2-40B4-BE49-F238E27FC236}">
                <a16:creationId xmlns:a16="http://schemas.microsoft.com/office/drawing/2014/main" id="{A0144268-8291-A3B9-7DA5-0B5AD908C2E3}"/>
              </a:ext>
            </a:extLst>
          </p:cNvPr>
          <p:cNvSpPr/>
          <p:nvPr/>
        </p:nvSpPr>
        <p:spPr>
          <a:xfrm>
            <a:off x="9028428" y="2859404"/>
            <a:ext cx="2486025" cy="3228975"/>
          </a:xfrm>
          <a:custGeom>
            <a:avLst/>
            <a:gdLst/>
            <a:ahLst/>
            <a:cxnLst/>
            <a:rect l="l" t="t" r="r" b="b"/>
            <a:pathLst>
              <a:path w="2486025" h="3228975">
                <a:moveTo>
                  <a:pt x="2465531" y="3228974"/>
                </a:moveTo>
                <a:lnTo>
                  <a:pt x="20494" y="3228974"/>
                </a:lnTo>
                <a:lnTo>
                  <a:pt x="17479" y="3228374"/>
                </a:lnTo>
                <a:lnTo>
                  <a:pt x="0" y="3208480"/>
                </a:lnTo>
                <a:lnTo>
                  <a:pt x="0" y="3205347"/>
                </a:lnTo>
                <a:lnTo>
                  <a:pt x="0" y="20494"/>
                </a:lnTo>
                <a:lnTo>
                  <a:pt x="20494" y="0"/>
                </a:lnTo>
                <a:lnTo>
                  <a:pt x="2465531" y="0"/>
                </a:lnTo>
                <a:lnTo>
                  <a:pt x="2486024" y="20494"/>
                </a:lnTo>
                <a:lnTo>
                  <a:pt x="2486024" y="3208480"/>
                </a:lnTo>
                <a:lnTo>
                  <a:pt x="2468545" y="3228374"/>
                </a:lnTo>
                <a:lnTo>
                  <a:pt x="2465531" y="3228974"/>
                </a:lnTo>
                <a:close/>
              </a:path>
            </a:pathLst>
          </a:custGeom>
          <a:solidFill>
            <a:srgbClr val="F1EDED"/>
          </a:solidFill>
        </p:spPr>
        <p:txBody>
          <a:bodyPr wrap="square" lIns="0" tIns="0" rIns="0" bIns="0" rtlCol="0"/>
          <a:lstStyle>
            <a:defPPr>
              <a:defRPr kern="0"/>
            </a:defPPr>
          </a:lstStyle>
          <a:p>
            <a:endParaRPr/>
          </a:p>
        </p:txBody>
      </p:sp>
      <p:sp>
        <p:nvSpPr>
          <p:cNvPr id="12" name="object 10">
            <a:extLst>
              <a:ext uri="{FF2B5EF4-FFF2-40B4-BE49-F238E27FC236}">
                <a16:creationId xmlns:a16="http://schemas.microsoft.com/office/drawing/2014/main" id="{28E26D98-B3C6-CCCF-B63E-0785CB9F18A4}"/>
              </a:ext>
            </a:extLst>
          </p:cNvPr>
          <p:cNvSpPr txBox="1"/>
          <p:nvPr/>
        </p:nvSpPr>
        <p:spPr>
          <a:xfrm>
            <a:off x="9205485" y="3020136"/>
            <a:ext cx="2106295" cy="2538095"/>
          </a:xfrm>
          <a:prstGeom prst="rect">
            <a:avLst/>
          </a:prstGeom>
        </p:spPr>
        <p:txBody>
          <a:bodyPr vert="horz" wrap="square" lIns="0" tIns="12065" rIns="0" bIns="0" rtlCol="0">
            <a:spAutoFit/>
          </a:bodyPr>
          <a:lstStyle>
            <a:defPPr>
              <a:defRPr kern="0"/>
            </a:defPPr>
          </a:lstStyle>
          <a:p>
            <a:pPr marL="12700" marR="219710">
              <a:lnSpc>
                <a:spcPct val="105800"/>
              </a:lnSpc>
              <a:spcBef>
                <a:spcPts val="95"/>
              </a:spcBef>
            </a:pPr>
            <a:r>
              <a:rPr sz="1950" spc="-20" dirty="0">
                <a:solidFill>
                  <a:srgbClr val="373737"/>
                </a:solidFill>
                <a:latin typeface="Georgia"/>
                <a:cs typeface="Georgia"/>
              </a:rPr>
              <a:t>Unified</a:t>
            </a:r>
            <a:r>
              <a:rPr sz="1950" spc="-85" dirty="0">
                <a:solidFill>
                  <a:srgbClr val="373737"/>
                </a:solidFill>
                <a:latin typeface="Georgia"/>
                <a:cs typeface="Georgia"/>
              </a:rPr>
              <a:t> </a:t>
            </a:r>
            <a:r>
              <a:rPr sz="1950" spc="-10" dirty="0">
                <a:solidFill>
                  <a:srgbClr val="373737"/>
                </a:solidFill>
                <a:latin typeface="Georgia"/>
                <a:cs typeface="Georgia"/>
              </a:rPr>
              <a:t>Visibility </a:t>
            </a:r>
            <a:r>
              <a:rPr sz="1950" spc="305" dirty="0">
                <a:solidFill>
                  <a:srgbClr val="373737"/>
                </a:solidFill>
                <a:latin typeface="Georgia"/>
                <a:cs typeface="Georgia"/>
              </a:rPr>
              <a:t>&amp;</a:t>
            </a:r>
            <a:r>
              <a:rPr sz="1950" dirty="0">
                <a:solidFill>
                  <a:srgbClr val="373737"/>
                </a:solidFill>
                <a:latin typeface="Georgia"/>
                <a:cs typeface="Georgia"/>
              </a:rPr>
              <a:t> </a:t>
            </a:r>
            <a:r>
              <a:rPr sz="1950" spc="-10" dirty="0">
                <a:solidFill>
                  <a:srgbClr val="373737"/>
                </a:solidFill>
                <a:latin typeface="Georgia"/>
                <a:cs typeface="Georgia"/>
              </a:rPr>
              <a:t>Reporting</a:t>
            </a:r>
            <a:endParaRPr sz="1950">
              <a:latin typeface="Georgia"/>
              <a:cs typeface="Georgia"/>
            </a:endParaRPr>
          </a:p>
          <a:p>
            <a:pPr marL="12700" marR="5080">
              <a:lnSpc>
                <a:spcPct val="137100"/>
              </a:lnSpc>
              <a:spcBef>
                <a:spcPts val="515"/>
              </a:spcBef>
            </a:pPr>
            <a:r>
              <a:rPr sz="1450" dirty="0">
                <a:solidFill>
                  <a:srgbClr val="373737"/>
                </a:solidFill>
                <a:latin typeface="Trebuchet MS"/>
                <a:cs typeface="Trebuchet MS"/>
              </a:rPr>
              <a:t>Gain</a:t>
            </a:r>
            <a:r>
              <a:rPr sz="1450" spc="60" dirty="0">
                <a:solidFill>
                  <a:srgbClr val="373737"/>
                </a:solidFill>
                <a:latin typeface="Trebuchet MS"/>
                <a:cs typeface="Trebuchet MS"/>
              </a:rPr>
              <a:t> </a:t>
            </a:r>
            <a:r>
              <a:rPr sz="1450" dirty="0">
                <a:solidFill>
                  <a:srgbClr val="373737"/>
                </a:solidFill>
                <a:latin typeface="Trebuchet MS"/>
                <a:cs typeface="Trebuchet MS"/>
              </a:rPr>
              <a:t>a</a:t>
            </a:r>
            <a:r>
              <a:rPr sz="1450" spc="65" dirty="0">
                <a:solidFill>
                  <a:srgbClr val="373737"/>
                </a:solidFill>
                <a:latin typeface="Trebuchet MS"/>
                <a:cs typeface="Trebuchet MS"/>
              </a:rPr>
              <a:t> </a:t>
            </a:r>
            <a:r>
              <a:rPr sz="1450" dirty="0">
                <a:solidFill>
                  <a:srgbClr val="373737"/>
                </a:solidFill>
                <a:latin typeface="Trebuchet MS"/>
                <a:cs typeface="Trebuchet MS"/>
              </a:rPr>
              <a:t>single</a:t>
            </a:r>
            <a:r>
              <a:rPr sz="1450" spc="60" dirty="0">
                <a:solidFill>
                  <a:srgbClr val="373737"/>
                </a:solidFill>
                <a:latin typeface="Trebuchet MS"/>
                <a:cs typeface="Trebuchet MS"/>
              </a:rPr>
              <a:t> </a:t>
            </a:r>
            <a:r>
              <a:rPr sz="1450" spc="65" dirty="0">
                <a:solidFill>
                  <a:srgbClr val="373737"/>
                </a:solidFill>
                <a:latin typeface="Trebuchet MS"/>
                <a:cs typeface="Trebuchet MS"/>
              </a:rPr>
              <a:t>pane </a:t>
            </a:r>
            <a:r>
              <a:rPr sz="1450" spc="-25" dirty="0">
                <a:solidFill>
                  <a:srgbClr val="373737"/>
                </a:solidFill>
                <a:latin typeface="Trebuchet MS"/>
                <a:cs typeface="Trebuchet MS"/>
              </a:rPr>
              <a:t>of </a:t>
            </a:r>
            <a:r>
              <a:rPr sz="1450" spc="70" dirty="0">
                <a:solidFill>
                  <a:srgbClr val="373737"/>
                </a:solidFill>
                <a:latin typeface="Trebuchet MS"/>
                <a:cs typeface="Trebuchet MS"/>
              </a:rPr>
              <a:t>glass</a:t>
            </a:r>
            <a:r>
              <a:rPr sz="1450" spc="-40" dirty="0">
                <a:solidFill>
                  <a:srgbClr val="373737"/>
                </a:solidFill>
                <a:latin typeface="Trebuchet MS"/>
                <a:cs typeface="Trebuchet MS"/>
              </a:rPr>
              <a:t> </a:t>
            </a:r>
            <a:r>
              <a:rPr sz="1450" dirty="0">
                <a:solidFill>
                  <a:srgbClr val="373737"/>
                </a:solidFill>
                <a:latin typeface="Trebuchet MS"/>
                <a:cs typeface="Trebuchet MS"/>
              </a:rPr>
              <a:t>for</a:t>
            </a:r>
            <a:r>
              <a:rPr sz="1450" spc="-40" dirty="0">
                <a:solidFill>
                  <a:srgbClr val="373737"/>
                </a:solidFill>
                <a:latin typeface="Trebuchet MS"/>
                <a:cs typeface="Trebuchet MS"/>
              </a:rPr>
              <a:t> </a:t>
            </a:r>
            <a:r>
              <a:rPr sz="1450" spc="40" dirty="0">
                <a:solidFill>
                  <a:srgbClr val="373737"/>
                </a:solidFill>
                <a:latin typeface="Trebuchet MS"/>
                <a:cs typeface="Trebuchet MS"/>
              </a:rPr>
              <a:t>patch </a:t>
            </a:r>
            <a:r>
              <a:rPr sz="1450" spc="55" dirty="0">
                <a:solidFill>
                  <a:srgbClr val="373737"/>
                </a:solidFill>
                <a:latin typeface="Trebuchet MS"/>
                <a:cs typeface="Trebuchet MS"/>
              </a:rPr>
              <a:t>compliance</a:t>
            </a:r>
            <a:r>
              <a:rPr sz="1450" spc="-35" dirty="0">
                <a:solidFill>
                  <a:srgbClr val="373737"/>
                </a:solidFill>
                <a:latin typeface="Trebuchet MS"/>
                <a:cs typeface="Trebuchet MS"/>
              </a:rPr>
              <a:t> </a:t>
            </a:r>
            <a:r>
              <a:rPr sz="1450" spc="70" dirty="0">
                <a:solidFill>
                  <a:srgbClr val="373737"/>
                </a:solidFill>
                <a:latin typeface="Trebuchet MS"/>
                <a:cs typeface="Trebuchet MS"/>
              </a:rPr>
              <a:t>and</a:t>
            </a:r>
            <a:r>
              <a:rPr sz="1450" spc="-30" dirty="0">
                <a:solidFill>
                  <a:srgbClr val="373737"/>
                </a:solidFill>
                <a:latin typeface="Trebuchet MS"/>
                <a:cs typeface="Trebuchet MS"/>
              </a:rPr>
              <a:t> </a:t>
            </a:r>
            <a:r>
              <a:rPr sz="1450" spc="50" dirty="0">
                <a:solidFill>
                  <a:srgbClr val="373737"/>
                </a:solidFill>
                <a:latin typeface="Trebuchet MS"/>
                <a:cs typeface="Trebuchet MS"/>
              </a:rPr>
              <a:t>status </a:t>
            </a:r>
            <a:r>
              <a:rPr sz="1450" spc="85" dirty="0">
                <a:solidFill>
                  <a:srgbClr val="373737"/>
                </a:solidFill>
                <a:latin typeface="Trebuchet MS"/>
                <a:cs typeface="Trebuchet MS"/>
              </a:rPr>
              <a:t>across</a:t>
            </a:r>
            <a:r>
              <a:rPr sz="1450" spc="35" dirty="0">
                <a:solidFill>
                  <a:srgbClr val="373737"/>
                </a:solidFill>
                <a:latin typeface="Trebuchet MS"/>
                <a:cs typeface="Trebuchet MS"/>
              </a:rPr>
              <a:t> </a:t>
            </a:r>
            <a:r>
              <a:rPr sz="1450" dirty="0">
                <a:solidFill>
                  <a:srgbClr val="373737"/>
                </a:solidFill>
                <a:latin typeface="Trebuchet MS"/>
                <a:cs typeface="Trebuchet MS"/>
              </a:rPr>
              <a:t>your</a:t>
            </a:r>
            <a:r>
              <a:rPr sz="1450" spc="40" dirty="0">
                <a:solidFill>
                  <a:srgbClr val="373737"/>
                </a:solidFill>
                <a:latin typeface="Trebuchet MS"/>
                <a:cs typeface="Trebuchet MS"/>
              </a:rPr>
              <a:t> </a:t>
            </a:r>
            <a:r>
              <a:rPr sz="1450" dirty="0">
                <a:solidFill>
                  <a:srgbClr val="373737"/>
                </a:solidFill>
                <a:latin typeface="Trebuchet MS"/>
                <a:cs typeface="Trebuchet MS"/>
              </a:rPr>
              <a:t>entire</a:t>
            </a:r>
            <a:r>
              <a:rPr sz="1450" spc="40" dirty="0">
                <a:solidFill>
                  <a:srgbClr val="373737"/>
                </a:solidFill>
                <a:latin typeface="Trebuchet MS"/>
                <a:cs typeface="Trebuchet MS"/>
              </a:rPr>
              <a:t> </a:t>
            </a:r>
            <a:r>
              <a:rPr sz="1450" spc="-10" dirty="0">
                <a:solidFill>
                  <a:srgbClr val="373737"/>
                </a:solidFill>
                <a:latin typeface="Trebuchet MS"/>
                <a:cs typeface="Trebuchet MS"/>
              </a:rPr>
              <a:t>fleet, </a:t>
            </a:r>
            <a:r>
              <a:rPr sz="1450" dirty="0">
                <a:solidFill>
                  <a:srgbClr val="373737"/>
                </a:solidFill>
                <a:latin typeface="Trebuchet MS"/>
                <a:cs typeface="Trebuchet MS"/>
              </a:rPr>
              <a:t>simplifying</a:t>
            </a:r>
            <a:r>
              <a:rPr sz="1450" spc="235" dirty="0">
                <a:solidFill>
                  <a:srgbClr val="373737"/>
                </a:solidFill>
                <a:latin typeface="Trebuchet MS"/>
                <a:cs typeface="Trebuchet MS"/>
              </a:rPr>
              <a:t> </a:t>
            </a:r>
            <a:r>
              <a:rPr sz="1450" dirty="0">
                <a:solidFill>
                  <a:srgbClr val="373737"/>
                </a:solidFill>
                <a:latin typeface="Trebuchet MS"/>
                <a:cs typeface="Trebuchet MS"/>
              </a:rPr>
              <a:t>auditing</a:t>
            </a:r>
            <a:r>
              <a:rPr sz="1450" spc="235" dirty="0">
                <a:solidFill>
                  <a:srgbClr val="373737"/>
                </a:solidFill>
                <a:latin typeface="Trebuchet MS"/>
                <a:cs typeface="Trebuchet MS"/>
              </a:rPr>
              <a:t> </a:t>
            </a:r>
            <a:r>
              <a:rPr sz="1450" spc="45" dirty="0">
                <a:solidFill>
                  <a:srgbClr val="373737"/>
                </a:solidFill>
                <a:latin typeface="Trebuchet MS"/>
                <a:cs typeface="Trebuchet MS"/>
              </a:rPr>
              <a:t>and </a:t>
            </a:r>
            <a:r>
              <a:rPr sz="1450" dirty="0">
                <a:solidFill>
                  <a:srgbClr val="373737"/>
                </a:solidFill>
                <a:latin typeface="Trebuchet MS"/>
                <a:cs typeface="Trebuchet MS"/>
              </a:rPr>
              <a:t>risk</a:t>
            </a:r>
            <a:r>
              <a:rPr sz="1450" spc="30" dirty="0">
                <a:solidFill>
                  <a:srgbClr val="373737"/>
                </a:solidFill>
                <a:latin typeface="Trebuchet MS"/>
                <a:cs typeface="Trebuchet MS"/>
              </a:rPr>
              <a:t> </a:t>
            </a:r>
            <a:r>
              <a:rPr sz="1450" spc="-10" dirty="0">
                <a:solidFill>
                  <a:srgbClr val="373737"/>
                </a:solidFill>
                <a:latin typeface="Trebuchet MS"/>
                <a:cs typeface="Trebuchet MS"/>
              </a:rPr>
              <a:t>management.</a:t>
            </a:r>
            <a:endParaRPr sz="1450">
              <a:latin typeface="Trebuchet MS"/>
              <a:cs typeface="Trebuchet MS"/>
            </a:endParaRPr>
          </a:p>
        </p:txBody>
      </p:sp>
      <p:pic>
        <p:nvPicPr>
          <p:cNvPr id="13" name="Picture 12">
            <a:extLst>
              <a:ext uri="{FF2B5EF4-FFF2-40B4-BE49-F238E27FC236}">
                <a16:creationId xmlns:a16="http://schemas.microsoft.com/office/drawing/2014/main" id="{26246687-4F64-CF90-1F70-A1F003176D5F}"/>
              </a:ext>
            </a:extLst>
          </p:cNvPr>
          <p:cNvPicPr>
            <a:picLocks noChangeAspect="1"/>
          </p:cNvPicPr>
          <p:nvPr/>
        </p:nvPicPr>
        <p:blipFill>
          <a:blip r:embed="rId2"/>
          <a:stretch>
            <a:fillRect/>
          </a:stretch>
        </p:blipFill>
        <p:spPr>
          <a:xfrm>
            <a:off x="135607" y="396239"/>
            <a:ext cx="3761279" cy="5692139"/>
          </a:xfrm>
          <a:prstGeom prst="rect">
            <a:avLst/>
          </a:prstGeom>
        </p:spPr>
      </p:pic>
    </p:spTree>
    <p:extLst>
      <p:ext uri="{BB962C8B-B14F-4D97-AF65-F5344CB8AC3E}">
        <p14:creationId xmlns:p14="http://schemas.microsoft.com/office/powerpoint/2010/main" val="3490648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FC03595-F756-5C65-A421-EAD14635F442}"/>
              </a:ext>
            </a:extLst>
          </p:cNvPr>
          <p:cNvSpPr/>
          <p:nvPr/>
        </p:nvSpPr>
        <p:spPr>
          <a:xfrm>
            <a:off x="544701" y="2052902"/>
            <a:ext cx="11091806" cy="3119822"/>
          </a:xfrm>
          <a:prstGeom prst="rect">
            <a:avLst/>
          </a:prstGeom>
          <a:solidFill>
            <a:srgbClr val="2183AD">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CE585293-BA26-0375-2CC0-47B949DD0860}"/>
              </a:ext>
            </a:extLst>
          </p:cNvPr>
          <p:cNvSpPr>
            <a:spLocks noGrp="1"/>
          </p:cNvSpPr>
          <p:nvPr>
            <p:ph type="dt" sz="half" idx="10"/>
          </p:nvPr>
        </p:nvSpPr>
        <p:spPr/>
        <p:txBody>
          <a:bodyPr/>
          <a:lstStyle/>
          <a:p>
            <a:fld id="{0E5354AA-BCCD-4A1D-8720-9F0859C3B930}" type="datetime1">
              <a:t>9/23/2026</a:t>
            </a:fld>
            <a:endParaRPr lang="en-US" dirty="0"/>
          </a:p>
        </p:txBody>
      </p:sp>
      <p:sp>
        <p:nvSpPr>
          <p:cNvPr id="3" name="Footer Placeholder 2">
            <a:extLst>
              <a:ext uri="{FF2B5EF4-FFF2-40B4-BE49-F238E27FC236}">
                <a16:creationId xmlns:a16="http://schemas.microsoft.com/office/drawing/2014/main" id="{70EAAF25-59F6-AADC-14F7-93515C1CF413}"/>
              </a:ext>
            </a:extLst>
          </p:cNvPr>
          <p:cNvSpPr>
            <a:spLocks noGrp="1"/>
          </p:cNvSpPr>
          <p:nvPr>
            <p:ph type="ftr" sz="quarter" idx="11"/>
          </p:nvPr>
        </p:nvSpPr>
        <p:spPr/>
        <p:txBody>
          <a:bodyPr/>
          <a:lstStyle/>
          <a:p>
            <a:r>
              <a:rPr lang="en-US" dirty="0"/>
              <a:t>
              </a:t>
            </a:r>
          </a:p>
        </p:txBody>
      </p:sp>
      <p:sp>
        <p:nvSpPr>
          <p:cNvPr id="5" name="TextBox 2">
            <a:extLst>
              <a:ext uri="{FF2B5EF4-FFF2-40B4-BE49-F238E27FC236}">
                <a16:creationId xmlns:a16="http://schemas.microsoft.com/office/drawing/2014/main" id="{89F3DA15-3516-4A35-38B1-74CDCBEE41C2}"/>
              </a:ext>
            </a:extLst>
          </p:cNvPr>
          <p:cNvSpPr txBox="1"/>
          <p:nvPr/>
        </p:nvSpPr>
        <p:spPr>
          <a:xfrm>
            <a:off x="838200" y="2133600"/>
            <a:ext cx="10439400" cy="2831544"/>
          </a:xfrm>
          <a:prstGeom prst="rect">
            <a:avLst/>
          </a:prstGeom>
          <a:noFill/>
        </p:spPr>
        <p:txBody>
          <a:bodyPr wrap="square" lIns="91440" tIns="45720" rIns="91440" bIns="45720" anchor="t">
            <a:spAutoFit/>
          </a:bodyPr>
          <a:lstStyle>
            <a:defPPr>
              <a:defRPr kern="0"/>
            </a:defPPr>
          </a:lstStyle>
          <a:p>
            <a:pPr>
              <a:buNone/>
            </a:pPr>
            <a:r>
              <a:rPr lang="en-IN" sz="2000" dirty="0"/>
              <a:t>The </a:t>
            </a:r>
            <a:r>
              <a:rPr lang="en-IN" sz="2000" b="1" dirty="0"/>
              <a:t>Azure Update Manager Patch Compliance Programme</a:t>
            </a:r>
            <a:r>
              <a:rPr lang="en-IN" sz="2000" dirty="0"/>
              <a:t> provides a centralized and automated approach to managing system updates across cloud and hybrid environments. It helps organizations identify missing patches, maintain compliance with security standards, and reduce security risks caused by outdated software.</a:t>
            </a:r>
          </a:p>
          <a:p>
            <a:pPr>
              <a:buNone/>
            </a:pPr>
            <a:endParaRPr lang="en-IN" dirty="0"/>
          </a:p>
          <a:p>
            <a:r>
              <a:rPr lang="en-IN" sz="2000" dirty="0"/>
              <a:t>By automating patch assessment, deployment, monitoring, and reporting, the solution improves </a:t>
            </a:r>
            <a:r>
              <a:rPr lang="en-IN" sz="2000" b="1" dirty="0"/>
              <a:t>security, system reliability, operational efficiency, and regulatory compliance</a:t>
            </a:r>
            <a:r>
              <a:rPr lang="en-IN" sz="2000" dirty="0"/>
              <a:t>. Overall, </a:t>
            </a:r>
          </a:p>
          <a:p>
            <a:pPr>
              <a:buNone/>
            </a:pPr>
            <a:r>
              <a:rPr lang="en-IN" sz="2000" dirty="0"/>
              <a:t>Azure Update Manager helps organizations maintain secure and compliant IT infrastructure with less manual effort.</a:t>
            </a:r>
            <a:endParaRPr lang="en-IN"/>
          </a:p>
        </p:txBody>
      </p:sp>
      <p:sp>
        <p:nvSpPr>
          <p:cNvPr id="6" name="TextBox 4">
            <a:extLst>
              <a:ext uri="{FF2B5EF4-FFF2-40B4-BE49-F238E27FC236}">
                <a16:creationId xmlns:a16="http://schemas.microsoft.com/office/drawing/2014/main" id="{4005FB9B-1163-1F54-FD06-4FEADD869B81}"/>
              </a:ext>
            </a:extLst>
          </p:cNvPr>
          <p:cNvSpPr txBox="1"/>
          <p:nvPr/>
        </p:nvSpPr>
        <p:spPr>
          <a:xfrm>
            <a:off x="735980" y="579827"/>
            <a:ext cx="5791200" cy="769441"/>
          </a:xfrm>
          <a:prstGeom prst="rect">
            <a:avLst/>
          </a:prstGeom>
          <a:noFill/>
        </p:spPr>
        <p:txBody>
          <a:bodyPr wrap="square" lIns="91440" tIns="45720" rIns="91440" bIns="45720" anchor="t">
            <a:spAutoFit/>
          </a:bodyPr>
          <a:lstStyle>
            <a:defPPr>
              <a:defRPr kern="0"/>
            </a:defPPr>
          </a:lstStyle>
          <a:p>
            <a:r>
              <a:rPr lang="en-IN" sz="4400" dirty="0">
                <a:latin typeface="Georgia"/>
              </a:rPr>
              <a:t>Project Outcome</a:t>
            </a:r>
            <a:endParaRPr lang="en-IN" sz="4400">
              <a:latin typeface="Georgia"/>
            </a:endParaRPr>
          </a:p>
        </p:txBody>
      </p:sp>
    </p:spTree>
    <p:extLst>
      <p:ext uri="{BB962C8B-B14F-4D97-AF65-F5344CB8AC3E}">
        <p14:creationId xmlns:p14="http://schemas.microsoft.com/office/powerpoint/2010/main" val="2070567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CC2C7C-252E-FA50-C9F9-640440B47152}"/>
              </a:ext>
            </a:extLst>
          </p:cNvPr>
          <p:cNvSpPr>
            <a:spLocks noGrp="1"/>
          </p:cNvSpPr>
          <p:nvPr>
            <p:ph type="dt" sz="half" idx="10"/>
          </p:nvPr>
        </p:nvSpPr>
        <p:spPr/>
        <p:txBody>
          <a:bodyPr/>
          <a:lstStyle/>
          <a:p>
            <a:fld id="{BC20FB77-FD4C-45A4-B6AA-96C9A7DAA6F1}" type="datetime1">
              <a:t>9/23/2026</a:t>
            </a:fld>
            <a:endParaRPr lang="en-US" dirty="0"/>
          </a:p>
        </p:txBody>
      </p:sp>
      <p:sp>
        <p:nvSpPr>
          <p:cNvPr id="3" name="Footer Placeholder 2">
            <a:extLst>
              <a:ext uri="{FF2B5EF4-FFF2-40B4-BE49-F238E27FC236}">
                <a16:creationId xmlns:a16="http://schemas.microsoft.com/office/drawing/2014/main" id="{F92761B3-D064-B625-EDF8-E0DF1FF59CB7}"/>
              </a:ext>
            </a:extLst>
          </p:cNvPr>
          <p:cNvSpPr>
            <a:spLocks noGrp="1"/>
          </p:cNvSpPr>
          <p:nvPr>
            <p:ph type="ftr" sz="quarter" idx="11"/>
          </p:nvPr>
        </p:nvSpPr>
        <p:spPr/>
        <p:txBody>
          <a:bodyPr/>
          <a:lstStyle/>
          <a:p>
            <a:r>
              <a:rPr lang="en-US" dirty="0"/>
              <a:t>
              </a:t>
            </a:r>
          </a:p>
        </p:txBody>
      </p:sp>
      <p:pic>
        <p:nvPicPr>
          <p:cNvPr id="5" name="Picture 4">
            <a:extLst>
              <a:ext uri="{FF2B5EF4-FFF2-40B4-BE49-F238E27FC236}">
                <a16:creationId xmlns:a16="http://schemas.microsoft.com/office/drawing/2014/main" id="{7041009A-95DD-60CF-84C1-BBE54229487A}"/>
              </a:ext>
            </a:extLst>
          </p:cNvPr>
          <p:cNvPicPr>
            <a:picLocks noChangeAspect="1"/>
          </p:cNvPicPr>
          <p:nvPr/>
        </p:nvPicPr>
        <p:blipFill>
          <a:blip r:embed="rId2"/>
          <a:srcRect r="-76" b="-136"/>
          <a:stretch>
            <a:fillRect/>
          </a:stretch>
        </p:blipFill>
        <p:spPr>
          <a:xfrm>
            <a:off x="0" y="2677"/>
            <a:ext cx="12201299" cy="6861944"/>
          </a:xfrm>
          <a:prstGeom prst="rect">
            <a:avLst/>
          </a:prstGeom>
        </p:spPr>
      </p:pic>
    </p:spTree>
    <p:extLst>
      <p:ext uri="{BB962C8B-B14F-4D97-AF65-F5344CB8AC3E}">
        <p14:creationId xmlns:p14="http://schemas.microsoft.com/office/powerpoint/2010/main" val="3225772503"/>
      </p:ext>
    </p:extLst>
  </p:cSld>
  <p:clrMapOvr>
    <a:masterClrMapping/>
  </p:clrMapOvr>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PortalVTI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563</cp:revision>
  <dcterms:created xsi:type="dcterms:W3CDTF">2026-09-23T04:26:28Z</dcterms:created>
  <dcterms:modified xsi:type="dcterms:W3CDTF">2026-09-23T14:58:27Z</dcterms:modified>
</cp:coreProperties>
</file>